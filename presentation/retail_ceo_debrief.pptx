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decision: 2022 sales grew 10.7%, but standard-cost gross profit grew more slowly and gross margin declined. Growth was primarily volume-led. Be explicit that the profit measure is gross profit, not net profit.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recommendations. The regional rollup standardizes state to Census region, so the Maryland store is classified South rather than following its inconsistent source label. Focus investigations before prescribing store or product 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reporting marts are aggregates of the normalized fact. They do not turn the underlying fact into a periodic snapshot. The transaction ID is the deduplicated event grain because each observed ID collision repeats the same economic payload.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 9,815 colliding IDs contributes exactly one triage row: the older version. The latest ingested_at version is in the fact, per Sales Ops. Missing product and store keys also include 99901 placeholder values, so counts exceed the raw null counts. The data contract asks upstream for a real line key and explicit unknown semantics.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pack size 2, 98.8% of standard-to-landed cost ratios are within 1% of 2.0. The primary view divides standard cost by pack size to align it with unit price. The alternative landed basis gives a materially lower 2022 margin; validate both accounting grains and the 2022 movement with Finance and 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Sales declined 0.9% in 2020, then rose 11.1% in 2021 and 10.7% in 2022. Standard gross margin was about 41.1% in 2021 and 40.2% in 2022. The chart labels the gross-margin percentage separately from the sales bars.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volume bridge contributes about $1.11m and price/mix about $0.12m to the $1.23m sales increase. Price/mix is a residual based on net ASP, not a pure price experiment. The West generated $943k growth; the Northeast declined $138k. Dinnerware, cookware and candles were the largest product growth contributors.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Bathroom furniture, wardrobes and dining furniture are among the largest product lines with the weakest standard margins, around 23%. Candles is both growing and higher margin, so it merits availability and mix attention. The recommendation is to investigate supplier terms, promotion mix and price realization, not blindly raise prices.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current triage relation is rebuilt from source; do not edit it to record dispositions. Durable ownership belongs in a ticket or append-only issue workflow. Type 2 would be justified when stakeholders need historical attributes and the source supplies reliable effective intervals. Product effective-date fields exist but do not currently establish a trustworthy changing profile for known 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CSV has 509,480 rows and 499,665 distinct transaction IDs, leaving 9,815 excess versions. The version audit keeps all 509,480 rows; one latest version per ID feeds the 499,665-row fact and 9,815 older versions are explicitly marked for triage. The duplicate issue category holds the 9,815 older versions only; the selected versions are in the fact. Other issue categories overlap, so their counts must not be summed as distinct dropped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3-dimension, 1-event-fact star. The date dimension is a complete calendar, even though the extract has only one day-of-month. The reported row counts include the Unknown member for product and store. The project has aggregate marts for convenient reporting, not a second periodic-snapshot fact. Date filtering is recommended for a business report and enables time drilldowns; it is not a condition for a mathematically valid event-fact query.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2022 weighted area productivity is $0.27 net sales, $0.16 standard cost of sales and $0.11 gross profit per reported square foot. The denominator is 47,432,126 sqft across stores with valid positive area. Store 200 has zero sqft and is flagged, not included in the area ratio; its sales are not removed from company sales. The different team tabs share global net sales and standard gross-profit formulas. Landed cost, unadjusted-versus-pack-adjusted standard cost, and monthly-versus-annual store cost remain explicitly labelled sensitivity views, not competing definitions or net profit.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ASE">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95C11F"/>
          </a:solidFill>
          <a:ln w="12700">
            <a:solidFill>
              <a:srgbClr val="95C11F">
                <a:alpha val="0"/>
              </a:srgbClr>
            </a:solidFill>
            <a:prstDash val="solid"/>
          </a:ln>
        </p:spPr>
      </p:sp>
      <p:sp>
        <p:nvSpPr>
          <p:cNvPr id="3" name="Text 1"/>
          <p:cNvSpPr/>
          <p:nvPr/>
        </p:nvSpPr>
        <p:spPr>
          <a:xfrm>
            <a:off x="502920" y="6510528"/>
            <a:ext cx="7132320" cy="164592"/>
          </a:xfrm>
          <a:prstGeom prst="rect">
            <a:avLst/>
          </a:prstGeom>
          <a:noFill/>
          <a:ln/>
        </p:spPr>
        <p:txBody>
          <a:bodyPr wrap="square" lIns="0" tIns="0" rIns="0" bIns="0" rtlCol="0" anchor="ctr"/>
          <a:lstStyle/>
          <a:p>
            <a:pPr indent="0" marL="0">
              <a:buNone/>
            </a:pPr>
            <a:r>
              <a:rPr lang="en-US" sz="800" dirty="0">
                <a:solidFill>
                  <a:srgbClr val="6C757D"/>
                </a:solidFill>
                <a:latin typeface="Open Sans" pitchFamily="34" charset="0"/>
                <a:ea typeface="Open Sans" pitchFamily="34" charset="-122"/>
                <a:cs typeface="Open Sans" pitchFamily="34" charset="-120"/>
              </a:rPr>
              <a:t>RETAIL PERFORMANCE  /  ANALYTICS ENGINEERING</a:t>
            </a:r>
            <a:endParaRPr lang="en-US" sz="800" dirty="0"/>
          </a:p>
        </p:txBody>
      </p:sp>
      <p:sp>
        <p:nvSpPr>
          <p:cNvPr id="25" name="Slide Number Placeholder 0"/>
          <p:cNvSpPr>
            <a:spLocks noGrp="1"/>
          </p:cNvSpPr>
          <p:nvPr>
            <p:ph type="sldNum" sz="quarter" idx="4294967295"/>
          </p:nvPr>
        </p:nvSpPr>
        <p:spPr>
          <a:xfrm>
            <a:off x="11201400"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6C757D"/>
                </a:solidFill>
                <a:latin typeface="Open Sans"/>
                <a:ea typeface="Open Sans"/>
                <a:cs typeface="Open Sans"/>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6C757D"/>
                </a:solidFill>
                <a:latin typeface="Open Sans"/>
                <a:ea typeface="Open Sans"/>
                <a:cs typeface="Open Sans"/>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529"/>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95C11F"/>
          </a:solidFill>
          <a:ln w="12700">
            <a:solidFill>
              <a:srgbClr val="95C11F">
                <a:alpha val="0"/>
              </a:srgbClr>
            </a:solidFill>
            <a:prstDash val="solid"/>
          </a:ln>
        </p:spPr>
      </p:sp>
      <p:sp>
        <p:nvSpPr>
          <p:cNvPr id="3" name="Text 1"/>
          <p:cNvSpPr/>
          <p:nvPr/>
        </p:nvSpPr>
        <p:spPr>
          <a:xfrm>
            <a:off x="777240" y="658368"/>
            <a:ext cx="9875520" cy="292608"/>
          </a:xfrm>
          <a:prstGeom prst="rect">
            <a:avLst/>
          </a:prstGeom>
          <a:noFill/>
          <a:ln/>
        </p:spPr>
        <p:txBody>
          <a:bodyPr wrap="square" lIns="0" tIns="0" rIns="0" bIns="0" rtlCol="0" anchor="ctr">
            <a:normAutofit/>
          </a:bodyPr>
          <a:lstStyle/>
          <a:p>
            <a:pPr indent="0" marL="0">
              <a:buNone/>
            </a:pPr>
            <a:r>
              <a:rPr lang="en-US" sz="1100" b="1" spc="140" kern="0" dirty="0">
                <a:solidFill>
                  <a:srgbClr val="95C11F"/>
                </a:solidFill>
                <a:latin typeface="Open Sans" pitchFamily="34" charset="0"/>
                <a:ea typeface="Open Sans" pitchFamily="34" charset="-122"/>
                <a:cs typeface="Open Sans" pitchFamily="34" charset="-120"/>
              </a:rPr>
              <a:t>RETAIL PERFORMANCE  /  CEO BRIEFING</a:t>
            </a:r>
            <a:endParaRPr lang="en-US" sz="1100" dirty="0"/>
          </a:p>
        </p:txBody>
      </p:sp>
      <p:sp>
        <p:nvSpPr>
          <p:cNvPr id="4" name="Text 2"/>
          <p:cNvSpPr/>
          <p:nvPr/>
        </p:nvSpPr>
        <p:spPr>
          <a:xfrm>
            <a:off x="777240" y="1353312"/>
            <a:ext cx="9692640" cy="1371600"/>
          </a:xfrm>
          <a:prstGeom prst="rect">
            <a:avLst/>
          </a:prstGeom>
          <a:noFill/>
          <a:ln/>
        </p:spPr>
        <p:txBody>
          <a:bodyPr wrap="square" lIns="0" tIns="0" rIns="0" bIns="0" rtlCol="0" anchor="t">
            <a:normAutofit/>
          </a:bodyPr>
          <a:lstStyle/>
          <a:p>
            <a:pPr indent="0" marL="0">
              <a:buNone/>
            </a:pPr>
            <a:r>
              <a:rPr lang="en-US" sz="3200" b="1" dirty="0">
                <a:solidFill>
                  <a:srgbClr val="FFFFFF"/>
                </a:solidFill>
                <a:latin typeface="Open Sans" pitchFamily="34" charset="0"/>
                <a:ea typeface="Open Sans" pitchFamily="34" charset="-122"/>
                <a:cs typeface="Open Sans" pitchFamily="34" charset="-120"/>
              </a:rPr>
              <a:t>Profitable growth</a:t>
            </a:r>
            <a:endParaRPr lang="en-US" sz="3200" dirty="0"/>
          </a:p>
          <a:p>
            <a:pPr indent="0" marL="0">
              <a:buNone/>
            </a:pPr>
            <a:r>
              <a:rPr lang="en-US" sz="3200" b="1" dirty="0">
                <a:solidFill>
                  <a:srgbClr val="FFFFFF"/>
                </a:solidFill>
                <a:latin typeface="Open Sans" pitchFamily="34" charset="0"/>
                <a:ea typeface="Open Sans" pitchFamily="34" charset="-122"/>
                <a:cs typeface="Open Sans" pitchFamily="34" charset="-120"/>
              </a:rPr>
              <a:t>starts with the right grain.</a:t>
            </a:r>
            <a:endParaRPr lang="en-US" sz="3200" dirty="0"/>
          </a:p>
        </p:txBody>
      </p:sp>
      <p:sp>
        <p:nvSpPr>
          <p:cNvPr id="5" name="Text 3"/>
          <p:cNvSpPr/>
          <p:nvPr/>
        </p:nvSpPr>
        <p:spPr>
          <a:xfrm>
            <a:off x="804672" y="2907792"/>
            <a:ext cx="8686800" cy="347472"/>
          </a:xfrm>
          <a:prstGeom prst="rect">
            <a:avLst/>
          </a:prstGeom>
          <a:noFill/>
          <a:ln/>
        </p:spPr>
        <p:txBody>
          <a:bodyPr wrap="square" lIns="0" tIns="0" rIns="0" bIns="0" rtlCol="0" anchor="ctr">
            <a:normAutofit/>
          </a:bodyPr>
          <a:lstStyle/>
          <a:p>
            <a:pPr indent="0" marL="0">
              <a:buNone/>
            </a:pPr>
            <a:r>
              <a:rPr lang="en-US" sz="1400" dirty="0">
                <a:solidFill>
                  <a:srgbClr val="D3D8DD"/>
                </a:solidFill>
                <a:latin typeface="Open Sans" pitchFamily="34" charset="0"/>
                <a:ea typeface="Open Sans" pitchFamily="34" charset="-122"/>
                <a:cs typeface="Open Sans" pitchFamily="34" charset="-120"/>
              </a:rPr>
              <a:t>2019-2022 transaction analysis  |  dbt + DuckDB</a:t>
            </a:r>
            <a:endParaRPr lang="en-US" sz="1400" dirty="0"/>
          </a:p>
        </p:txBody>
      </p:sp>
      <p:sp>
        <p:nvSpPr>
          <p:cNvPr id="6" name="Shape 4"/>
          <p:cNvSpPr/>
          <p:nvPr/>
        </p:nvSpPr>
        <p:spPr>
          <a:xfrm>
            <a:off x="786384" y="4069080"/>
            <a:ext cx="3246120" cy="1234440"/>
          </a:xfrm>
          <a:prstGeom prst="roundRect">
            <a:avLst>
              <a:gd name="adj" fmla="val 5926"/>
            </a:avLst>
          </a:prstGeom>
          <a:solidFill>
            <a:srgbClr val="2C333A"/>
          </a:solidFill>
          <a:ln w="8890">
            <a:solidFill>
              <a:srgbClr val="4A535C"/>
            </a:solidFill>
            <a:prstDash val="solid"/>
          </a:ln>
        </p:spPr>
      </p:sp>
      <p:sp>
        <p:nvSpPr>
          <p:cNvPr id="7" name="Text 5"/>
          <p:cNvSpPr/>
          <p:nvPr/>
        </p:nvSpPr>
        <p:spPr>
          <a:xfrm>
            <a:off x="969264" y="4233672"/>
            <a:ext cx="2834640" cy="201168"/>
          </a:xfrm>
          <a:prstGeom prst="rect">
            <a:avLst/>
          </a:prstGeom>
          <a:noFill/>
          <a:ln/>
        </p:spPr>
        <p:txBody>
          <a:bodyPr wrap="square" lIns="0" tIns="0" rIns="0" bIns="0" rtlCol="0" anchor="ctr">
            <a:normAutofit/>
          </a:bodyPr>
          <a:lstStyle/>
          <a:p>
            <a:pPr indent="0" marL="0">
              <a:buNone/>
            </a:pPr>
            <a:r>
              <a:rPr lang="en-US" sz="900" b="1" dirty="0">
                <a:solidFill>
                  <a:srgbClr val="B8C0C7"/>
                </a:solidFill>
                <a:latin typeface="Open Sans" pitchFamily="34" charset="0"/>
                <a:ea typeface="Open Sans" pitchFamily="34" charset="-122"/>
                <a:cs typeface="Open Sans" pitchFamily="34" charset="-120"/>
              </a:rPr>
              <a:t>2022 NET SALES</a:t>
            </a:r>
            <a:endParaRPr lang="en-US" sz="900" dirty="0"/>
          </a:p>
        </p:txBody>
      </p:sp>
      <p:sp>
        <p:nvSpPr>
          <p:cNvPr id="8" name="Text 6"/>
          <p:cNvSpPr/>
          <p:nvPr/>
        </p:nvSpPr>
        <p:spPr>
          <a:xfrm>
            <a:off x="969264" y="4507992"/>
            <a:ext cx="2880360" cy="365760"/>
          </a:xfrm>
          <a:prstGeom prst="rect">
            <a:avLst/>
          </a:prstGeom>
          <a:noFill/>
          <a:ln/>
        </p:spPr>
        <p:txBody>
          <a:bodyPr wrap="square" lIns="0" tIns="0" rIns="0" bIns="0" rtlCol="0" anchor="ctr">
            <a:normAutofit/>
          </a:bodyPr>
          <a:lstStyle/>
          <a:p>
            <a:pPr indent="0" marL="0">
              <a:buNone/>
            </a:pPr>
            <a:r>
              <a:rPr lang="en-US" sz="2200" b="1" dirty="0">
                <a:solidFill>
                  <a:srgbClr val="FFFFFF"/>
                </a:solidFill>
                <a:latin typeface="Open Sans" pitchFamily="34" charset="0"/>
                <a:ea typeface="Open Sans" pitchFamily="34" charset="-122"/>
                <a:cs typeface="Open Sans" pitchFamily="34" charset="-120"/>
              </a:rPr>
              <a:t>$12.8m</a:t>
            </a:r>
            <a:endParaRPr lang="en-US" sz="2200" dirty="0"/>
          </a:p>
        </p:txBody>
      </p:sp>
      <p:sp>
        <p:nvSpPr>
          <p:cNvPr id="9" name="Text 7"/>
          <p:cNvSpPr/>
          <p:nvPr/>
        </p:nvSpPr>
        <p:spPr>
          <a:xfrm>
            <a:off x="969264" y="4946904"/>
            <a:ext cx="2880360" cy="182880"/>
          </a:xfrm>
          <a:prstGeom prst="rect">
            <a:avLst/>
          </a:prstGeom>
          <a:noFill/>
          <a:ln/>
        </p:spPr>
        <p:txBody>
          <a:bodyPr wrap="square" lIns="0" tIns="0" rIns="0" bIns="0" rtlCol="0" anchor="ctr">
            <a:normAutofit/>
          </a:bodyPr>
          <a:lstStyle/>
          <a:p>
            <a:pPr indent="0" marL="0">
              <a:buNone/>
            </a:pPr>
            <a:r>
              <a:rPr lang="en-US" sz="900" dirty="0">
                <a:solidFill>
                  <a:srgbClr val="D3D8DD"/>
                </a:solidFill>
                <a:latin typeface="Open Sans" pitchFamily="34" charset="0"/>
                <a:ea typeface="Open Sans" pitchFamily="34" charset="-122"/>
                <a:cs typeface="Open Sans" pitchFamily="34" charset="-120"/>
              </a:rPr>
              <a:t>10.7% vs 2021</a:t>
            </a:r>
            <a:endParaRPr lang="en-US" sz="900" dirty="0"/>
          </a:p>
        </p:txBody>
      </p:sp>
      <p:sp>
        <p:nvSpPr>
          <p:cNvPr id="10" name="Shape 8"/>
          <p:cNvSpPr/>
          <p:nvPr/>
        </p:nvSpPr>
        <p:spPr>
          <a:xfrm>
            <a:off x="4398264" y="4069080"/>
            <a:ext cx="3246120" cy="1234440"/>
          </a:xfrm>
          <a:prstGeom prst="roundRect">
            <a:avLst>
              <a:gd name="adj" fmla="val 5926"/>
            </a:avLst>
          </a:prstGeom>
          <a:solidFill>
            <a:srgbClr val="2C333A"/>
          </a:solidFill>
          <a:ln w="8890">
            <a:solidFill>
              <a:srgbClr val="4A535C"/>
            </a:solidFill>
            <a:prstDash val="solid"/>
          </a:ln>
        </p:spPr>
      </p:sp>
      <p:sp>
        <p:nvSpPr>
          <p:cNvPr id="11" name="Text 9"/>
          <p:cNvSpPr/>
          <p:nvPr/>
        </p:nvSpPr>
        <p:spPr>
          <a:xfrm>
            <a:off x="4581144" y="4233672"/>
            <a:ext cx="2834640" cy="201168"/>
          </a:xfrm>
          <a:prstGeom prst="rect">
            <a:avLst/>
          </a:prstGeom>
          <a:noFill/>
          <a:ln/>
        </p:spPr>
        <p:txBody>
          <a:bodyPr wrap="square" lIns="0" tIns="0" rIns="0" bIns="0" rtlCol="0" anchor="ctr">
            <a:normAutofit/>
          </a:bodyPr>
          <a:lstStyle/>
          <a:p>
            <a:pPr indent="0" marL="0">
              <a:buNone/>
            </a:pPr>
            <a:r>
              <a:rPr lang="en-US" sz="900" b="1" dirty="0">
                <a:solidFill>
                  <a:srgbClr val="B8C0C7"/>
                </a:solidFill>
                <a:latin typeface="Open Sans" pitchFamily="34" charset="0"/>
                <a:ea typeface="Open Sans" pitchFamily="34" charset="-122"/>
                <a:cs typeface="Open Sans" pitchFamily="34" charset="-120"/>
              </a:rPr>
              <a:t>STANDARD GROSS PROFIT</a:t>
            </a:r>
            <a:endParaRPr lang="en-US" sz="900" dirty="0"/>
          </a:p>
        </p:txBody>
      </p:sp>
      <p:sp>
        <p:nvSpPr>
          <p:cNvPr id="12" name="Text 10"/>
          <p:cNvSpPr/>
          <p:nvPr/>
        </p:nvSpPr>
        <p:spPr>
          <a:xfrm>
            <a:off x="4581144" y="4507992"/>
            <a:ext cx="2880360" cy="365760"/>
          </a:xfrm>
          <a:prstGeom prst="rect">
            <a:avLst/>
          </a:prstGeom>
          <a:noFill/>
          <a:ln/>
        </p:spPr>
        <p:txBody>
          <a:bodyPr wrap="square" lIns="0" tIns="0" rIns="0" bIns="0" rtlCol="0" anchor="ctr">
            <a:normAutofit/>
          </a:bodyPr>
          <a:lstStyle/>
          <a:p>
            <a:pPr indent="0" marL="0">
              <a:buNone/>
            </a:pPr>
            <a:r>
              <a:rPr lang="en-US" sz="2200" b="1" dirty="0">
                <a:solidFill>
                  <a:srgbClr val="FFFFFF"/>
                </a:solidFill>
                <a:latin typeface="Open Sans" pitchFamily="34" charset="0"/>
                <a:ea typeface="Open Sans" pitchFamily="34" charset="-122"/>
                <a:cs typeface="Open Sans" pitchFamily="34" charset="-120"/>
              </a:rPr>
              <a:t>$5.1m</a:t>
            </a:r>
            <a:endParaRPr lang="en-US" sz="2200" dirty="0"/>
          </a:p>
        </p:txBody>
      </p:sp>
      <p:sp>
        <p:nvSpPr>
          <p:cNvPr id="13" name="Text 11"/>
          <p:cNvSpPr/>
          <p:nvPr/>
        </p:nvSpPr>
        <p:spPr>
          <a:xfrm>
            <a:off x="4581144" y="4946904"/>
            <a:ext cx="2880360" cy="182880"/>
          </a:xfrm>
          <a:prstGeom prst="rect">
            <a:avLst/>
          </a:prstGeom>
          <a:noFill/>
          <a:ln/>
        </p:spPr>
        <p:txBody>
          <a:bodyPr wrap="square" lIns="0" tIns="0" rIns="0" bIns="0" rtlCol="0" anchor="ctr">
            <a:normAutofit/>
          </a:bodyPr>
          <a:lstStyle/>
          <a:p>
            <a:pPr indent="0" marL="0">
              <a:buNone/>
            </a:pPr>
            <a:r>
              <a:rPr lang="en-US" sz="900" dirty="0">
                <a:solidFill>
                  <a:srgbClr val="D3D8DD"/>
                </a:solidFill>
                <a:latin typeface="Open Sans" pitchFamily="34" charset="0"/>
                <a:ea typeface="Open Sans" pitchFamily="34" charset="-122"/>
                <a:cs typeface="Open Sans" pitchFamily="34" charset="-120"/>
              </a:rPr>
              <a:t>8.1% YoY | 40.2% margin</a:t>
            </a:r>
            <a:endParaRPr lang="en-US" sz="900" dirty="0"/>
          </a:p>
        </p:txBody>
      </p:sp>
      <p:sp>
        <p:nvSpPr>
          <p:cNvPr id="14" name="Shape 12"/>
          <p:cNvSpPr/>
          <p:nvPr/>
        </p:nvSpPr>
        <p:spPr>
          <a:xfrm>
            <a:off x="8010144" y="4069080"/>
            <a:ext cx="3246120" cy="1234440"/>
          </a:xfrm>
          <a:prstGeom prst="roundRect">
            <a:avLst>
              <a:gd name="adj" fmla="val 5926"/>
            </a:avLst>
          </a:prstGeom>
          <a:solidFill>
            <a:srgbClr val="2C333A"/>
          </a:solidFill>
          <a:ln w="8890">
            <a:solidFill>
              <a:srgbClr val="4A535C"/>
            </a:solidFill>
            <a:prstDash val="solid"/>
          </a:ln>
        </p:spPr>
      </p:sp>
      <p:sp>
        <p:nvSpPr>
          <p:cNvPr id="15" name="Text 13"/>
          <p:cNvSpPr/>
          <p:nvPr/>
        </p:nvSpPr>
        <p:spPr>
          <a:xfrm>
            <a:off x="8193024" y="4233672"/>
            <a:ext cx="2834640" cy="201168"/>
          </a:xfrm>
          <a:prstGeom prst="rect">
            <a:avLst/>
          </a:prstGeom>
          <a:noFill/>
          <a:ln/>
        </p:spPr>
        <p:txBody>
          <a:bodyPr wrap="square" lIns="0" tIns="0" rIns="0" bIns="0" rtlCol="0" anchor="ctr">
            <a:normAutofit/>
          </a:bodyPr>
          <a:lstStyle/>
          <a:p>
            <a:pPr indent="0" marL="0">
              <a:buNone/>
            </a:pPr>
            <a:r>
              <a:rPr lang="en-US" sz="900" b="1" dirty="0">
                <a:solidFill>
                  <a:srgbClr val="B8C0C7"/>
                </a:solidFill>
                <a:latin typeface="Open Sans" pitchFamily="34" charset="0"/>
                <a:ea typeface="Open Sans" pitchFamily="34" charset="-122"/>
                <a:cs typeface="Open Sans" pitchFamily="34" charset="-120"/>
              </a:rPr>
              <a:t>GROWTH MIX</a:t>
            </a:r>
            <a:endParaRPr lang="en-US" sz="900" dirty="0"/>
          </a:p>
        </p:txBody>
      </p:sp>
      <p:sp>
        <p:nvSpPr>
          <p:cNvPr id="16" name="Text 14"/>
          <p:cNvSpPr/>
          <p:nvPr/>
        </p:nvSpPr>
        <p:spPr>
          <a:xfrm>
            <a:off x="8193024" y="4507992"/>
            <a:ext cx="2880360" cy="365760"/>
          </a:xfrm>
          <a:prstGeom prst="rect">
            <a:avLst/>
          </a:prstGeom>
          <a:noFill/>
          <a:ln/>
        </p:spPr>
        <p:txBody>
          <a:bodyPr wrap="square" lIns="0" tIns="0" rIns="0" bIns="0" rtlCol="0" anchor="ctr">
            <a:normAutofit/>
          </a:bodyPr>
          <a:lstStyle/>
          <a:p>
            <a:pPr indent="0" marL="0">
              <a:buNone/>
            </a:pPr>
            <a:r>
              <a:rPr lang="en-US" sz="2200" b="1" dirty="0">
                <a:solidFill>
                  <a:srgbClr val="FFFFFF"/>
                </a:solidFill>
                <a:latin typeface="Open Sans" pitchFamily="34" charset="0"/>
                <a:ea typeface="Open Sans" pitchFamily="34" charset="-122"/>
                <a:cs typeface="Open Sans" pitchFamily="34" charset="-120"/>
              </a:rPr>
              <a:t>90% volume</a:t>
            </a:r>
            <a:endParaRPr lang="en-US" sz="2200" dirty="0"/>
          </a:p>
        </p:txBody>
      </p:sp>
      <p:sp>
        <p:nvSpPr>
          <p:cNvPr id="17" name="Text 15"/>
          <p:cNvSpPr/>
          <p:nvPr/>
        </p:nvSpPr>
        <p:spPr>
          <a:xfrm>
            <a:off x="8193024" y="4946904"/>
            <a:ext cx="2880360" cy="182880"/>
          </a:xfrm>
          <a:prstGeom prst="rect">
            <a:avLst/>
          </a:prstGeom>
          <a:noFill/>
          <a:ln/>
        </p:spPr>
        <p:txBody>
          <a:bodyPr wrap="square" lIns="0" tIns="0" rIns="0" bIns="0" rtlCol="0" anchor="ctr">
            <a:normAutofit/>
          </a:bodyPr>
          <a:lstStyle/>
          <a:p>
            <a:pPr indent="0" marL="0">
              <a:buNone/>
            </a:pPr>
            <a:r>
              <a:rPr lang="en-US" sz="900" dirty="0">
                <a:solidFill>
                  <a:srgbClr val="D3D8DD"/>
                </a:solidFill>
                <a:latin typeface="Open Sans" pitchFamily="34" charset="0"/>
                <a:ea typeface="Open Sans" pitchFamily="34" charset="-122"/>
                <a:cs typeface="Open Sans" pitchFamily="34" charset="-120"/>
              </a:rPr>
              <a:t>approx. of 2022 sales growth</a:t>
            </a:r>
            <a:endParaRPr lang="en-US" sz="900" dirty="0"/>
          </a:p>
        </p:txBody>
      </p:sp>
      <p:sp>
        <p:nvSpPr>
          <p:cNvPr id="18" name="Text 16"/>
          <p:cNvSpPr/>
          <p:nvPr/>
        </p:nvSpPr>
        <p:spPr>
          <a:xfrm>
            <a:off x="804672" y="5897880"/>
            <a:ext cx="10698480" cy="256032"/>
          </a:xfrm>
          <a:prstGeom prst="rect">
            <a:avLst/>
          </a:prstGeom>
          <a:noFill/>
          <a:ln/>
        </p:spPr>
        <p:txBody>
          <a:bodyPr wrap="square" lIns="0" tIns="0" rIns="0" bIns="0" rtlCol="0" anchor="ctr">
            <a:normAutofit/>
          </a:bodyPr>
          <a:lstStyle/>
          <a:p>
            <a:pPr indent="0" marL="0">
              <a:buNone/>
            </a:pPr>
            <a:r>
              <a:rPr lang="en-US" sz="1000" dirty="0">
                <a:solidFill>
                  <a:srgbClr val="C5CBD1"/>
                </a:solidFill>
                <a:latin typeface="Open Sans" pitchFamily="34" charset="0"/>
                <a:ea typeface="Open Sans" pitchFamily="34" charset="-122"/>
                <a:cs typeface="Open Sans" pitchFamily="34" charset="-120"/>
              </a:rPr>
              <a:t>Gross profit is not net profit. Cost and opex assumptions are called out in this review.</a:t>
            </a:r>
            <a:endParaRPr lang="en-US" sz="1000" dirty="0"/>
          </a:p>
        </p:txBody>
      </p:sp>
      <p:sp>
        <p:nvSpPr>
          <p:cNvPr id="25" name="Slide Number Placeholder 0"/>
          <p:cNvSpPr>
            <a:spLocks noGrp="1"/>
          </p:cNvSpPr>
          <p:nvPr>
            <p:ph type="sldNum" sz="quarter" idx="4294967295"/>
          </p:nvPr>
        </p:nvSpPr>
        <p:spPr>
          <a:xfrm>
            <a:off x="11201400"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6C757D"/>
                </a:solidFill>
                <a:latin typeface="Open Sans"/>
                <a:ea typeface="Open Sans"/>
                <a:cs typeface="Open Sans"/>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384048"/>
            <a:ext cx="10789920" cy="219456"/>
          </a:xfrm>
          <a:prstGeom prst="rect">
            <a:avLst/>
          </a:prstGeom>
          <a:noFill/>
          <a:ln/>
        </p:spPr>
        <p:txBody>
          <a:bodyPr wrap="square" lIns="0" tIns="0" rIns="0" bIns="0" rtlCol="0" anchor="ctr">
            <a:normAutofit/>
          </a:bodyPr>
          <a:lstStyle/>
          <a:p>
            <a:pPr indent="0" marL="0">
              <a:buNone/>
            </a:pPr>
            <a:r>
              <a:rPr lang="en-US" sz="1000" b="1" spc="120" kern="0" dirty="0">
                <a:solidFill>
                  <a:srgbClr val="6E9117"/>
                </a:solidFill>
                <a:latin typeface="Open Sans" pitchFamily="34" charset="0"/>
                <a:ea typeface="Open Sans" pitchFamily="34" charset="-122"/>
                <a:cs typeface="Open Sans" pitchFamily="34" charset="-120"/>
              </a:rPr>
              <a:t>CEO ANSWER</a:t>
            </a:r>
            <a:endParaRPr lang="en-US" sz="1000" dirty="0"/>
          </a:p>
        </p:txBody>
      </p:sp>
      <p:sp>
        <p:nvSpPr>
          <p:cNvPr id="3" name="Text 1"/>
          <p:cNvSpPr/>
          <p:nvPr/>
        </p:nvSpPr>
        <p:spPr>
          <a:xfrm>
            <a:off x="566928" y="694944"/>
            <a:ext cx="10972800" cy="475488"/>
          </a:xfrm>
          <a:prstGeom prst="rect">
            <a:avLst/>
          </a:prstGeom>
          <a:noFill/>
          <a:ln/>
        </p:spPr>
        <p:txBody>
          <a:bodyPr wrap="square" lIns="0" tIns="0" rIns="0" bIns="0" rtlCol="0" anchor="ctr">
            <a:normAutofit/>
          </a:bodyPr>
          <a:lstStyle/>
          <a:p>
            <a:pPr indent="0" marL="0">
              <a:buNone/>
            </a:pPr>
            <a:r>
              <a:rPr lang="en-US" sz="2500" b="1" dirty="0">
                <a:solidFill>
                  <a:srgbClr val="212529"/>
                </a:solidFill>
                <a:latin typeface="Open Sans" pitchFamily="34" charset="0"/>
                <a:ea typeface="Open Sans" pitchFamily="34" charset="-122"/>
                <a:cs typeface="Open Sans" pitchFamily="34" charset="-120"/>
              </a:rPr>
              <a:t>Three actions to pursue profitable growth</a:t>
            </a:r>
            <a:endParaRPr lang="en-US" sz="2500" dirty="0"/>
          </a:p>
        </p:txBody>
      </p:sp>
      <p:sp>
        <p:nvSpPr>
          <p:cNvPr id="4" name="Text 2"/>
          <p:cNvSpPr/>
          <p:nvPr/>
        </p:nvSpPr>
        <p:spPr>
          <a:xfrm>
            <a:off x="566928" y="1207008"/>
            <a:ext cx="10972800" cy="292608"/>
          </a:xfrm>
          <a:prstGeom prst="rect">
            <a:avLst/>
          </a:prstGeom>
          <a:noFill/>
          <a:ln/>
        </p:spPr>
        <p:txBody>
          <a:bodyPr wrap="square" lIns="0" tIns="0" rIns="0" bIns="0" rtlCol="0" anchor="ctr">
            <a:normAutofit/>
          </a:bodyPr>
          <a:lstStyle/>
          <a:p>
            <a:pPr indent="0" marL="0">
              <a:buNone/>
            </a:pPr>
            <a:r>
              <a:rPr lang="en-US" sz="1100" dirty="0">
                <a:solidFill>
                  <a:srgbClr val="6C757D"/>
                </a:solidFill>
                <a:latin typeface="Open Sans" pitchFamily="34" charset="0"/>
                <a:ea typeface="Open Sans" pitchFamily="34" charset="-122"/>
                <a:cs typeface="Open Sans" pitchFamily="34" charset="-120"/>
              </a:rPr>
              <a:t>Use the marts to prioritize decisions - not just rank sales.</a:t>
            </a:r>
            <a:endParaRPr lang="en-US" sz="1100" dirty="0"/>
          </a:p>
        </p:txBody>
      </p:sp>
      <p:sp>
        <p:nvSpPr>
          <p:cNvPr id="5" name="Shape 3"/>
          <p:cNvSpPr/>
          <p:nvPr/>
        </p:nvSpPr>
        <p:spPr>
          <a:xfrm>
            <a:off x="658368" y="1783080"/>
            <a:ext cx="10881360" cy="1024128"/>
          </a:xfrm>
          <a:prstGeom prst="roundRect">
            <a:avLst>
              <a:gd name="adj" fmla="val 7143"/>
            </a:avLst>
          </a:prstGeom>
          <a:solidFill>
            <a:srgbClr val="FFFFFF"/>
          </a:solidFill>
          <a:ln w="10160">
            <a:solidFill>
              <a:srgbClr val="DEE2E6"/>
            </a:solidFill>
            <a:prstDash val="solid"/>
          </a:ln>
        </p:spPr>
      </p:sp>
      <p:sp>
        <p:nvSpPr>
          <p:cNvPr id="6" name="Text 4"/>
          <p:cNvSpPr/>
          <p:nvPr/>
        </p:nvSpPr>
        <p:spPr>
          <a:xfrm>
            <a:off x="877824" y="1993392"/>
            <a:ext cx="502920" cy="402336"/>
          </a:xfrm>
          <a:prstGeom prst="rect">
            <a:avLst/>
          </a:prstGeom>
          <a:noFill/>
          <a:ln/>
        </p:spPr>
        <p:txBody>
          <a:bodyPr wrap="square" lIns="0" tIns="0" rIns="0" bIns="0" rtlCol="0" anchor="ctr">
            <a:normAutofit/>
          </a:bodyPr>
          <a:lstStyle/>
          <a:p>
            <a:pPr indent="0" marL="0">
              <a:buNone/>
            </a:pPr>
            <a:r>
              <a:rPr lang="en-US" sz="1900" b="1" dirty="0">
                <a:solidFill>
                  <a:srgbClr val="95C11F"/>
                </a:solidFill>
                <a:latin typeface="Open Sans" pitchFamily="34" charset="0"/>
                <a:ea typeface="Open Sans" pitchFamily="34" charset="-122"/>
                <a:cs typeface="Open Sans" pitchFamily="34" charset="-120"/>
              </a:rPr>
              <a:t>01</a:t>
            </a:r>
            <a:endParaRPr lang="en-US" sz="1900" dirty="0"/>
          </a:p>
        </p:txBody>
      </p:sp>
      <p:sp>
        <p:nvSpPr>
          <p:cNvPr id="7" name="Text 5"/>
          <p:cNvSpPr/>
          <p:nvPr/>
        </p:nvSpPr>
        <p:spPr>
          <a:xfrm>
            <a:off x="1554480" y="1929384"/>
            <a:ext cx="2834640" cy="274320"/>
          </a:xfrm>
          <a:prstGeom prst="rect">
            <a:avLst/>
          </a:prstGeom>
          <a:noFill/>
          <a:ln/>
        </p:spPr>
        <p:txBody>
          <a:bodyPr wrap="square" lIns="0" tIns="0" rIns="0" bIns="0" rtlCol="0" anchor="ctr">
            <a:normAutofit/>
          </a:bodyPr>
          <a:lstStyle/>
          <a:p>
            <a:pPr indent="0" marL="0">
              <a:buNone/>
            </a:pPr>
            <a:r>
              <a:rPr lang="en-US" sz="1400" b="1" dirty="0">
                <a:solidFill>
                  <a:srgbClr val="212529"/>
                </a:solidFill>
                <a:latin typeface="Open Sans" pitchFamily="34" charset="0"/>
                <a:ea typeface="Open Sans" pitchFamily="34" charset="-122"/>
                <a:cs typeface="Open Sans" pitchFamily="34" charset="-120"/>
              </a:rPr>
              <a:t>Defend the growth engine</a:t>
            </a:r>
            <a:endParaRPr lang="en-US" sz="1400" dirty="0"/>
          </a:p>
        </p:txBody>
      </p:sp>
      <p:sp>
        <p:nvSpPr>
          <p:cNvPr id="8" name="Text 6"/>
          <p:cNvSpPr/>
          <p:nvPr/>
        </p:nvSpPr>
        <p:spPr>
          <a:xfrm>
            <a:off x="4480560" y="1920240"/>
            <a:ext cx="6766560" cy="658368"/>
          </a:xfrm>
          <a:prstGeom prst="rect">
            <a:avLst/>
          </a:prstGeom>
          <a:noFill/>
          <a:ln/>
        </p:spPr>
        <p:txBody>
          <a:bodyPr wrap="square" lIns="0" tIns="0" rIns="0" bIns="0" rtlCol="0" anchor="ctr">
            <a:normAutofit/>
          </a:bodyPr>
          <a:lstStyle/>
          <a:p>
            <a:pPr indent="0" marL="0">
              <a:buNone/>
            </a:pPr>
            <a:r>
              <a:rPr lang="en-US" sz="1100" dirty="0">
                <a:solidFill>
                  <a:srgbClr val="6C757D"/>
                </a:solidFill>
                <a:latin typeface="Open Sans" pitchFamily="34" charset="0"/>
                <a:ea typeface="Open Sans" pitchFamily="34" charset="-122"/>
                <a:cs typeface="Open Sans" pitchFamily="34" charset="-120"/>
              </a:rPr>
              <a:t>West led at +$0.94m; Los Angeles led store sales at $1.0m. Computers led product sales; Dinnerware led growth (+$0.21m).</a:t>
            </a:r>
            <a:endParaRPr lang="en-US" sz="1100" dirty="0"/>
          </a:p>
        </p:txBody>
      </p:sp>
      <p:sp>
        <p:nvSpPr>
          <p:cNvPr id="9" name="Shape 7"/>
          <p:cNvSpPr/>
          <p:nvPr/>
        </p:nvSpPr>
        <p:spPr>
          <a:xfrm>
            <a:off x="658368" y="3044952"/>
            <a:ext cx="10881360" cy="1024128"/>
          </a:xfrm>
          <a:prstGeom prst="roundRect">
            <a:avLst>
              <a:gd name="adj" fmla="val 7143"/>
            </a:avLst>
          </a:prstGeom>
          <a:solidFill>
            <a:srgbClr val="FFFFFF"/>
          </a:solidFill>
          <a:ln w="10160">
            <a:solidFill>
              <a:srgbClr val="DEE2E6"/>
            </a:solidFill>
            <a:prstDash val="solid"/>
          </a:ln>
        </p:spPr>
      </p:sp>
      <p:sp>
        <p:nvSpPr>
          <p:cNvPr id="10" name="Text 8"/>
          <p:cNvSpPr/>
          <p:nvPr/>
        </p:nvSpPr>
        <p:spPr>
          <a:xfrm>
            <a:off x="877824" y="3255264"/>
            <a:ext cx="502920" cy="402336"/>
          </a:xfrm>
          <a:prstGeom prst="rect">
            <a:avLst/>
          </a:prstGeom>
          <a:noFill/>
          <a:ln/>
        </p:spPr>
        <p:txBody>
          <a:bodyPr wrap="square" lIns="0" tIns="0" rIns="0" bIns="0" rtlCol="0" anchor="ctr">
            <a:normAutofit/>
          </a:bodyPr>
          <a:lstStyle/>
          <a:p>
            <a:pPr indent="0" marL="0">
              <a:buNone/>
            </a:pPr>
            <a:r>
              <a:rPr lang="en-US" sz="1900" b="1" dirty="0">
                <a:solidFill>
                  <a:srgbClr val="B5473A"/>
                </a:solidFill>
                <a:latin typeface="Open Sans" pitchFamily="34" charset="0"/>
                <a:ea typeface="Open Sans" pitchFamily="34" charset="-122"/>
                <a:cs typeface="Open Sans" pitchFamily="34" charset="-120"/>
              </a:rPr>
              <a:t>02</a:t>
            </a:r>
            <a:endParaRPr lang="en-US" sz="1900" dirty="0"/>
          </a:p>
        </p:txBody>
      </p:sp>
      <p:sp>
        <p:nvSpPr>
          <p:cNvPr id="11" name="Text 9"/>
          <p:cNvSpPr/>
          <p:nvPr/>
        </p:nvSpPr>
        <p:spPr>
          <a:xfrm>
            <a:off x="1554480" y="3191256"/>
            <a:ext cx="2834640" cy="274320"/>
          </a:xfrm>
          <a:prstGeom prst="rect">
            <a:avLst/>
          </a:prstGeom>
          <a:noFill/>
          <a:ln/>
        </p:spPr>
        <p:txBody>
          <a:bodyPr wrap="square" lIns="0" tIns="0" rIns="0" bIns="0" rtlCol="0" anchor="ctr">
            <a:normAutofit/>
          </a:bodyPr>
          <a:lstStyle/>
          <a:p>
            <a:pPr indent="0" marL="0">
              <a:buNone/>
            </a:pPr>
            <a:r>
              <a:rPr lang="en-US" sz="1400" b="1" dirty="0">
                <a:solidFill>
                  <a:srgbClr val="212529"/>
                </a:solidFill>
                <a:latin typeface="Open Sans" pitchFamily="34" charset="0"/>
                <a:ea typeface="Open Sans" pitchFamily="34" charset="-122"/>
                <a:cs typeface="Open Sans" pitchFamily="34" charset="-120"/>
              </a:rPr>
              <a:t>Repair the Northeast trend</a:t>
            </a:r>
            <a:endParaRPr lang="en-US" sz="1400" dirty="0"/>
          </a:p>
        </p:txBody>
      </p:sp>
      <p:sp>
        <p:nvSpPr>
          <p:cNvPr id="12" name="Text 10"/>
          <p:cNvSpPr/>
          <p:nvPr/>
        </p:nvSpPr>
        <p:spPr>
          <a:xfrm>
            <a:off x="4480560" y="3182112"/>
            <a:ext cx="6766560" cy="658368"/>
          </a:xfrm>
          <a:prstGeom prst="rect">
            <a:avLst/>
          </a:prstGeom>
          <a:noFill/>
          <a:ln/>
        </p:spPr>
        <p:txBody>
          <a:bodyPr wrap="square" lIns="0" tIns="0" rIns="0" bIns="0" rtlCol="0" anchor="ctr">
            <a:normAutofit/>
          </a:bodyPr>
          <a:lstStyle/>
          <a:p>
            <a:pPr indent="0" marL="0">
              <a:buNone/>
            </a:pPr>
            <a:r>
              <a:rPr lang="en-US" sz="1100" dirty="0">
                <a:solidFill>
                  <a:srgbClr val="6C757D"/>
                </a:solidFill>
                <a:latin typeface="Open Sans" pitchFamily="34" charset="0"/>
                <a:ea typeface="Open Sans" pitchFamily="34" charset="-122"/>
                <a:cs typeface="Open Sans" pitchFamily="34" charset="-120"/>
              </a:rPr>
              <a:t>Northeast sales fell $138k (-8.8%) and standard gross margin was 24.5%. Diagnose New York/area demand, category mix, price and cost before broad discounting.</a:t>
            </a:r>
            <a:endParaRPr lang="en-US" sz="1100" dirty="0"/>
          </a:p>
        </p:txBody>
      </p:sp>
      <p:sp>
        <p:nvSpPr>
          <p:cNvPr id="13" name="Shape 11"/>
          <p:cNvSpPr/>
          <p:nvPr/>
        </p:nvSpPr>
        <p:spPr>
          <a:xfrm>
            <a:off x="658368" y="4306824"/>
            <a:ext cx="10881360" cy="1024128"/>
          </a:xfrm>
          <a:prstGeom prst="roundRect">
            <a:avLst>
              <a:gd name="adj" fmla="val 7143"/>
            </a:avLst>
          </a:prstGeom>
          <a:solidFill>
            <a:srgbClr val="FFFFFF"/>
          </a:solidFill>
          <a:ln w="10160">
            <a:solidFill>
              <a:srgbClr val="DEE2E6"/>
            </a:solidFill>
            <a:prstDash val="solid"/>
          </a:ln>
        </p:spPr>
      </p:sp>
      <p:sp>
        <p:nvSpPr>
          <p:cNvPr id="14" name="Text 12"/>
          <p:cNvSpPr/>
          <p:nvPr/>
        </p:nvSpPr>
        <p:spPr>
          <a:xfrm>
            <a:off x="877824" y="4517136"/>
            <a:ext cx="502920" cy="402336"/>
          </a:xfrm>
          <a:prstGeom prst="rect">
            <a:avLst/>
          </a:prstGeom>
          <a:noFill/>
          <a:ln/>
        </p:spPr>
        <p:txBody>
          <a:bodyPr wrap="square" lIns="0" tIns="0" rIns="0" bIns="0" rtlCol="0" anchor="ctr">
            <a:normAutofit/>
          </a:bodyPr>
          <a:lstStyle/>
          <a:p>
            <a:pPr indent="0" marL="0">
              <a:buNone/>
            </a:pPr>
            <a:r>
              <a:rPr lang="en-US" sz="1900" b="1" dirty="0">
                <a:solidFill>
                  <a:srgbClr val="30445C"/>
                </a:solidFill>
                <a:latin typeface="Open Sans" pitchFamily="34" charset="0"/>
                <a:ea typeface="Open Sans" pitchFamily="34" charset="-122"/>
                <a:cs typeface="Open Sans" pitchFamily="34" charset="-120"/>
              </a:rPr>
              <a:t>03</a:t>
            </a:r>
            <a:endParaRPr lang="en-US" sz="1900" dirty="0"/>
          </a:p>
        </p:txBody>
      </p:sp>
      <p:sp>
        <p:nvSpPr>
          <p:cNvPr id="15" name="Text 13"/>
          <p:cNvSpPr/>
          <p:nvPr/>
        </p:nvSpPr>
        <p:spPr>
          <a:xfrm>
            <a:off x="1554480" y="4453128"/>
            <a:ext cx="2834640" cy="274320"/>
          </a:xfrm>
          <a:prstGeom prst="rect">
            <a:avLst/>
          </a:prstGeom>
          <a:noFill/>
          <a:ln/>
        </p:spPr>
        <p:txBody>
          <a:bodyPr wrap="square" lIns="0" tIns="0" rIns="0" bIns="0" rtlCol="0" anchor="ctr">
            <a:normAutofit/>
          </a:bodyPr>
          <a:lstStyle/>
          <a:p>
            <a:pPr indent="0" marL="0">
              <a:buNone/>
            </a:pPr>
            <a:r>
              <a:rPr lang="en-US" sz="1400" b="1" dirty="0">
                <a:solidFill>
                  <a:srgbClr val="212529"/>
                </a:solidFill>
                <a:latin typeface="Open Sans" pitchFamily="34" charset="0"/>
                <a:ea typeface="Open Sans" pitchFamily="34" charset="-122"/>
                <a:cs typeface="Open Sans" pitchFamily="34" charset="-120"/>
              </a:rPr>
              <a:t>Make margin visible in buying</a:t>
            </a:r>
            <a:endParaRPr lang="en-US" sz="1400" dirty="0"/>
          </a:p>
        </p:txBody>
      </p:sp>
      <p:sp>
        <p:nvSpPr>
          <p:cNvPr id="16" name="Text 14"/>
          <p:cNvSpPr/>
          <p:nvPr/>
        </p:nvSpPr>
        <p:spPr>
          <a:xfrm>
            <a:off x="4480560" y="4443984"/>
            <a:ext cx="6766560" cy="658368"/>
          </a:xfrm>
          <a:prstGeom prst="rect">
            <a:avLst/>
          </a:prstGeom>
          <a:noFill/>
          <a:ln/>
        </p:spPr>
        <p:txBody>
          <a:bodyPr wrap="square" lIns="0" tIns="0" rIns="0" bIns="0" rtlCol="0" anchor="ctr">
            <a:normAutofit/>
          </a:bodyPr>
          <a:lstStyle/>
          <a:p>
            <a:pPr indent="0" marL="0">
              <a:buNone/>
            </a:pPr>
            <a:r>
              <a:rPr lang="en-US" sz="1100" dirty="0">
                <a:solidFill>
                  <a:srgbClr val="6C757D"/>
                </a:solidFill>
                <a:latin typeface="Open Sans" pitchFamily="34" charset="0"/>
                <a:ea typeface="Open Sans" pitchFamily="34" charset="-122"/>
                <a:cs typeface="Open Sans" pitchFamily="34" charset="-120"/>
              </a:rPr>
              <a:t>Dining furniture, wardrobes and bathroom furniture each earned only about 23% gross margin in 2022. Test vendor terms, assortment and price/mix on these material categories.</a:t>
            </a:r>
            <a:endParaRPr lang="en-US" sz="1100" dirty="0"/>
          </a:p>
        </p:txBody>
      </p:sp>
      <p:sp>
        <p:nvSpPr>
          <p:cNvPr id="17" name="Text 15"/>
          <p:cNvSpPr/>
          <p:nvPr/>
        </p:nvSpPr>
        <p:spPr>
          <a:xfrm>
            <a:off x="749808" y="5779008"/>
            <a:ext cx="10698480" cy="384048"/>
          </a:xfrm>
          <a:prstGeom prst="rect">
            <a:avLst/>
          </a:prstGeom>
          <a:noFill/>
          <a:ln/>
        </p:spPr>
        <p:txBody>
          <a:bodyPr wrap="square" lIns="0" tIns="0" rIns="0" bIns="0" rtlCol="0" anchor="ctr">
            <a:normAutofit/>
          </a:bodyPr>
          <a:lstStyle/>
          <a:p>
            <a:pPr indent="0" marL="0">
              <a:buNone/>
            </a:pPr>
            <a:r>
              <a:rPr lang="en-US" sz="1200" b="1" dirty="0">
                <a:solidFill>
                  <a:srgbClr val="6E9117"/>
                </a:solidFill>
                <a:latin typeface="Open Sans" pitchFamily="34" charset="0"/>
                <a:ea typeface="Open Sans" pitchFamily="34" charset="-122"/>
                <a:cs typeface="Open Sans" pitchFamily="34" charset="-120"/>
              </a:rPr>
              <a:t>Decision request: validate the 2022 landed-cost movement and confirm the period/currency of store operating costs.</a:t>
            </a:r>
            <a:endParaRPr lang="en-US" sz="1200" dirty="0"/>
          </a:p>
        </p:txBody>
      </p:sp>
      <p:sp>
        <p:nvSpPr>
          <p:cNvPr id="25" name="Slide Number Placeholder 0"/>
          <p:cNvSpPr>
            <a:spLocks noGrp="1"/>
          </p:cNvSpPr>
          <p:nvPr>
            <p:ph type="sldNum" sz="quarter" idx="4294967295"/>
          </p:nvPr>
        </p:nvSpPr>
        <p:spPr>
          <a:xfrm>
            <a:off x="11201400"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6C757D"/>
                </a:solidFill>
                <a:latin typeface="Open Sans"/>
                <a:ea typeface="Open Sans"/>
                <a:cs typeface="Open Sans"/>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384048"/>
            <a:ext cx="10789920" cy="219456"/>
          </a:xfrm>
          <a:prstGeom prst="rect">
            <a:avLst/>
          </a:prstGeom>
          <a:noFill/>
          <a:ln/>
        </p:spPr>
        <p:txBody>
          <a:bodyPr wrap="square" lIns="0" tIns="0" rIns="0" bIns="0" rtlCol="0" anchor="ctr">
            <a:normAutofit/>
          </a:bodyPr>
          <a:lstStyle/>
          <a:p>
            <a:pPr indent="0" marL="0">
              <a:buNone/>
            </a:pPr>
            <a:r>
              <a:rPr lang="en-US" sz="1000" b="1" spc="120" kern="0" dirty="0">
                <a:solidFill>
                  <a:srgbClr val="6E9117"/>
                </a:solidFill>
                <a:latin typeface="Open Sans" pitchFamily="34" charset="0"/>
                <a:ea typeface="Open Sans" pitchFamily="34" charset="-122"/>
                <a:cs typeface="Open Sans" pitchFamily="34" charset="-120"/>
              </a:rPr>
              <a:t>PIPELINE</a:t>
            </a:r>
            <a:endParaRPr lang="en-US" sz="1000" dirty="0"/>
          </a:p>
        </p:txBody>
      </p:sp>
      <p:sp>
        <p:nvSpPr>
          <p:cNvPr id="3" name="Text 1"/>
          <p:cNvSpPr/>
          <p:nvPr/>
        </p:nvSpPr>
        <p:spPr>
          <a:xfrm>
            <a:off x="566928" y="694944"/>
            <a:ext cx="10972800" cy="475488"/>
          </a:xfrm>
          <a:prstGeom prst="rect">
            <a:avLst/>
          </a:prstGeom>
          <a:noFill/>
          <a:ln/>
        </p:spPr>
        <p:txBody>
          <a:bodyPr wrap="square" lIns="0" tIns="0" rIns="0" bIns="0" rtlCol="0" anchor="ctr">
            <a:normAutofit/>
          </a:bodyPr>
          <a:lstStyle/>
          <a:p>
            <a:pPr indent="0" marL="0">
              <a:buNone/>
            </a:pPr>
            <a:r>
              <a:rPr lang="en-US" sz="2500" b="1" dirty="0">
                <a:solidFill>
                  <a:srgbClr val="212529"/>
                </a:solidFill>
                <a:latin typeface="Open Sans" pitchFamily="34" charset="0"/>
                <a:ea typeface="Open Sans" pitchFamily="34" charset="-122"/>
                <a:cs typeface="Open Sans" pitchFamily="34" charset="-120"/>
              </a:rPr>
              <a:t>A small Kimball star, built from normalized transactions</a:t>
            </a:r>
            <a:endParaRPr lang="en-US" sz="2500" dirty="0"/>
          </a:p>
        </p:txBody>
      </p:sp>
      <p:sp>
        <p:nvSpPr>
          <p:cNvPr id="4" name="Text 2"/>
          <p:cNvSpPr/>
          <p:nvPr/>
        </p:nvSpPr>
        <p:spPr>
          <a:xfrm>
            <a:off x="566928" y="1207008"/>
            <a:ext cx="10972800" cy="292608"/>
          </a:xfrm>
          <a:prstGeom prst="rect">
            <a:avLst/>
          </a:prstGeom>
          <a:noFill/>
          <a:ln/>
        </p:spPr>
        <p:txBody>
          <a:bodyPr wrap="square" lIns="0" tIns="0" rIns="0" bIns="0" rtlCol="0" anchor="ctr">
            <a:normAutofit/>
          </a:bodyPr>
          <a:lstStyle/>
          <a:p>
            <a:pPr indent="0" marL="0">
              <a:buNone/>
            </a:pPr>
            <a:r>
              <a:rPr lang="en-US" sz="1100" dirty="0">
                <a:solidFill>
                  <a:srgbClr val="6C757D"/>
                </a:solidFill>
                <a:latin typeface="Open Sans" pitchFamily="34" charset="0"/>
                <a:ea typeface="Open Sans" pitchFamily="34" charset="-122"/>
                <a:cs typeface="Open Sans" pitchFamily="34" charset="-120"/>
              </a:rPr>
              <a:t>One event fact, two conformed dimensions, and purpose-built marts.</a:t>
            </a:r>
            <a:endParaRPr lang="en-US" sz="1100" dirty="0"/>
          </a:p>
        </p:txBody>
      </p:sp>
      <p:sp>
        <p:nvSpPr>
          <p:cNvPr id="5" name="Shape 3"/>
          <p:cNvSpPr/>
          <p:nvPr/>
        </p:nvSpPr>
        <p:spPr>
          <a:xfrm>
            <a:off x="658368" y="1965960"/>
            <a:ext cx="2103120" cy="1325880"/>
          </a:xfrm>
          <a:prstGeom prst="roundRect">
            <a:avLst>
              <a:gd name="adj" fmla="val 5517"/>
            </a:avLst>
          </a:prstGeom>
          <a:solidFill>
            <a:srgbClr val="E9ECEF"/>
          </a:solidFill>
          <a:ln w="10160">
            <a:solidFill>
              <a:srgbClr val="DEE2E6"/>
            </a:solidFill>
            <a:prstDash val="solid"/>
          </a:ln>
        </p:spPr>
      </p:sp>
      <p:sp>
        <p:nvSpPr>
          <p:cNvPr id="6" name="Text 4"/>
          <p:cNvSpPr/>
          <p:nvPr/>
        </p:nvSpPr>
        <p:spPr>
          <a:xfrm>
            <a:off x="804672" y="2130552"/>
            <a:ext cx="1828800" cy="182880"/>
          </a:xfrm>
          <a:prstGeom prst="rect">
            <a:avLst/>
          </a:prstGeom>
          <a:noFill/>
          <a:ln/>
        </p:spPr>
        <p:txBody>
          <a:bodyPr wrap="square" lIns="0" tIns="0" rIns="0" bIns="0" rtlCol="0" anchor="ctr">
            <a:normAutofit/>
          </a:bodyPr>
          <a:lstStyle/>
          <a:p>
            <a:pPr indent="0" marL="0">
              <a:buNone/>
            </a:pPr>
            <a:r>
              <a:rPr lang="en-US" sz="900" b="1" dirty="0">
                <a:solidFill>
                  <a:srgbClr val="6E9117"/>
                </a:solidFill>
                <a:latin typeface="Open Sans" pitchFamily="34" charset="0"/>
                <a:ea typeface="Open Sans" pitchFamily="34" charset="-122"/>
                <a:cs typeface="Open Sans" pitchFamily="34" charset="-120"/>
              </a:rPr>
              <a:t>LANDING</a:t>
            </a:r>
            <a:endParaRPr lang="en-US" sz="900" dirty="0"/>
          </a:p>
        </p:txBody>
      </p:sp>
      <p:sp>
        <p:nvSpPr>
          <p:cNvPr id="7" name="Text 5"/>
          <p:cNvSpPr/>
          <p:nvPr/>
        </p:nvSpPr>
        <p:spPr>
          <a:xfrm>
            <a:off x="804672" y="2441448"/>
            <a:ext cx="1828800" cy="621792"/>
          </a:xfrm>
          <a:prstGeom prst="rect">
            <a:avLst/>
          </a:prstGeom>
          <a:noFill/>
          <a:ln/>
        </p:spPr>
        <p:txBody>
          <a:bodyPr wrap="square" lIns="0" tIns="0" rIns="0" bIns="0" rtlCol="0" anchor="t">
            <a:normAutofit/>
          </a:bodyPr>
          <a:lstStyle/>
          <a:p>
            <a:pPr indent="0" marL="0">
              <a:buNone/>
            </a:pPr>
            <a:r>
              <a:rPr lang="en-US" sz="1200" b="1" dirty="0">
                <a:solidFill>
                  <a:srgbClr val="212529"/>
                </a:solidFill>
                <a:latin typeface="Open Sans" pitchFamily="34" charset="0"/>
                <a:ea typeface="Open Sans" pitchFamily="34" charset="-122"/>
                <a:cs typeface="Open Sans" pitchFamily="34" charset="-120"/>
              </a:rPr>
              <a:t>Raw CSV</a:t>
            </a:r>
            <a:endParaRPr lang="en-US" sz="1200" dirty="0"/>
          </a:p>
          <a:p>
            <a:pPr indent="0" marL="0">
              <a:buNone/>
            </a:pPr>
            <a:r>
              <a:rPr lang="en-US" sz="1200" b="1" dirty="0">
                <a:solidFill>
                  <a:srgbClr val="212529"/>
                </a:solidFill>
                <a:latin typeface="Open Sans" pitchFamily="34" charset="0"/>
                <a:ea typeface="Open Sans" pitchFamily="34" charset="-122"/>
                <a:cs typeface="Open Sans" pitchFamily="34" charset="-120"/>
              </a:rPr>
              <a:t>509,480 rows</a:t>
            </a:r>
            <a:endParaRPr lang="en-US" sz="1200" dirty="0"/>
          </a:p>
          <a:p>
            <a:pPr indent="0" marL="0">
              <a:buNone/>
            </a:pPr>
            <a:r>
              <a:rPr lang="en-US" sz="1200" b="1" dirty="0">
                <a:solidFill>
                  <a:srgbClr val="212529"/>
                </a:solidFill>
                <a:latin typeface="Open Sans" pitchFamily="34" charset="0"/>
                <a:ea typeface="Open Sans" pitchFamily="34" charset="-122"/>
                <a:cs typeface="Open Sans" pitchFamily="34" charset="-120"/>
              </a:rPr>
              <a:t>immutable source</a:t>
            </a:r>
            <a:endParaRPr lang="en-US" sz="1200" dirty="0"/>
          </a:p>
        </p:txBody>
      </p:sp>
      <p:sp>
        <p:nvSpPr>
          <p:cNvPr id="8" name="Shape 6"/>
          <p:cNvSpPr/>
          <p:nvPr/>
        </p:nvSpPr>
        <p:spPr>
          <a:xfrm>
            <a:off x="3246120" y="1965960"/>
            <a:ext cx="2286000" cy="1325880"/>
          </a:xfrm>
          <a:prstGeom prst="roundRect">
            <a:avLst>
              <a:gd name="adj" fmla="val 5517"/>
            </a:avLst>
          </a:prstGeom>
          <a:solidFill>
            <a:srgbClr val="EEF4E0"/>
          </a:solidFill>
          <a:ln w="10160">
            <a:solidFill>
              <a:srgbClr val="DEE2E6"/>
            </a:solidFill>
            <a:prstDash val="solid"/>
          </a:ln>
        </p:spPr>
      </p:sp>
      <p:sp>
        <p:nvSpPr>
          <p:cNvPr id="9" name="Text 7"/>
          <p:cNvSpPr/>
          <p:nvPr/>
        </p:nvSpPr>
        <p:spPr>
          <a:xfrm>
            <a:off x="3392424" y="2130552"/>
            <a:ext cx="2011680" cy="182880"/>
          </a:xfrm>
          <a:prstGeom prst="rect">
            <a:avLst/>
          </a:prstGeom>
          <a:noFill/>
          <a:ln/>
        </p:spPr>
        <p:txBody>
          <a:bodyPr wrap="square" lIns="0" tIns="0" rIns="0" bIns="0" rtlCol="0" anchor="ctr">
            <a:normAutofit/>
          </a:bodyPr>
          <a:lstStyle/>
          <a:p>
            <a:pPr indent="0" marL="0">
              <a:buNone/>
            </a:pPr>
            <a:r>
              <a:rPr lang="en-US" sz="900" b="1" dirty="0">
                <a:solidFill>
                  <a:srgbClr val="6E9117"/>
                </a:solidFill>
                <a:latin typeface="Open Sans" pitchFamily="34" charset="0"/>
                <a:ea typeface="Open Sans" pitchFamily="34" charset="-122"/>
                <a:cs typeface="Open Sans" pitchFamily="34" charset="-120"/>
              </a:rPr>
              <a:t>STAGING</a:t>
            </a:r>
            <a:endParaRPr lang="en-US" sz="900" dirty="0"/>
          </a:p>
        </p:txBody>
      </p:sp>
      <p:sp>
        <p:nvSpPr>
          <p:cNvPr id="10" name="Text 8"/>
          <p:cNvSpPr/>
          <p:nvPr/>
        </p:nvSpPr>
        <p:spPr>
          <a:xfrm>
            <a:off x="3392424" y="2441448"/>
            <a:ext cx="2011680" cy="621792"/>
          </a:xfrm>
          <a:prstGeom prst="rect">
            <a:avLst/>
          </a:prstGeom>
          <a:noFill/>
          <a:ln/>
        </p:spPr>
        <p:txBody>
          <a:bodyPr wrap="square" lIns="0" tIns="0" rIns="0" bIns="0" rtlCol="0" anchor="t">
            <a:normAutofit/>
          </a:bodyPr>
          <a:lstStyle/>
          <a:p>
            <a:pPr indent="0" marL="0">
              <a:buNone/>
            </a:pPr>
            <a:r>
              <a:rPr lang="en-US" sz="1200" b="1" dirty="0">
                <a:solidFill>
                  <a:srgbClr val="212529"/>
                </a:solidFill>
                <a:latin typeface="Open Sans" pitchFamily="34" charset="0"/>
                <a:ea typeface="Open Sans" pitchFamily="34" charset="-122"/>
                <a:cs typeface="Open Sans" pitchFamily="34" charset="-120"/>
              </a:rPr>
              <a:t>Typed, snake_case</a:t>
            </a:r>
            <a:endParaRPr lang="en-US" sz="1200" dirty="0"/>
          </a:p>
          <a:p>
            <a:pPr indent="0" marL="0">
              <a:buNone/>
            </a:pPr>
            <a:r>
              <a:rPr lang="en-US" sz="1200" b="1" dirty="0">
                <a:solidFill>
                  <a:srgbClr val="212529"/>
                </a:solidFill>
                <a:latin typeface="Open Sans" pitchFamily="34" charset="0"/>
                <a:ea typeface="Open Sans" pitchFamily="34" charset="-122"/>
                <a:cs typeface="Open Sans" pitchFamily="34" charset="-120"/>
              </a:rPr>
              <a:t>row-preserving</a:t>
            </a:r>
            <a:endParaRPr lang="en-US" sz="1200" dirty="0"/>
          </a:p>
          <a:p>
            <a:pPr indent="0" marL="0">
              <a:buNone/>
            </a:pPr>
            <a:r>
              <a:rPr lang="en-US" sz="1200" b="1" dirty="0">
                <a:solidFill>
                  <a:srgbClr val="212529"/>
                </a:solidFill>
                <a:latin typeface="Open Sans" pitchFamily="34" charset="0"/>
                <a:ea typeface="Open Sans" pitchFamily="34" charset="-122"/>
                <a:cs typeface="Open Sans" pitchFamily="34" charset="-120"/>
              </a:rPr>
              <a:t>source fingerprint</a:t>
            </a:r>
            <a:endParaRPr lang="en-US" sz="1200" dirty="0"/>
          </a:p>
        </p:txBody>
      </p:sp>
      <p:sp>
        <p:nvSpPr>
          <p:cNvPr id="11" name="Shape 9"/>
          <p:cNvSpPr/>
          <p:nvPr/>
        </p:nvSpPr>
        <p:spPr>
          <a:xfrm>
            <a:off x="6053328" y="1965960"/>
            <a:ext cx="2423160" cy="1325880"/>
          </a:xfrm>
          <a:prstGeom prst="roundRect">
            <a:avLst>
              <a:gd name="adj" fmla="val 5517"/>
            </a:avLst>
          </a:prstGeom>
          <a:solidFill>
            <a:srgbClr val="E7EDF4"/>
          </a:solidFill>
          <a:ln w="10160">
            <a:solidFill>
              <a:srgbClr val="DEE2E6"/>
            </a:solidFill>
            <a:prstDash val="solid"/>
          </a:ln>
        </p:spPr>
      </p:sp>
      <p:sp>
        <p:nvSpPr>
          <p:cNvPr id="12" name="Text 10"/>
          <p:cNvSpPr/>
          <p:nvPr/>
        </p:nvSpPr>
        <p:spPr>
          <a:xfrm>
            <a:off x="6199632" y="2130552"/>
            <a:ext cx="2148840" cy="182880"/>
          </a:xfrm>
          <a:prstGeom prst="rect">
            <a:avLst/>
          </a:prstGeom>
          <a:noFill/>
          <a:ln/>
        </p:spPr>
        <p:txBody>
          <a:bodyPr wrap="square" lIns="0" tIns="0" rIns="0" bIns="0" rtlCol="0" anchor="ctr">
            <a:normAutofit/>
          </a:bodyPr>
          <a:lstStyle/>
          <a:p>
            <a:pPr indent="0" marL="0">
              <a:buNone/>
            </a:pPr>
            <a:r>
              <a:rPr lang="en-US" sz="900" b="1" dirty="0">
                <a:solidFill>
                  <a:srgbClr val="6E9117"/>
                </a:solidFill>
                <a:latin typeface="Open Sans" pitchFamily="34" charset="0"/>
                <a:ea typeface="Open Sans" pitchFamily="34" charset="-122"/>
                <a:cs typeface="Open Sans" pitchFamily="34" charset="-120"/>
              </a:rPr>
              <a:t>NORMALIZED</a:t>
            </a:r>
            <a:endParaRPr lang="en-US" sz="900" dirty="0"/>
          </a:p>
        </p:txBody>
      </p:sp>
      <p:sp>
        <p:nvSpPr>
          <p:cNvPr id="13" name="Text 11"/>
          <p:cNvSpPr/>
          <p:nvPr/>
        </p:nvSpPr>
        <p:spPr>
          <a:xfrm>
            <a:off x="6199632" y="2441448"/>
            <a:ext cx="2148840" cy="621792"/>
          </a:xfrm>
          <a:prstGeom prst="rect">
            <a:avLst/>
          </a:prstGeom>
          <a:noFill/>
          <a:ln/>
        </p:spPr>
        <p:txBody>
          <a:bodyPr wrap="square" lIns="0" tIns="0" rIns="0" bIns="0" rtlCol="0" anchor="t">
            <a:normAutofit/>
          </a:bodyPr>
          <a:lstStyle/>
          <a:p>
            <a:pPr indent="0" marL="0">
              <a:buNone/>
            </a:pPr>
            <a:r>
              <a:rPr lang="en-US" sz="1200" b="1" dirty="0">
                <a:solidFill>
                  <a:srgbClr val="212529"/>
                </a:solidFill>
                <a:latin typeface="Open Sans" pitchFamily="34" charset="0"/>
                <a:ea typeface="Open Sans" pitchFamily="34" charset="-122"/>
                <a:cs typeface="Open Sans" pitchFamily="34" charset="-120"/>
              </a:rPr>
              <a:t>Product + store dims</a:t>
            </a:r>
            <a:endParaRPr lang="en-US" sz="1200" dirty="0"/>
          </a:p>
          <a:p>
            <a:pPr indent="0" marL="0">
              <a:buNone/>
            </a:pPr>
            <a:r>
              <a:rPr lang="en-US" sz="1200" b="1" dirty="0">
                <a:solidFill>
                  <a:srgbClr val="212529"/>
                </a:solidFill>
                <a:latin typeface="Open Sans" pitchFamily="34" charset="0"/>
                <a:ea typeface="Open Sans" pitchFamily="34" charset="-122"/>
                <a:cs typeface="Open Sans" pitchFamily="34" charset="-120"/>
              </a:rPr>
              <a:t>Sales event fact</a:t>
            </a:r>
            <a:endParaRPr lang="en-US" sz="1200" dirty="0"/>
          </a:p>
          <a:p>
            <a:pPr indent="0" marL="0">
              <a:buNone/>
            </a:pPr>
            <a:r>
              <a:rPr lang="en-US" sz="1200" b="1" dirty="0">
                <a:solidFill>
                  <a:srgbClr val="212529"/>
                </a:solidFill>
                <a:latin typeface="Open Sans" pitchFamily="34" charset="0"/>
                <a:ea typeface="Open Sans" pitchFamily="34" charset="-122"/>
                <a:cs typeface="Open Sans" pitchFamily="34" charset="-120"/>
              </a:rPr>
              <a:t>1 row / transaction ID</a:t>
            </a:r>
            <a:endParaRPr lang="en-US" sz="1200" dirty="0"/>
          </a:p>
        </p:txBody>
      </p:sp>
      <p:sp>
        <p:nvSpPr>
          <p:cNvPr id="14" name="Shape 12"/>
          <p:cNvSpPr/>
          <p:nvPr/>
        </p:nvSpPr>
        <p:spPr>
          <a:xfrm>
            <a:off x="9006840" y="1965960"/>
            <a:ext cx="2514600" cy="1325880"/>
          </a:xfrm>
          <a:prstGeom prst="roundRect">
            <a:avLst>
              <a:gd name="adj" fmla="val 5517"/>
            </a:avLst>
          </a:prstGeom>
          <a:solidFill>
            <a:srgbClr val="EEF4E0"/>
          </a:solidFill>
          <a:ln w="10160">
            <a:solidFill>
              <a:srgbClr val="DEE2E6"/>
            </a:solidFill>
            <a:prstDash val="solid"/>
          </a:ln>
        </p:spPr>
      </p:sp>
      <p:sp>
        <p:nvSpPr>
          <p:cNvPr id="15" name="Text 13"/>
          <p:cNvSpPr/>
          <p:nvPr/>
        </p:nvSpPr>
        <p:spPr>
          <a:xfrm>
            <a:off x="9153144" y="2130552"/>
            <a:ext cx="2240280" cy="182880"/>
          </a:xfrm>
          <a:prstGeom prst="rect">
            <a:avLst/>
          </a:prstGeom>
          <a:noFill/>
          <a:ln/>
        </p:spPr>
        <p:txBody>
          <a:bodyPr wrap="square" lIns="0" tIns="0" rIns="0" bIns="0" rtlCol="0" anchor="ctr">
            <a:normAutofit/>
          </a:bodyPr>
          <a:lstStyle/>
          <a:p>
            <a:pPr indent="0" marL="0">
              <a:buNone/>
            </a:pPr>
            <a:r>
              <a:rPr lang="en-US" sz="900" b="1" dirty="0">
                <a:solidFill>
                  <a:srgbClr val="6E9117"/>
                </a:solidFill>
                <a:latin typeface="Open Sans" pitchFamily="34" charset="0"/>
                <a:ea typeface="Open Sans" pitchFamily="34" charset="-122"/>
                <a:cs typeface="Open Sans" pitchFamily="34" charset="-120"/>
              </a:rPr>
              <a:t>REPORTING</a:t>
            </a:r>
            <a:endParaRPr lang="en-US" sz="900" dirty="0"/>
          </a:p>
        </p:txBody>
      </p:sp>
      <p:sp>
        <p:nvSpPr>
          <p:cNvPr id="16" name="Text 14"/>
          <p:cNvSpPr/>
          <p:nvPr/>
        </p:nvSpPr>
        <p:spPr>
          <a:xfrm>
            <a:off x="9153144" y="2441448"/>
            <a:ext cx="2240280" cy="621792"/>
          </a:xfrm>
          <a:prstGeom prst="rect">
            <a:avLst/>
          </a:prstGeom>
          <a:noFill/>
          <a:ln/>
        </p:spPr>
        <p:txBody>
          <a:bodyPr wrap="square" lIns="0" tIns="0" rIns="0" bIns="0" rtlCol="0" anchor="t">
            <a:normAutofit/>
          </a:bodyPr>
          <a:lstStyle/>
          <a:p>
            <a:pPr indent="0" marL="0">
              <a:buNone/>
            </a:pPr>
            <a:r>
              <a:rPr lang="en-US" sz="1200" b="1" dirty="0">
                <a:solidFill>
                  <a:srgbClr val="212529"/>
                </a:solidFill>
                <a:latin typeface="Open Sans" pitchFamily="34" charset="0"/>
                <a:ea typeface="Open Sans" pitchFamily="34" charset="-122"/>
                <a:cs typeface="Open Sans" pitchFamily="34" charset="-120"/>
              </a:rPr>
              <a:t>Monthly / annual</a:t>
            </a:r>
            <a:endParaRPr lang="en-US" sz="1200" dirty="0"/>
          </a:p>
          <a:p>
            <a:pPr indent="0" marL="0">
              <a:buNone/>
            </a:pPr>
            <a:r>
              <a:rPr lang="en-US" sz="1200" b="1" dirty="0">
                <a:solidFill>
                  <a:srgbClr val="212529"/>
                </a:solidFill>
                <a:latin typeface="Open Sans" pitchFamily="34" charset="0"/>
                <a:ea typeface="Open Sans" pitchFamily="34" charset="-122"/>
                <a:cs typeface="Open Sans" pitchFamily="34" charset="-120"/>
              </a:rPr>
              <a:t>product / store / region</a:t>
            </a:r>
            <a:endParaRPr lang="en-US" sz="1200" dirty="0"/>
          </a:p>
          <a:p>
            <a:pPr indent="0" marL="0">
              <a:buNone/>
            </a:pPr>
            <a:r>
              <a:rPr lang="en-US" sz="1200" b="1" dirty="0">
                <a:solidFill>
                  <a:srgbClr val="212529"/>
                </a:solidFill>
                <a:latin typeface="Open Sans" pitchFamily="34" charset="0"/>
                <a:ea typeface="Open Sans" pitchFamily="34" charset="-122"/>
                <a:cs typeface="Open Sans" pitchFamily="34" charset="-120"/>
              </a:rPr>
              <a:t>triage exceptions</a:t>
            </a:r>
            <a:endParaRPr lang="en-US" sz="1200" dirty="0"/>
          </a:p>
        </p:txBody>
      </p:sp>
      <p:sp>
        <p:nvSpPr>
          <p:cNvPr id="17" name="Shape 15"/>
          <p:cNvSpPr/>
          <p:nvPr/>
        </p:nvSpPr>
        <p:spPr>
          <a:xfrm>
            <a:off x="2807208" y="2633472"/>
            <a:ext cx="384048" cy="0"/>
          </a:xfrm>
          <a:prstGeom prst="line">
            <a:avLst/>
          </a:prstGeom>
          <a:noFill/>
          <a:ln w="22860">
            <a:solidFill>
              <a:srgbClr val="6E9117"/>
            </a:solidFill>
            <a:prstDash val="solid"/>
            <a:tailEnd type="triangle"/>
          </a:ln>
        </p:spPr>
      </p:sp>
      <p:sp>
        <p:nvSpPr>
          <p:cNvPr id="18" name="Shape 16"/>
          <p:cNvSpPr/>
          <p:nvPr/>
        </p:nvSpPr>
        <p:spPr>
          <a:xfrm>
            <a:off x="5577840" y="2633472"/>
            <a:ext cx="420624" cy="0"/>
          </a:xfrm>
          <a:prstGeom prst="line">
            <a:avLst/>
          </a:prstGeom>
          <a:noFill/>
          <a:ln w="22860">
            <a:solidFill>
              <a:srgbClr val="6E9117"/>
            </a:solidFill>
            <a:prstDash val="solid"/>
            <a:tailEnd type="triangle"/>
          </a:ln>
        </p:spPr>
      </p:sp>
      <p:sp>
        <p:nvSpPr>
          <p:cNvPr id="19" name="Shape 17"/>
          <p:cNvSpPr/>
          <p:nvPr/>
        </p:nvSpPr>
        <p:spPr>
          <a:xfrm>
            <a:off x="8522208" y="2633472"/>
            <a:ext cx="429768" cy="0"/>
          </a:xfrm>
          <a:prstGeom prst="line">
            <a:avLst/>
          </a:prstGeom>
          <a:noFill/>
          <a:ln w="22860">
            <a:solidFill>
              <a:srgbClr val="6E9117"/>
            </a:solidFill>
            <a:prstDash val="solid"/>
            <a:tailEnd type="triangle"/>
          </a:ln>
        </p:spPr>
      </p:sp>
      <p:sp>
        <p:nvSpPr>
          <p:cNvPr id="20" name="Text 18"/>
          <p:cNvSpPr/>
          <p:nvPr/>
        </p:nvSpPr>
        <p:spPr>
          <a:xfrm>
            <a:off x="3383280" y="3977640"/>
            <a:ext cx="1371600" cy="228600"/>
          </a:xfrm>
          <a:prstGeom prst="rect">
            <a:avLst/>
          </a:prstGeom>
          <a:noFill/>
          <a:ln/>
        </p:spPr>
        <p:txBody>
          <a:bodyPr wrap="square" lIns="0" tIns="0" rIns="0" bIns="0" rtlCol="0" anchor="ctr">
            <a:normAutofit/>
          </a:bodyPr>
          <a:lstStyle/>
          <a:p>
            <a:pPr indent="0" marL="0">
              <a:buNone/>
            </a:pPr>
            <a:r>
              <a:rPr lang="en-US" sz="1000" b="1" dirty="0">
                <a:solidFill>
                  <a:srgbClr val="6E9117"/>
                </a:solidFill>
                <a:latin typeface="Open Sans" pitchFamily="34" charset="0"/>
                <a:ea typeface="Open Sans" pitchFamily="34" charset="-122"/>
                <a:cs typeface="Open Sans" pitchFamily="34" charset="-120"/>
              </a:rPr>
              <a:t>EVENT FACT</a:t>
            </a:r>
            <a:endParaRPr lang="en-US" sz="1000" dirty="0"/>
          </a:p>
        </p:txBody>
      </p:sp>
      <p:sp>
        <p:nvSpPr>
          <p:cNvPr id="21" name="Text 19"/>
          <p:cNvSpPr/>
          <p:nvPr/>
        </p:nvSpPr>
        <p:spPr>
          <a:xfrm>
            <a:off x="3383280" y="4279392"/>
            <a:ext cx="7315200" cy="329184"/>
          </a:xfrm>
          <a:prstGeom prst="rect">
            <a:avLst/>
          </a:prstGeom>
          <a:noFill/>
          <a:ln/>
        </p:spPr>
        <p:txBody>
          <a:bodyPr wrap="square" lIns="0" tIns="0" rIns="0" bIns="0" rtlCol="0" anchor="ctr">
            <a:normAutofit/>
          </a:bodyPr>
          <a:lstStyle/>
          <a:p>
            <a:pPr indent="0" marL="0">
              <a:buNone/>
            </a:pPr>
            <a:r>
              <a:rPr lang="en-US" sz="1300" b="1" dirty="0">
                <a:solidFill>
                  <a:srgbClr val="212529"/>
                </a:solidFill>
                <a:latin typeface="Open Sans" pitchFamily="34" charset="0"/>
                <a:ea typeface="Open Sans" pitchFamily="34" charset="-122"/>
                <a:cs typeface="Open Sans" pitchFamily="34" charset="-120"/>
              </a:rPr>
              <a:t>Signed units | unit price | net sales | standard &amp; landed cost | gross profit</a:t>
            </a:r>
            <a:endParaRPr lang="en-US" sz="1300" dirty="0"/>
          </a:p>
        </p:txBody>
      </p:sp>
      <p:sp>
        <p:nvSpPr>
          <p:cNvPr id="22" name="Text 20"/>
          <p:cNvSpPr/>
          <p:nvPr/>
        </p:nvSpPr>
        <p:spPr>
          <a:xfrm>
            <a:off x="3383280" y="4892040"/>
            <a:ext cx="1371600" cy="228600"/>
          </a:xfrm>
          <a:prstGeom prst="rect">
            <a:avLst/>
          </a:prstGeom>
          <a:noFill/>
          <a:ln/>
        </p:spPr>
        <p:txBody>
          <a:bodyPr wrap="square" lIns="0" tIns="0" rIns="0" bIns="0" rtlCol="0" anchor="ctr">
            <a:normAutofit/>
          </a:bodyPr>
          <a:lstStyle/>
          <a:p>
            <a:pPr indent="0" marL="0">
              <a:buNone/>
            </a:pPr>
            <a:r>
              <a:rPr lang="en-US" sz="1000" b="1" dirty="0">
                <a:solidFill>
                  <a:srgbClr val="6E9117"/>
                </a:solidFill>
                <a:latin typeface="Open Sans" pitchFamily="34" charset="0"/>
                <a:ea typeface="Open Sans" pitchFamily="34" charset="-122"/>
                <a:cs typeface="Open Sans" pitchFamily="34" charset="-120"/>
              </a:rPr>
              <a:t>DIMENSIONS</a:t>
            </a:r>
            <a:endParaRPr lang="en-US" sz="1000" dirty="0"/>
          </a:p>
        </p:txBody>
      </p:sp>
      <p:sp>
        <p:nvSpPr>
          <p:cNvPr id="23" name="Text 21"/>
          <p:cNvSpPr/>
          <p:nvPr/>
        </p:nvSpPr>
        <p:spPr>
          <a:xfrm>
            <a:off x="3383280" y="5193792"/>
            <a:ext cx="7680960" cy="329184"/>
          </a:xfrm>
          <a:prstGeom prst="rect">
            <a:avLst/>
          </a:prstGeom>
          <a:noFill/>
          <a:ln/>
        </p:spPr>
        <p:txBody>
          <a:bodyPr wrap="square" lIns="0" tIns="0" rIns="0" bIns="0" rtlCol="0" anchor="ctr">
            <a:normAutofit/>
          </a:bodyPr>
          <a:lstStyle/>
          <a:p>
            <a:pPr indent="0" marL="0">
              <a:buNone/>
            </a:pPr>
            <a:r>
              <a:rPr lang="en-US" sz="1300" b="1" dirty="0">
                <a:solidFill>
                  <a:srgbClr val="212529"/>
                </a:solidFill>
                <a:latin typeface="Open Sans" pitchFamily="34" charset="0"/>
                <a:ea typeface="Open Sans" pitchFamily="34" charset="-122"/>
                <a:cs typeface="Open Sans" pitchFamily="34" charset="-120"/>
              </a:rPr>
              <a:t>Product (catalog/category)    |    Store (state + normalized region)</a:t>
            </a:r>
            <a:endParaRPr lang="en-US" sz="1300" dirty="0"/>
          </a:p>
        </p:txBody>
      </p:sp>
      <p:sp>
        <p:nvSpPr>
          <p:cNvPr id="24" name="Text 22"/>
          <p:cNvSpPr/>
          <p:nvPr/>
        </p:nvSpPr>
        <p:spPr>
          <a:xfrm>
            <a:off x="768096" y="5907024"/>
            <a:ext cx="10789920" cy="274320"/>
          </a:xfrm>
          <a:prstGeom prst="rect">
            <a:avLst/>
          </a:prstGeom>
          <a:noFill/>
          <a:ln/>
        </p:spPr>
        <p:txBody>
          <a:bodyPr wrap="square" lIns="0" tIns="0" rIns="0" bIns="0" rtlCol="0" anchor="ctr">
            <a:normAutofit/>
          </a:bodyPr>
          <a:lstStyle/>
          <a:p>
            <a:pPr indent="0" marL="0">
              <a:buNone/>
            </a:pPr>
            <a:r>
              <a:rPr lang="en-US" sz="1000" dirty="0">
                <a:solidFill>
                  <a:srgbClr val="6C757D"/>
                </a:solidFill>
                <a:latin typeface="Open Sans" pitchFamily="34" charset="0"/>
                <a:ea typeface="Open Sans" pitchFamily="34" charset="-122"/>
                <a:cs typeface="Open Sans" pitchFamily="34" charset="-120"/>
              </a:rPr>
              <a:t>No periodic snapshot: the extract contains transaction events, not inventory balances or dated store states.</a:t>
            </a:r>
            <a:endParaRPr lang="en-US" sz="1000" dirty="0"/>
          </a:p>
        </p:txBody>
      </p:sp>
      <p:sp>
        <p:nvSpPr>
          <p:cNvPr id="25" name="Slide Number Placeholder 0"/>
          <p:cNvSpPr>
            <a:spLocks noGrp="1"/>
          </p:cNvSpPr>
          <p:nvPr>
            <p:ph type="sldNum" sz="quarter" idx="4294967295"/>
          </p:nvPr>
        </p:nvSpPr>
        <p:spPr>
          <a:xfrm>
            <a:off x="11201400"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6C757D"/>
                </a:solidFill>
                <a:latin typeface="Open Sans"/>
                <a:ea typeface="Open Sans"/>
                <a:cs typeface="Open Sans"/>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384048"/>
            <a:ext cx="10789920" cy="219456"/>
          </a:xfrm>
          <a:prstGeom prst="rect">
            <a:avLst/>
          </a:prstGeom>
          <a:noFill/>
          <a:ln/>
        </p:spPr>
        <p:txBody>
          <a:bodyPr wrap="square" lIns="0" tIns="0" rIns="0" bIns="0" rtlCol="0" anchor="ctr">
            <a:normAutofit/>
          </a:bodyPr>
          <a:lstStyle/>
          <a:p>
            <a:pPr indent="0" marL="0">
              <a:buNone/>
            </a:pPr>
            <a:r>
              <a:rPr lang="en-US" sz="1000" b="1" spc="120" kern="0" dirty="0">
                <a:solidFill>
                  <a:srgbClr val="6E9117"/>
                </a:solidFill>
                <a:latin typeface="Open Sans" pitchFamily="34" charset="0"/>
                <a:ea typeface="Open Sans" pitchFamily="34" charset="-122"/>
                <a:cs typeface="Open Sans" pitchFamily="34" charset="-120"/>
              </a:rPr>
              <a:t>DATA QUALITY</a:t>
            </a:r>
            <a:endParaRPr lang="en-US" sz="1000" dirty="0"/>
          </a:p>
        </p:txBody>
      </p:sp>
      <p:sp>
        <p:nvSpPr>
          <p:cNvPr id="3" name="Text 1"/>
          <p:cNvSpPr/>
          <p:nvPr/>
        </p:nvSpPr>
        <p:spPr>
          <a:xfrm>
            <a:off x="566928" y="694944"/>
            <a:ext cx="10972800" cy="475488"/>
          </a:xfrm>
          <a:prstGeom prst="rect">
            <a:avLst/>
          </a:prstGeom>
          <a:noFill/>
          <a:ln/>
        </p:spPr>
        <p:txBody>
          <a:bodyPr wrap="square" lIns="0" tIns="0" rIns="0" bIns="0" rtlCol="0" anchor="ctr">
            <a:normAutofit/>
          </a:bodyPr>
          <a:lstStyle/>
          <a:p>
            <a:pPr indent="0" marL="0">
              <a:buNone/>
            </a:pPr>
            <a:r>
              <a:rPr lang="en-US" sz="2500" b="1" dirty="0">
                <a:solidFill>
                  <a:srgbClr val="212529"/>
                </a:solidFill>
                <a:latin typeface="Open Sans" pitchFamily="34" charset="0"/>
                <a:ea typeface="Open Sans" pitchFamily="34" charset="-122"/>
                <a:cs typeface="Open Sans" pitchFamily="34" charset="-120"/>
              </a:rPr>
              <a:t>Keep the source intact; make exceptions inspectable</a:t>
            </a:r>
            <a:endParaRPr lang="en-US" sz="2500" dirty="0"/>
          </a:p>
        </p:txBody>
      </p:sp>
      <p:sp>
        <p:nvSpPr>
          <p:cNvPr id="4" name="Text 2"/>
          <p:cNvSpPr/>
          <p:nvPr/>
        </p:nvSpPr>
        <p:spPr>
          <a:xfrm>
            <a:off x="566928" y="1207008"/>
            <a:ext cx="10972800" cy="292608"/>
          </a:xfrm>
          <a:prstGeom prst="rect">
            <a:avLst/>
          </a:prstGeom>
          <a:noFill/>
          <a:ln/>
        </p:spPr>
        <p:txBody>
          <a:bodyPr wrap="square" lIns="0" tIns="0" rIns="0" bIns="0" rtlCol="0" anchor="ctr">
            <a:normAutofit/>
          </a:bodyPr>
          <a:lstStyle/>
          <a:p>
            <a:pPr indent="0" marL="0">
              <a:buNone/>
            </a:pPr>
            <a:r>
              <a:rPr lang="en-US" sz="1100" dirty="0">
                <a:solidFill>
                  <a:srgbClr val="6C757D"/>
                </a:solidFill>
                <a:latin typeface="Open Sans" pitchFamily="34" charset="0"/>
                <a:ea typeface="Open Sans" pitchFamily="34" charset="-122"/>
                <a:cs typeface="Open Sans" pitchFamily="34" charset="-120"/>
              </a:rPr>
              <a:t>Dirty does not mean "drop it": retain, classify, and expose the impact.</a:t>
            </a:r>
            <a:endParaRPr lang="en-US" sz="1100" dirty="0"/>
          </a:p>
        </p:txBody>
      </p:sp>
      <p:sp>
        <p:nvSpPr>
          <p:cNvPr id="5" name="Shape 3"/>
          <p:cNvSpPr/>
          <p:nvPr/>
        </p:nvSpPr>
        <p:spPr>
          <a:xfrm>
            <a:off x="658368" y="1783080"/>
            <a:ext cx="3383280" cy="1508760"/>
          </a:xfrm>
          <a:prstGeom prst="roundRect">
            <a:avLst>
              <a:gd name="adj" fmla="val 4848"/>
            </a:avLst>
          </a:prstGeom>
          <a:solidFill>
            <a:srgbClr val="FFFFFF"/>
          </a:solidFill>
          <a:ln w="10160">
            <a:solidFill>
              <a:srgbClr val="DEE2E6"/>
            </a:solidFill>
            <a:prstDash val="solid"/>
          </a:ln>
        </p:spPr>
      </p:sp>
      <p:sp>
        <p:nvSpPr>
          <p:cNvPr id="6" name="Shape 4"/>
          <p:cNvSpPr/>
          <p:nvPr/>
        </p:nvSpPr>
        <p:spPr>
          <a:xfrm>
            <a:off x="658368" y="1783080"/>
            <a:ext cx="73152" cy="1508760"/>
          </a:xfrm>
          <a:prstGeom prst="rect">
            <a:avLst/>
          </a:prstGeom>
          <a:solidFill>
            <a:srgbClr val="95C11F"/>
          </a:solidFill>
          <a:ln w="12700">
            <a:solidFill>
              <a:srgbClr val="95C11F">
                <a:alpha val="0"/>
              </a:srgbClr>
            </a:solidFill>
            <a:prstDash val="solid"/>
          </a:ln>
        </p:spPr>
      </p:sp>
      <p:sp>
        <p:nvSpPr>
          <p:cNvPr id="7" name="Text 5"/>
          <p:cNvSpPr/>
          <p:nvPr/>
        </p:nvSpPr>
        <p:spPr>
          <a:xfrm>
            <a:off x="859536" y="1929384"/>
            <a:ext cx="3017520" cy="228600"/>
          </a:xfrm>
          <a:prstGeom prst="rect">
            <a:avLst/>
          </a:prstGeom>
          <a:noFill/>
          <a:ln/>
        </p:spPr>
        <p:txBody>
          <a:bodyPr wrap="square" lIns="0" tIns="0" rIns="0" bIns="0" rtlCol="0" anchor="ctr">
            <a:normAutofit/>
          </a:bodyPr>
          <a:lstStyle/>
          <a:p>
            <a:pPr indent="0" marL="0">
              <a:buNone/>
            </a:pPr>
            <a:r>
              <a:rPr lang="en-US" sz="900" b="1" dirty="0">
                <a:solidFill>
                  <a:srgbClr val="6C757D"/>
                </a:solidFill>
                <a:latin typeface="Open Sans" pitchFamily="34" charset="0"/>
                <a:ea typeface="Open Sans" pitchFamily="34" charset="-122"/>
                <a:cs typeface="Open Sans" pitchFamily="34" charset="-120"/>
              </a:rPr>
              <a:t>SOURCE ROWS</a:t>
            </a:r>
            <a:endParaRPr lang="en-US" sz="900" dirty="0"/>
          </a:p>
        </p:txBody>
      </p:sp>
      <p:sp>
        <p:nvSpPr>
          <p:cNvPr id="8" name="Text 6"/>
          <p:cNvSpPr/>
          <p:nvPr/>
        </p:nvSpPr>
        <p:spPr>
          <a:xfrm>
            <a:off x="859536" y="2267712"/>
            <a:ext cx="3017520" cy="438912"/>
          </a:xfrm>
          <a:prstGeom prst="rect">
            <a:avLst/>
          </a:prstGeom>
          <a:noFill/>
          <a:ln/>
        </p:spPr>
        <p:txBody>
          <a:bodyPr wrap="square" lIns="0" tIns="0" rIns="0" bIns="0" rtlCol="0" anchor="ctr">
            <a:normAutofit/>
          </a:bodyPr>
          <a:lstStyle/>
          <a:p>
            <a:pPr indent="0" marL="0">
              <a:buNone/>
            </a:pPr>
            <a:r>
              <a:rPr lang="en-US" sz="2300" b="1" dirty="0">
                <a:solidFill>
                  <a:srgbClr val="212529"/>
                </a:solidFill>
                <a:latin typeface="Open Sans" pitchFamily="34" charset="0"/>
                <a:ea typeface="Open Sans" pitchFamily="34" charset="-122"/>
                <a:cs typeface="Open Sans" pitchFamily="34" charset="-120"/>
              </a:rPr>
              <a:t>509,480</a:t>
            </a:r>
            <a:endParaRPr lang="en-US" sz="2300" dirty="0"/>
          </a:p>
        </p:txBody>
      </p:sp>
      <p:sp>
        <p:nvSpPr>
          <p:cNvPr id="9" name="Text 7"/>
          <p:cNvSpPr/>
          <p:nvPr/>
        </p:nvSpPr>
        <p:spPr>
          <a:xfrm>
            <a:off x="859536" y="2761488"/>
            <a:ext cx="3017520" cy="429768"/>
          </a:xfrm>
          <a:prstGeom prst="rect">
            <a:avLst/>
          </a:prstGeom>
          <a:noFill/>
          <a:ln/>
        </p:spPr>
        <p:txBody>
          <a:bodyPr wrap="square" lIns="0" tIns="0" rIns="0" bIns="0" rtlCol="0" anchor="t">
            <a:normAutofit/>
          </a:bodyPr>
          <a:lstStyle/>
          <a:p>
            <a:pPr indent="0" marL="0">
              <a:buNone/>
            </a:pPr>
            <a:r>
              <a:rPr lang="en-US" sz="1000" dirty="0">
                <a:solidFill>
                  <a:srgbClr val="6C757D"/>
                </a:solidFill>
                <a:latin typeface="Open Sans" pitchFamily="34" charset="0"/>
                <a:ea typeface="Open Sans" pitchFamily="34" charset="-122"/>
                <a:cs typeface="Open Sans" pitchFamily="34" charset="-120"/>
              </a:rPr>
              <a:t>Raw records preserved in staging</a:t>
            </a:r>
            <a:endParaRPr lang="en-US" sz="1000" dirty="0"/>
          </a:p>
        </p:txBody>
      </p:sp>
      <p:sp>
        <p:nvSpPr>
          <p:cNvPr id="10" name="Shape 8"/>
          <p:cNvSpPr/>
          <p:nvPr/>
        </p:nvSpPr>
        <p:spPr>
          <a:xfrm>
            <a:off x="4407408" y="1783080"/>
            <a:ext cx="3383280" cy="1508760"/>
          </a:xfrm>
          <a:prstGeom prst="roundRect">
            <a:avLst>
              <a:gd name="adj" fmla="val 4848"/>
            </a:avLst>
          </a:prstGeom>
          <a:solidFill>
            <a:srgbClr val="FFFFFF"/>
          </a:solidFill>
          <a:ln w="10160">
            <a:solidFill>
              <a:srgbClr val="DEE2E6"/>
            </a:solidFill>
            <a:prstDash val="solid"/>
          </a:ln>
        </p:spPr>
      </p:sp>
      <p:sp>
        <p:nvSpPr>
          <p:cNvPr id="11" name="Shape 9"/>
          <p:cNvSpPr/>
          <p:nvPr/>
        </p:nvSpPr>
        <p:spPr>
          <a:xfrm>
            <a:off x="4407408" y="1783080"/>
            <a:ext cx="73152" cy="1508760"/>
          </a:xfrm>
          <a:prstGeom prst="rect">
            <a:avLst/>
          </a:prstGeom>
          <a:solidFill>
            <a:srgbClr val="95C11F"/>
          </a:solidFill>
          <a:ln w="12700">
            <a:solidFill>
              <a:srgbClr val="95C11F">
                <a:alpha val="0"/>
              </a:srgbClr>
            </a:solidFill>
            <a:prstDash val="solid"/>
          </a:ln>
        </p:spPr>
      </p:sp>
      <p:sp>
        <p:nvSpPr>
          <p:cNvPr id="12" name="Text 10"/>
          <p:cNvSpPr/>
          <p:nvPr/>
        </p:nvSpPr>
        <p:spPr>
          <a:xfrm>
            <a:off x="4608576" y="1929384"/>
            <a:ext cx="3017520" cy="228600"/>
          </a:xfrm>
          <a:prstGeom prst="rect">
            <a:avLst/>
          </a:prstGeom>
          <a:noFill/>
          <a:ln/>
        </p:spPr>
        <p:txBody>
          <a:bodyPr wrap="square" lIns="0" tIns="0" rIns="0" bIns="0" rtlCol="0" anchor="ctr">
            <a:normAutofit/>
          </a:bodyPr>
          <a:lstStyle/>
          <a:p>
            <a:pPr indent="0" marL="0">
              <a:buNone/>
            </a:pPr>
            <a:r>
              <a:rPr lang="en-US" sz="900" b="1" dirty="0">
                <a:solidFill>
                  <a:srgbClr val="6C757D"/>
                </a:solidFill>
                <a:latin typeface="Open Sans" pitchFamily="34" charset="0"/>
                <a:ea typeface="Open Sans" pitchFamily="34" charset="-122"/>
                <a:cs typeface="Open Sans" pitchFamily="34" charset="-120"/>
              </a:rPr>
              <a:t>SELECTED EVENT FACTS</a:t>
            </a:r>
            <a:endParaRPr lang="en-US" sz="900" dirty="0"/>
          </a:p>
        </p:txBody>
      </p:sp>
      <p:sp>
        <p:nvSpPr>
          <p:cNvPr id="13" name="Text 11"/>
          <p:cNvSpPr/>
          <p:nvPr/>
        </p:nvSpPr>
        <p:spPr>
          <a:xfrm>
            <a:off x="4608576" y="2267712"/>
            <a:ext cx="3017520" cy="438912"/>
          </a:xfrm>
          <a:prstGeom prst="rect">
            <a:avLst/>
          </a:prstGeom>
          <a:noFill/>
          <a:ln/>
        </p:spPr>
        <p:txBody>
          <a:bodyPr wrap="square" lIns="0" tIns="0" rIns="0" bIns="0" rtlCol="0" anchor="ctr">
            <a:normAutofit/>
          </a:bodyPr>
          <a:lstStyle/>
          <a:p>
            <a:pPr indent="0" marL="0">
              <a:buNone/>
            </a:pPr>
            <a:r>
              <a:rPr lang="en-US" sz="2300" b="1" dirty="0">
                <a:solidFill>
                  <a:srgbClr val="212529"/>
                </a:solidFill>
                <a:latin typeface="Open Sans" pitchFamily="34" charset="0"/>
                <a:ea typeface="Open Sans" pitchFamily="34" charset="-122"/>
                <a:cs typeface="Open Sans" pitchFamily="34" charset="-120"/>
              </a:rPr>
              <a:t>499,665</a:t>
            </a:r>
            <a:endParaRPr lang="en-US" sz="2300" dirty="0"/>
          </a:p>
        </p:txBody>
      </p:sp>
      <p:sp>
        <p:nvSpPr>
          <p:cNvPr id="14" name="Text 12"/>
          <p:cNvSpPr/>
          <p:nvPr/>
        </p:nvSpPr>
        <p:spPr>
          <a:xfrm>
            <a:off x="4608576" y="2761488"/>
            <a:ext cx="3017520" cy="429768"/>
          </a:xfrm>
          <a:prstGeom prst="rect">
            <a:avLst/>
          </a:prstGeom>
          <a:noFill/>
          <a:ln/>
        </p:spPr>
        <p:txBody>
          <a:bodyPr wrap="square" lIns="0" tIns="0" rIns="0" bIns="0" rtlCol="0" anchor="t">
            <a:normAutofit/>
          </a:bodyPr>
          <a:lstStyle/>
          <a:p>
            <a:pPr indent="0" marL="0">
              <a:buNone/>
            </a:pPr>
            <a:r>
              <a:rPr lang="en-US" sz="1000" dirty="0">
                <a:solidFill>
                  <a:srgbClr val="6C757D"/>
                </a:solidFill>
                <a:latin typeface="Open Sans" pitchFamily="34" charset="0"/>
                <a:ea typeface="Open Sans" pitchFamily="34" charset="-122"/>
                <a:cs typeface="Open Sans" pitchFamily="34" charset="-120"/>
              </a:rPr>
              <a:t>16 products | 287 stores</a:t>
            </a:r>
            <a:endParaRPr lang="en-US" sz="1000" dirty="0"/>
          </a:p>
        </p:txBody>
      </p:sp>
      <p:sp>
        <p:nvSpPr>
          <p:cNvPr id="15" name="Shape 13"/>
          <p:cNvSpPr/>
          <p:nvPr/>
        </p:nvSpPr>
        <p:spPr>
          <a:xfrm>
            <a:off x="8156448" y="1783080"/>
            <a:ext cx="3383280" cy="1508760"/>
          </a:xfrm>
          <a:prstGeom prst="roundRect">
            <a:avLst>
              <a:gd name="adj" fmla="val 4848"/>
            </a:avLst>
          </a:prstGeom>
          <a:solidFill>
            <a:srgbClr val="FFFFFF"/>
          </a:solidFill>
          <a:ln w="10160">
            <a:solidFill>
              <a:srgbClr val="DEE2E6"/>
            </a:solidFill>
            <a:prstDash val="solid"/>
          </a:ln>
        </p:spPr>
      </p:sp>
      <p:sp>
        <p:nvSpPr>
          <p:cNvPr id="16" name="Shape 14"/>
          <p:cNvSpPr/>
          <p:nvPr/>
        </p:nvSpPr>
        <p:spPr>
          <a:xfrm>
            <a:off x="8156448" y="1783080"/>
            <a:ext cx="73152" cy="1508760"/>
          </a:xfrm>
          <a:prstGeom prst="rect">
            <a:avLst/>
          </a:prstGeom>
          <a:solidFill>
            <a:srgbClr val="30445C"/>
          </a:solidFill>
          <a:ln w="12700">
            <a:solidFill>
              <a:srgbClr val="30445C">
                <a:alpha val="0"/>
              </a:srgbClr>
            </a:solidFill>
            <a:prstDash val="solid"/>
          </a:ln>
        </p:spPr>
      </p:sp>
      <p:sp>
        <p:nvSpPr>
          <p:cNvPr id="17" name="Text 15"/>
          <p:cNvSpPr/>
          <p:nvPr/>
        </p:nvSpPr>
        <p:spPr>
          <a:xfrm>
            <a:off x="8357616" y="1929384"/>
            <a:ext cx="3017520" cy="228600"/>
          </a:xfrm>
          <a:prstGeom prst="rect">
            <a:avLst/>
          </a:prstGeom>
          <a:noFill/>
          <a:ln/>
        </p:spPr>
        <p:txBody>
          <a:bodyPr wrap="square" lIns="0" tIns="0" rIns="0" bIns="0" rtlCol="0" anchor="ctr">
            <a:normAutofit/>
          </a:bodyPr>
          <a:lstStyle/>
          <a:p>
            <a:pPr indent="0" marL="0">
              <a:buNone/>
            </a:pPr>
            <a:r>
              <a:rPr lang="en-US" sz="900" b="1" dirty="0">
                <a:solidFill>
                  <a:srgbClr val="6C757D"/>
                </a:solidFill>
                <a:latin typeface="Open Sans" pitchFamily="34" charset="0"/>
                <a:ea typeface="Open Sans" pitchFamily="34" charset="-122"/>
                <a:cs typeface="Open Sans" pitchFamily="34" charset="-120"/>
              </a:rPr>
              <a:t>ID COLLISIONS</a:t>
            </a:r>
            <a:endParaRPr lang="en-US" sz="900" dirty="0"/>
          </a:p>
        </p:txBody>
      </p:sp>
      <p:sp>
        <p:nvSpPr>
          <p:cNvPr id="18" name="Text 16"/>
          <p:cNvSpPr/>
          <p:nvPr/>
        </p:nvSpPr>
        <p:spPr>
          <a:xfrm>
            <a:off x="8357616" y="2267712"/>
            <a:ext cx="3017520" cy="438912"/>
          </a:xfrm>
          <a:prstGeom prst="rect">
            <a:avLst/>
          </a:prstGeom>
          <a:noFill/>
          <a:ln/>
        </p:spPr>
        <p:txBody>
          <a:bodyPr wrap="square" lIns="0" tIns="0" rIns="0" bIns="0" rtlCol="0" anchor="ctr">
            <a:normAutofit/>
          </a:bodyPr>
          <a:lstStyle/>
          <a:p>
            <a:pPr indent="0" marL="0">
              <a:buNone/>
            </a:pPr>
            <a:r>
              <a:rPr lang="en-US" sz="2300" b="1" dirty="0">
                <a:solidFill>
                  <a:srgbClr val="212529"/>
                </a:solidFill>
                <a:latin typeface="Open Sans" pitchFamily="34" charset="0"/>
                <a:ea typeface="Open Sans" pitchFamily="34" charset="-122"/>
                <a:cs typeface="Open Sans" pitchFamily="34" charset="-120"/>
              </a:rPr>
              <a:t>9,815</a:t>
            </a:r>
            <a:endParaRPr lang="en-US" sz="2300" dirty="0"/>
          </a:p>
        </p:txBody>
      </p:sp>
      <p:sp>
        <p:nvSpPr>
          <p:cNvPr id="19" name="Text 17"/>
          <p:cNvSpPr/>
          <p:nvPr/>
        </p:nvSpPr>
        <p:spPr>
          <a:xfrm>
            <a:off x="8357616" y="2761488"/>
            <a:ext cx="3017520" cy="429768"/>
          </a:xfrm>
          <a:prstGeom prst="rect">
            <a:avLst/>
          </a:prstGeom>
          <a:noFill/>
          <a:ln/>
        </p:spPr>
        <p:txBody>
          <a:bodyPr wrap="square" lIns="0" tIns="0" rIns="0" bIns="0" rtlCol="0" anchor="t">
            <a:normAutofit/>
          </a:bodyPr>
          <a:lstStyle/>
          <a:p>
            <a:pPr indent="0" marL="0">
              <a:buNone/>
            </a:pPr>
            <a:r>
              <a:rPr lang="en-US" sz="1000" dirty="0">
                <a:solidFill>
                  <a:srgbClr val="6C757D"/>
                </a:solidFill>
                <a:latin typeface="Open Sans" pitchFamily="34" charset="0"/>
                <a:ea typeface="Open Sans" pitchFamily="34" charset="-122"/>
                <a:cs typeface="Open Sans" pitchFamily="34" charset="-120"/>
              </a:rPr>
              <a:t>Latest ingestion selected; originals flagged</a:t>
            </a:r>
            <a:endParaRPr lang="en-US" sz="1000" dirty="0"/>
          </a:p>
        </p:txBody>
      </p:sp>
      <p:sp>
        <p:nvSpPr>
          <p:cNvPr id="20" name="Text 18"/>
          <p:cNvSpPr/>
          <p:nvPr/>
        </p:nvSpPr>
        <p:spPr>
          <a:xfrm>
            <a:off x="841248" y="3657600"/>
            <a:ext cx="2743200" cy="256032"/>
          </a:xfrm>
          <a:prstGeom prst="rect">
            <a:avLst/>
          </a:prstGeom>
          <a:noFill/>
          <a:ln/>
        </p:spPr>
        <p:txBody>
          <a:bodyPr wrap="square" lIns="0" tIns="0" rIns="0" bIns="0" rtlCol="0" anchor="ctr">
            <a:normAutofit/>
          </a:bodyPr>
          <a:lstStyle/>
          <a:p>
            <a:pPr indent="0" marL="0">
              <a:buNone/>
            </a:pPr>
            <a:r>
              <a:rPr lang="en-US" sz="1100" b="1" dirty="0">
                <a:solidFill>
                  <a:srgbClr val="212529"/>
                </a:solidFill>
                <a:latin typeface="Open Sans" pitchFamily="34" charset="0"/>
                <a:ea typeface="Open Sans" pitchFamily="34" charset="-122"/>
                <a:cs typeface="Open Sans" pitchFamily="34" charset="-120"/>
              </a:rPr>
              <a:t>Unknown product key</a:t>
            </a:r>
            <a:endParaRPr lang="en-US" sz="1100" dirty="0"/>
          </a:p>
        </p:txBody>
      </p:sp>
      <p:sp>
        <p:nvSpPr>
          <p:cNvPr id="21" name="Text 19"/>
          <p:cNvSpPr/>
          <p:nvPr/>
        </p:nvSpPr>
        <p:spPr>
          <a:xfrm>
            <a:off x="3703320" y="3657600"/>
            <a:ext cx="1051560" cy="256032"/>
          </a:xfrm>
          <a:prstGeom prst="rect">
            <a:avLst/>
          </a:prstGeom>
          <a:noFill/>
          <a:ln/>
        </p:spPr>
        <p:txBody>
          <a:bodyPr wrap="square" lIns="0" tIns="0" rIns="0" bIns="0" rtlCol="0" anchor="ctr">
            <a:normAutofit/>
          </a:bodyPr>
          <a:lstStyle/>
          <a:p>
            <a:pPr indent="0" marL="0">
              <a:buNone/>
            </a:pPr>
            <a:r>
              <a:rPr lang="en-US" sz="1200" b="1" dirty="0">
                <a:solidFill>
                  <a:srgbClr val="6E9117"/>
                </a:solidFill>
                <a:latin typeface="Open Sans" pitchFamily="34" charset="0"/>
                <a:ea typeface="Open Sans" pitchFamily="34" charset="-122"/>
                <a:cs typeface="Open Sans" pitchFamily="34" charset="-120"/>
              </a:rPr>
              <a:t>1,410</a:t>
            </a:r>
            <a:endParaRPr lang="en-US" sz="1200" dirty="0"/>
          </a:p>
        </p:txBody>
      </p:sp>
      <p:sp>
        <p:nvSpPr>
          <p:cNvPr id="22" name="Text 20"/>
          <p:cNvSpPr/>
          <p:nvPr/>
        </p:nvSpPr>
        <p:spPr>
          <a:xfrm>
            <a:off x="4892040" y="3657600"/>
            <a:ext cx="6035040" cy="256032"/>
          </a:xfrm>
          <a:prstGeom prst="rect">
            <a:avLst/>
          </a:prstGeom>
          <a:noFill/>
          <a:ln/>
        </p:spPr>
        <p:txBody>
          <a:bodyPr wrap="square" lIns="0" tIns="0" rIns="0" bIns="0" rtlCol="0" anchor="ctr">
            <a:normAutofit/>
          </a:bodyPr>
          <a:lstStyle/>
          <a:p>
            <a:pPr indent="0" marL="0">
              <a:buNone/>
            </a:pPr>
            <a:r>
              <a:rPr lang="en-US" sz="1000" dirty="0">
                <a:solidFill>
                  <a:srgbClr val="6C757D"/>
                </a:solidFill>
                <a:latin typeface="Open Sans" pitchFamily="34" charset="0"/>
                <a:ea typeface="Open Sans" pitchFamily="34" charset="-122"/>
                <a:cs typeface="Open Sans" pitchFamily="34" charset="-120"/>
              </a:rPr>
              <a:t>Rows kept under Unknown product</a:t>
            </a:r>
            <a:endParaRPr lang="en-US" sz="1000" dirty="0"/>
          </a:p>
        </p:txBody>
      </p:sp>
      <p:sp>
        <p:nvSpPr>
          <p:cNvPr id="23" name="Text 21"/>
          <p:cNvSpPr/>
          <p:nvPr/>
        </p:nvSpPr>
        <p:spPr>
          <a:xfrm>
            <a:off x="841248" y="4105656"/>
            <a:ext cx="2743200" cy="256032"/>
          </a:xfrm>
          <a:prstGeom prst="rect">
            <a:avLst/>
          </a:prstGeom>
          <a:noFill/>
          <a:ln/>
        </p:spPr>
        <p:txBody>
          <a:bodyPr wrap="square" lIns="0" tIns="0" rIns="0" bIns="0" rtlCol="0" anchor="ctr">
            <a:normAutofit/>
          </a:bodyPr>
          <a:lstStyle/>
          <a:p>
            <a:pPr indent="0" marL="0">
              <a:buNone/>
            </a:pPr>
            <a:r>
              <a:rPr lang="en-US" sz="1100" b="1" dirty="0">
                <a:solidFill>
                  <a:srgbClr val="212529"/>
                </a:solidFill>
                <a:latin typeface="Open Sans" pitchFamily="34" charset="0"/>
                <a:ea typeface="Open Sans" pitchFamily="34" charset="-122"/>
                <a:cs typeface="Open Sans" pitchFamily="34" charset="-120"/>
              </a:rPr>
              <a:t>Unknown store key</a:t>
            </a:r>
            <a:endParaRPr lang="en-US" sz="1100" dirty="0"/>
          </a:p>
        </p:txBody>
      </p:sp>
      <p:sp>
        <p:nvSpPr>
          <p:cNvPr id="24" name="Text 22"/>
          <p:cNvSpPr/>
          <p:nvPr/>
        </p:nvSpPr>
        <p:spPr>
          <a:xfrm>
            <a:off x="3703320" y="4105656"/>
            <a:ext cx="1051560" cy="256032"/>
          </a:xfrm>
          <a:prstGeom prst="rect">
            <a:avLst/>
          </a:prstGeom>
          <a:noFill/>
          <a:ln/>
        </p:spPr>
        <p:txBody>
          <a:bodyPr wrap="square" lIns="0" tIns="0" rIns="0" bIns="0" rtlCol="0" anchor="ctr">
            <a:normAutofit/>
          </a:bodyPr>
          <a:lstStyle/>
          <a:p>
            <a:pPr indent="0" marL="0">
              <a:buNone/>
            </a:pPr>
            <a:r>
              <a:rPr lang="en-US" sz="1200" b="1" dirty="0">
                <a:solidFill>
                  <a:srgbClr val="6E9117"/>
                </a:solidFill>
                <a:latin typeface="Open Sans" pitchFamily="34" charset="0"/>
                <a:ea typeface="Open Sans" pitchFamily="34" charset="-122"/>
                <a:cs typeface="Open Sans" pitchFamily="34" charset="-120"/>
              </a:rPr>
              <a:t>1,408</a:t>
            </a:r>
            <a:endParaRPr lang="en-US" sz="1200" dirty="0"/>
          </a:p>
        </p:txBody>
      </p:sp>
      <p:sp>
        <p:nvSpPr>
          <p:cNvPr id="25" name="Text 23"/>
          <p:cNvSpPr/>
          <p:nvPr/>
        </p:nvSpPr>
        <p:spPr>
          <a:xfrm>
            <a:off x="4892040" y="4105656"/>
            <a:ext cx="6035040" cy="256032"/>
          </a:xfrm>
          <a:prstGeom prst="rect">
            <a:avLst/>
          </a:prstGeom>
          <a:noFill/>
          <a:ln/>
        </p:spPr>
        <p:txBody>
          <a:bodyPr wrap="square" lIns="0" tIns="0" rIns="0" bIns="0" rtlCol="0" anchor="ctr">
            <a:normAutofit/>
          </a:bodyPr>
          <a:lstStyle/>
          <a:p>
            <a:pPr indent="0" marL="0">
              <a:buNone/>
            </a:pPr>
            <a:r>
              <a:rPr lang="en-US" sz="1000" dirty="0">
                <a:solidFill>
                  <a:srgbClr val="6C757D"/>
                </a:solidFill>
                <a:latin typeface="Open Sans" pitchFamily="34" charset="0"/>
                <a:ea typeface="Open Sans" pitchFamily="34" charset="-122"/>
                <a:cs typeface="Open Sans" pitchFamily="34" charset="-120"/>
              </a:rPr>
              <a:t>Rows kept under Unknown store</a:t>
            </a:r>
            <a:endParaRPr lang="en-US" sz="1000" dirty="0"/>
          </a:p>
        </p:txBody>
      </p:sp>
      <p:sp>
        <p:nvSpPr>
          <p:cNvPr id="26" name="Text 24"/>
          <p:cNvSpPr/>
          <p:nvPr/>
        </p:nvSpPr>
        <p:spPr>
          <a:xfrm>
            <a:off x="841248" y="4553712"/>
            <a:ext cx="2743200" cy="256032"/>
          </a:xfrm>
          <a:prstGeom prst="rect">
            <a:avLst/>
          </a:prstGeom>
          <a:noFill/>
          <a:ln/>
        </p:spPr>
        <p:txBody>
          <a:bodyPr wrap="square" lIns="0" tIns="0" rIns="0" bIns="0" rtlCol="0" anchor="ctr">
            <a:normAutofit/>
          </a:bodyPr>
          <a:lstStyle/>
          <a:p>
            <a:pPr indent="0" marL="0">
              <a:buNone/>
            </a:pPr>
            <a:r>
              <a:rPr lang="en-US" sz="1100" b="1" dirty="0">
                <a:solidFill>
                  <a:srgbClr val="212529"/>
                </a:solidFill>
                <a:latin typeface="Open Sans" pitchFamily="34" charset="0"/>
                <a:ea typeface="Open Sans" pitchFamily="34" charset="-122"/>
                <a:cs typeface="Open Sans" pitchFamily="34" charset="-120"/>
              </a:rPr>
              <a:t>Negative-quantity lines</a:t>
            </a:r>
            <a:endParaRPr lang="en-US" sz="1100" dirty="0"/>
          </a:p>
        </p:txBody>
      </p:sp>
      <p:sp>
        <p:nvSpPr>
          <p:cNvPr id="27" name="Text 25"/>
          <p:cNvSpPr/>
          <p:nvPr/>
        </p:nvSpPr>
        <p:spPr>
          <a:xfrm>
            <a:off x="3703320" y="4553712"/>
            <a:ext cx="1051560" cy="256032"/>
          </a:xfrm>
          <a:prstGeom prst="rect">
            <a:avLst/>
          </a:prstGeom>
          <a:noFill/>
          <a:ln/>
        </p:spPr>
        <p:txBody>
          <a:bodyPr wrap="square" lIns="0" tIns="0" rIns="0" bIns="0" rtlCol="0" anchor="ctr">
            <a:normAutofit/>
          </a:bodyPr>
          <a:lstStyle/>
          <a:p>
            <a:pPr indent="0" marL="0">
              <a:buNone/>
            </a:pPr>
            <a:r>
              <a:rPr lang="en-US" sz="1200" b="1" dirty="0">
                <a:solidFill>
                  <a:srgbClr val="6E9117"/>
                </a:solidFill>
                <a:latin typeface="Open Sans" pitchFamily="34" charset="0"/>
                <a:ea typeface="Open Sans" pitchFamily="34" charset="-122"/>
                <a:cs typeface="Open Sans" pitchFamily="34" charset="-120"/>
              </a:rPr>
              <a:t>4,907</a:t>
            </a:r>
            <a:endParaRPr lang="en-US" sz="1200" dirty="0"/>
          </a:p>
        </p:txBody>
      </p:sp>
      <p:sp>
        <p:nvSpPr>
          <p:cNvPr id="28" name="Text 26"/>
          <p:cNvSpPr/>
          <p:nvPr/>
        </p:nvSpPr>
        <p:spPr>
          <a:xfrm>
            <a:off x="4892040" y="4553712"/>
            <a:ext cx="6035040" cy="256032"/>
          </a:xfrm>
          <a:prstGeom prst="rect">
            <a:avLst/>
          </a:prstGeom>
          <a:noFill/>
          <a:ln/>
        </p:spPr>
        <p:txBody>
          <a:bodyPr wrap="square" lIns="0" tIns="0" rIns="0" bIns="0" rtlCol="0" anchor="ctr">
            <a:normAutofit/>
          </a:bodyPr>
          <a:lstStyle/>
          <a:p>
            <a:pPr indent="0" marL="0">
              <a:buNone/>
            </a:pPr>
            <a:r>
              <a:rPr lang="en-US" sz="1000" dirty="0">
                <a:solidFill>
                  <a:srgbClr val="6C757D"/>
                </a:solidFill>
                <a:latin typeface="Open Sans" pitchFamily="34" charset="0"/>
                <a:ea typeface="Open Sans" pitchFamily="34" charset="-122"/>
                <a:cs typeface="Open Sans" pitchFamily="34" charset="-120"/>
              </a:rPr>
              <a:t>Retained as returns / adjustments</a:t>
            </a:r>
            <a:endParaRPr lang="en-US" sz="1000" dirty="0"/>
          </a:p>
        </p:txBody>
      </p:sp>
      <p:sp>
        <p:nvSpPr>
          <p:cNvPr id="29" name="Text 27"/>
          <p:cNvSpPr/>
          <p:nvPr/>
        </p:nvSpPr>
        <p:spPr>
          <a:xfrm>
            <a:off x="841248" y="5001768"/>
            <a:ext cx="2743200" cy="256032"/>
          </a:xfrm>
          <a:prstGeom prst="rect">
            <a:avLst/>
          </a:prstGeom>
          <a:noFill/>
          <a:ln/>
        </p:spPr>
        <p:txBody>
          <a:bodyPr wrap="square" lIns="0" tIns="0" rIns="0" bIns="0" rtlCol="0" anchor="ctr">
            <a:normAutofit/>
          </a:bodyPr>
          <a:lstStyle/>
          <a:p>
            <a:pPr indent="0" marL="0">
              <a:buNone/>
            </a:pPr>
            <a:r>
              <a:rPr lang="en-US" sz="1100" b="1" dirty="0">
                <a:solidFill>
                  <a:srgbClr val="212529"/>
                </a:solidFill>
                <a:latin typeface="Open Sans" pitchFamily="34" charset="0"/>
                <a:ea typeface="Open Sans" pitchFamily="34" charset="-122"/>
                <a:cs typeface="Open Sans" pitchFamily="34" charset="-120"/>
              </a:rPr>
              <a:t>Conflicting entity profiles</a:t>
            </a:r>
            <a:endParaRPr lang="en-US" sz="1100" dirty="0"/>
          </a:p>
        </p:txBody>
      </p:sp>
      <p:sp>
        <p:nvSpPr>
          <p:cNvPr id="30" name="Text 28"/>
          <p:cNvSpPr/>
          <p:nvPr/>
        </p:nvSpPr>
        <p:spPr>
          <a:xfrm>
            <a:off x="3703320" y="5001768"/>
            <a:ext cx="1051560" cy="256032"/>
          </a:xfrm>
          <a:prstGeom prst="rect">
            <a:avLst/>
          </a:prstGeom>
          <a:noFill/>
          <a:ln/>
        </p:spPr>
        <p:txBody>
          <a:bodyPr wrap="square" lIns="0" tIns="0" rIns="0" bIns="0" rtlCol="0" anchor="ctr">
            <a:normAutofit/>
          </a:bodyPr>
          <a:lstStyle/>
          <a:p>
            <a:pPr indent="0" marL="0">
              <a:buNone/>
            </a:pPr>
            <a:r>
              <a:rPr lang="en-US" sz="1200" b="1" dirty="0">
                <a:solidFill>
                  <a:srgbClr val="6E9117"/>
                </a:solidFill>
                <a:latin typeface="Open Sans" pitchFamily="34" charset="0"/>
                <a:ea typeface="Open Sans" pitchFamily="34" charset="-122"/>
                <a:cs typeface="Open Sans" pitchFamily="34" charset="-120"/>
              </a:rPr>
              <a:t>4</a:t>
            </a:r>
            <a:endParaRPr lang="en-US" sz="1200" dirty="0"/>
          </a:p>
        </p:txBody>
      </p:sp>
      <p:sp>
        <p:nvSpPr>
          <p:cNvPr id="31" name="Text 29"/>
          <p:cNvSpPr/>
          <p:nvPr/>
        </p:nvSpPr>
        <p:spPr>
          <a:xfrm>
            <a:off x="4892040" y="5001768"/>
            <a:ext cx="6035040" cy="256032"/>
          </a:xfrm>
          <a:prstGeom prst="rect">
            <a:avLst/>
          </a:prstGeom>
          <a:noFill/>
          <a:ln/>
        </p:spPr>
        <p:txBody>
          <a:bodyPr wrap="square" lIns="0" tIns="0" rIns="0" bIns="0" rtlCol="0" anchor="ctr">
            <a:normAutofit/>
          </a:bodyPr>
          <a:lstStyle/>
          <a:p>
            <a:pPr indent="0" marL="0">
              <a:buNone/>
            </a:pPr>
            <a:r>
              <a:rPr lang="en-US" sz="1000" dirty="0">
                <a:solidFill>
                  <a:srgbClr val="6C757D"/>
                </a:solidFill>
                <a:latin typeface="Open Sans" pitchFamily="34" charset="0"/>
                <a:ea typeface="Open Sans" pitchFamily="34" charset="-122"/>
                <a:cs typeface="Open Sans" pitchFamily="34" charset="-120"/>
              </a:rPr>
              <a:t>Modal attribute with deterministic tie-break</a:t>
            </a:r>
            <a:endParaRPr lang="en-US" sz="1000" dirty="0"/>
          </a:p>
        </p:txBody>
      </p:sp>
      <p:sp>
        <p:nvSpPr>
          <p:cNvPr id="32" name="Text 30"/>
          <p:cNvSpPr/>
          <p:nvPr/>
        </p:nvSpPr>
        <p:spPr>
          <a:xfrm>
            <a:off x="768096" y="5797296"/>
            <a:ext cx="10698480" cy="411480"/>
          </a:xfrm>
          <a:prstGeom prst="rect">
            <a:avLst/>
          </a:prstGeom>
          <a:noFill/>
          <a:ln/>
        </p:spPr>
        <p:txBody>
          <a:bodyPr wrap="square" lIns="0" tIns="0" rIns="0" bIns="0" rtlCol="0" anchor="ctr">
            <a:normAutofit/>
          </a:bodyPr>
          <a:lstStyle/>
          <a:p>
            <a:pPr indent="0" marL="0">
              <a:buNone/>
            </a:pPr>
            <a:r>
              <a:rPr lang="en-US" sz="1000" dirty="0">
                <a:solidFill>
                  <a:srgbClr val="6C757D"/>
                </a:solidFill>
                <a:latin typeface="Open Sans" pitchFamily="34" charset="0"/>
                <a:ea typeface="Open Sans" pitchFamily="34" charset="-122"/>
                <a:cs typeface="Open Sans" pitchFamily="34" charset="-120"/>
              </a:rPr>
              <a:t>mart_data_quality_triage is a rebuildable exception list, not a mutable ticket queue. No source line ID exists; a content hash is only a locator.</a:t>
            </a:r>
            <a:endParaRPr lang="en-US" sz="1000" dirty="0"/>
          </a:p>
        </p:txBody>
      </p:sp>
      <p:sp>
        <p:nvSpPr>
          <p:cNvPr id="25" name="Slide Number Placeholder 0"/>
          <p:cNvSpPr>
            <a:spLocks noGrp="1"/>
          </p:cNvSpPr>
          <p:nvPr>
            <p:ph type="sldNum" sz="quarter" idx="4294967295"/>
          </p:nvPr>
        </p:nvSpPr>
        <p:spPr>
          <a:xfrm>
            <a:off x="11201400"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6C757D"/>
                </a:solidFill>
                <a:latin typeface="Open Sans"/>
                <a:ea typeface="Open Sans"/>
                <a:cs typeface="Open Sans"/>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384048"/>
            <a:ext cx="10789920" cy="219456"/>
          </a:xfrm>
          <a:prstGeom prst="rect">
            <a:avLst/>
          </a:prstGeom>
          <a:noFill/>
          <a:ln/>
        </p:spPr>
        <p:txBody>
          <a:bodyPr wrap="square" lIns="0" tIns="0" rIns="0" bIns="0" rtlCol="0" anchor="ctr">
            <a:normAutofit/>
          </a:bodyPr>
          <a:lstStyle/>
          <a:p>
            <a:pPr indent="0" marL="0">
              <a:buNone/>
            </a:pPr>
            <a:r>
              <a:rPr lang="en-US" sz="1000" b="1" spc="120" kern="0" dirty="0">
                <a:solidFill>
                  <a:srgbClr val="6E9117"/>
                </a:solidFill>
                <a:latin typeface="Open Sans" pitchFamily="34" charset="0"/>
                <a:ea typeface="Open Sans" pitchFamily="34" charset="-122"/>
                <a:cs typeface="Open Sans" pitchFamily="34" charset="-120"/>
              </a:rPr>
              <a:t>METRIC DEFINITIONS</a:t>
            </a:r>
            <a:endParaRPr lang="en-US" sz="1000" dirty="0"/>
          </a:p>
        </p:txBody>
      </p:sp>
      <p:sp>
        <p:nvSpPr>
          <p:cNvPr id="3" name="Text 1"/>
          <p:cNvSpPr/>
          <p:nvPr/>
        </p:nvSpPr>
        <p:spPr>
          <a:xfrm>
            <a:off x="566928" y="694944"/>
            <a:ext cx="10972800" cy="475488"/>
          </a:xfrm>
          <a:prstGeom prst="rect">
            <a:avLst/>
          </a:prstGeom>
          <a:noFill/>
          <a:ln/>
        </p:spPr>
        <p:txBody>
          <a:bodyPr wrap="square" lIns="0" tIns="0" rIns="0" bIns="0" rtlCol="0" anchor="ctr">
            <a:normAutofit/>
          </a:bodyPr>
          <a:lstStyle/>
          <a:p>
            <a:pPr indent="0" marL="0">
              <a:buNone/>
            </a:pPr>
            <a:r>
              <a:rPr lang="en-US" sz="2500" b="1" dirty="0">
                <a:solidFill>
                  <a:srgbClr val="212529"/>
                </a:solidFill>
                <a:latin typeface="Open Sans" pitchFamily="34" charset="0"/>
                <a:ea typeface="Open Sans" pitchFamily="34" charset="-122"/>
                <a:cs typeface="Open Sans" pitchFamily="34" charset="-120"/>
              </a:rPr>
              <a:t>Pack size changes the cost answer</a:t>
            </a:r>
            <a:endParaRPr lang="en-US" sz="2500" dirty="0"/>
          </a:p>
        </p:txBody>
      </p:sp>
      <p:sp>
        <p:nvSpPr>
          <p:cNvPr id="4" name="Text 2"/>
          <p:cNvSpPr/>
          <p:nvPr/>
        </p:nvSpPr>
        <p:spPr>
          <a:xfrm>
            <a:off x="566928" y="1207008"/>
            <a:ext cx="10972800" cy="292608"/>
          </a:xfrm>
          <a:prstGeom prst="rect">
            <a:avLst/>
          </a:prstGeom>
          <a:noFill/>
          <a:ln/>
        </p:spPr>
        <p:txBody>
          <a:bodyPr wrap="square" lIns="0" tIns="0" rIns="0" bIns="0" rtlCol="0" anchor="ctr">
            <a:normAutofit/>
          </a:bodyPr>
          <a:lstStyle/>
          <a:p>
            <a:pPr indent="0" marL="0">
              <a:buNone/>
            </a:pPr>
            <a:r>
              <a:rPr lang="en-US" sz="1100" dirty="0">
                <a:solidFill>
                  <a:srgbClr val="6C757D"/>
                </a:solidFill>
                <a:latin typeface="Open Sans" pitchFamily="34" charset="0"/>
                <a:ea typeface="Open Sans" pitchFamily="34" charset="-122"/>
                <a:cs typeface="Open Sans" pitchFamily="34" charset="-120"/>
              </a:rPr>
              <a:t>Finance standard cost is primary; landed cost is a separate AP sensitivity.</a:t>
            </a:r>
            <a:endParaRPr lang="en-US" sz="1100" dirty="0"/>
          </a:p>
        </p:txBody>
      </p:sp>
      <p:sp>
        <p:nvSpPr>
          <p:cNvPr id="5" name="Shape 3"/>
          <p:cNvSpPr/>
          <p:nvPr/>
        </p:nvSpPr>
        <p:spPr>
          <a:xfrm>
            <a:off x="768096" y="1783080"/>
            <a:ext cx="3337560" cy="1536192"/>
          </a:xfrm>
          <a:prstGeom prst="roundRect">
            <a:avLst>
              <a:gd name="adj" fmla="val 4762"/>
            </a:avLst>
          </a:prstGeom>
          <a:solidFill>
            <a:srgbClr val="FFFFFF"/>
          </a:solidFill>
          <a:ln w="10160">
            <a:solidFill>
              <a:srgbClr val="DEE2E6"/>
            </a:solidFill>
            <a:prstDash val="solid"/>
          </a:ln>
        </p:spPr>
      </p:sp>
      <p:sp>
        <p:nvSpPr>
          <p:cNvPr id="6" name="Shape 4"/>
          <p:cNvSpPr/>
          <p:nvPr/>
        </p:nvSpPr>
        <p:spPr>
          <a:xfrm>
            <a:off x="768096" y="1783080"/>
            <a:ext cx="73152" cy="1536192"/>
          </a:xfrm>
          <a:prstGeom prst="rect">
            <a:avLst/>
          </a:prstGeom>
          <a:solidFill>
            <a:srgbClr val="95C11F"/>
          </a:solidFill>
          <a:ln w="12700">
            <a:solidFill>
              <a:srgbClr val="95C11F">
                <a:alpha val="0"/>
              </a:srgbClr>
            </a:solidFill>
            <a:prstDash val="solid"/>
          </a:ln>
        </p:spPr>
      </p:sp>
      <p:sp>
        <p:nvSpPr>
          <p:cNvPr id="7" name="Text 5"/>
          <p:cNvSpPr/>
          <p:nvPr/>
        </p:nvSpPr>
        <p:spPr>
          <a:xfrm>
            <a:off x="969264" y="1929384"/>
            <a:ext cx="2971800" cy="228600"/>
          </a:xfrm>
          <a:prstGeom prst="rect">
            <a:avLst/>
          </a:prstGeom>
          <a:noFill/>
          <a:ln/>
        </p:spPr>
        <p:txBody>
          <a:bodyPr wrap="square" lIns="0" tIns="0" rIns="0" bIns="0" rtlCol="0" anchor="ctr">
            <a:normAutofit/>
          </a:bodyPr>
          <a:lstStyle/>
          <a:p>
            <a:pPr indent="0" marL="0">
              <a:buNone/>
            </a:pPr>
            <a:r>
              <a:rPr lang="en-US" sz="900" b="1" dirty="0">
                <a:solidFill>
                  <a:srgbClr val="6C757D"/>
                </a:solidFill>
                <a:latin typeface="Open Sans" pitchFamily="34" charset="0"/>
                <a:ea typeface="Open Sans" pitchFamily="34" charset="-122"/>
                <a:cs typeface="Open Sans" pitchFamily="34" charset="-120"/>
              </a:rPr>
              <a:t>2022 NET SALES</a:t>
            </a:r>
            <a:endParaRPr lang="en-US" sz="900" dirty="0"/>
          </a:p>
        </p:txBody>
      </p:sp>
      <p:sp>
        <p:nvSpPr>
          <p:cNvPr id="8" name="Text 6"/>
          <p:cNvSpPr/>
          <p:nvPr/>
        </p:nvSpPr>
        <p:spPr>
          <a:xfrm>
            <a:off x="969264" y="2267712"/>
            <a:ext cx="2971800" cy="438912"/>
          </a:xfrm>
          <a:prstGeom prst="rect">
            <a:avLst/>
          </a:prstGeom>
          <a:noFill/>
          <a:ln/>
        </p:spPr>
        <p:txBody>
          <a:bodyPr wrap="square" lIns="0" tIns="0" rIns="0" bIns="0" rtlCol="0" anchor="ctr">
            <a:normAutofit/>
          </a:bodyPr>
          <a:lstStyle/>
          <a:p>
            <a:pPr indent="0" marL="0">
              <a:buNone/>
            </a:pPr>
            <a:r>
              <a:rPr lang="en-US" sz="2300" b="1" dirty="0">
                <a:solidFill>
                  <a:srgbClr val="212529"/>
                </a:solidFill>
                <a:latin typeface="Open Sans" pitchFamily="34" charset="0"/>
                <a:ea typeface="Open Sans" pitchFamily="34" charset="-122"/>
                <a:cs typeface="Open Sans" pitchFamily="34" charset="-120"/>
              </a:rPr>
              <a:t>$12.8m</a:t>
            </a:r>
            <a:endParaRPr lang="en-US" sz="2300" dirty="0"/>
          </a:p>
        </p:txBody>
      </p:sp>
      <p:sp>
        <p:nvSpPr>
          <p:cNvPr id="9" name="Text 7"/>
          <p:cNvSpPr/>
          <p:nvPr/>
        </p:nvSpPr>
        <p:spPr>
          <a:xfrm>
            <a:off x="969264" y="2761488"/>
            <a:ext cx="2971800" cy="457200"/>
          </a:xfrm>
          <a:prstGeom prst="rect">
            <a:avLst/>
          </a:prstGeom>
          <a:noFill/>
          <a:ln/>
        </p:spPr>
        <p:txBody>
          <a:bodyPr wrap="square" lIns="0" tIns="0" rIns="0" bIns="0" rtlCol="0" anchor="t">
            <a:normAutofit/>
          </a:bodyPr>
          <a:lstStyle/>
          <a:p>
            <a:pPr indent="0" marL="0">
              <a:buNone/>
            </a:pPr>
            <a:r>
              <a:rPr lang="en-US" sz="1000" dirty="0">
                <a:solidFill>
                  <a:srgbClr val="6C757D"/>
                </a:solidFill>
                <a:latin typeface="Open Sans" pitchFamily="34" charset="0"/>
                <a:ea typeface="Open Sans" pitchFamily="34" charset="-122"/>
                <a:cs typeface="Open Sans" pitchFamily="34" charset="-120"/>
              </a:rPr>
              <a:t>Signed quantity * unit price; includes returns</a:t>
            </a:r>
            <a:endParaRPr lang="en-US" sz="1000" dirty="0"/>
          </a:p>
        </p:txBody>
      </p:sp>
      <p:sp>
        <p:nvSpPr>
          <p:cNvPr id="10" name="Shape 8"/>
          <p:cNvSpPr/>
          <p:nvPr/>
        </p:nvSpPr>
        <p:spPr>
          <a:xfrm>
            <a:off x="4425696" y="1783080"/>
            <a:ext cx="3337560" cy="1536192"/>
          </a:xfrm>
          <a:prstGeom prst="roundRect">
            <a:avLst>
              <a:gd name="adj" fmla="val 4762"/>
            </a:avLst>
          </a:prstGeom>
          <a:solidFill>
            <a:srgbClr val="FFFFFF"/>
          </a:solidFill>
          <a:ln w="10160">
            <a:solidFill>
              <a:srgbClr val="DEE2E6"/>
            </a:solidFill>
            <a:prstDash val="solid"/>
          </a:ln>
        </p:spPr>
      </p:sp>
      <p:sp>
        <p:nvSpPr>
          <p:cNvPr id="11" name="Shape 9"/>
          <p:cNvSpPr/>
          <p:nvPr/>
        </p:nvSpPr>
        <p:spPr>
          <a:xfrm>
            <a:off x="4425696" y="1783080"/>
            <a:ext cx="73152" cy="1536192"/>
          </a:xfrm>
          <a:prstGeom prst="rect">
            <a:avLst/>
          </a:prstGeom>
          <a:solidFill>
            <a:srgbClr val="95C11F"/>
          </a:solidFill>
          <a:ln w="12700">
            <a:solidFill>
              <a:srgbClr val="95C11F">
                <a:alpha val="0"/>
              </a:srgbClr>
            </a:solidFill>
            <a:prstDash val="solid"/>
          </a:ln>
        </p:spPr>
      </p:sp>
      <p:sp>
        <p:nvSpPr>
          <p:cNvPr id="12" name="Text 10"/>
          <p:cNvSpPr/>
          <p:nvPr/>
        </p:nvSpPr>
        <p:spPr>
          <a:xfrm>
            <a:off x="4626864" y="1929384"/>
            <a:ext cx="2971800" cy="228600"/>
          </a:xfrm>
          <a:prstGeom prst="rect">
            <a:avLst/>
          </a:prstGeom>
          <a:noFill/>
          <a:ln/>
        </p:spPr>
        <p:txBody>
          <a:bodyPr wrap="square" lIns="0" tIns="0" rIns="0" bIns="0" rtlCol="0" anchor="ctr">
            <a:normAutofit/>
          </a:bodyPr>
          <a:lstStyle/>
          <a:p>
            <a:pPr indent="0" marL="0">
              <a:buNone/>
            </a:pPr>
            <a:r>
              <a:rPr lang="en-US" sz="900" b="1" dirty="0">
                <a:solidFill>
                  <a:srgbClr val="6C757D"/>
                </a:solidFill>
                <a:latin typeface="Open Sans" pitchFamily="34" charset="0"/>
                <a:ea typeface="Open Sans" pitchFamily="34" charset="-122"/>
                <a:cs typeface="Open Sans" pitchFamily="34" charset="-120"/>
              </a:rPr>
              <a:t>STANDARD GROSS PROFIT</a:t>
            </a:r>
            <a:endParaRPr lang="en-US" sz="900" dirty="0"/>
          </a:p>
        </p:txBody>
      </p:sp>
      <p:sp>
        <p:nvSpPr>
          <p:cNvPr id="13" name="Text 11"/>
          <p:cNvSpPr/>
          <p:nvPr/>
        </p:nvSpPr>
        <p:spPr>
          <a:xfrm>
            <a:off x="4626864" y="2267712"/>
            <a:ext cx="2971800" cy="438912"/>
          </a:xfrm>
          <a:prstGeom prst="rect">
            <a:avLst/>
          </a:prstGeom>
          <a:noFill/>
          <a:ln/>
        </p:spPr>
        <p:txBody>
          <a:bodyPr wrap="square" lIns="0" tIns="0" rIns="0" bIns="0" rtlCol="0" anchor="ctr">
            <a:normAutofit/>
          </a:bodyPr>
          <a:lstStyle/>
          <a:p>
            <a:pPr indent="0" marL="0">
              <a:buNone/>
            </a:pPr>
            <a:r>
              <a:rPr lang="en-US" sz="2300" b="1" dirty="0">
                <a:solidFill>
                  <a:srgbClr val="212529"/>
                </a:solidFill>
                <a:latin typeface="Open Sans" pitchFamily="34" charset="0"/>
                <a:ea typeface="Open Sans" pitchFamily="34" charset="-122"/>
                <a:cs typeface="Open Sans" pitchFamily="34" charset="-120"/>
              </a:rPr>
              <a:t>$5.1m</a:t>
            </a:r>
            <a:endParaRPr lang="en-US" sz="2300" dirty="0"/>
          </a:p>
        </p:txBody>
      </p:sp>
      <p:sp>
        <p:nvSpPr>
          <p:cNvPr id="14" name="Text 12"/>
          <p:cNvSpPr/>
          <p:nvPr/>
        </p:nvSpPr>
        <p:spPr>
          <a:xfrm>
            <a:off x="4626864" y="2761488"/>
            <a:ext cx="2971800" cy="457200"/>
          </a:xfrm>
          <a:prstGeom prst="rect">
            <a:avLst/>
          </a:prstGeom>
          <a:noFill/>
          <a:ln/>
        </p:spPr>
        <p:txBody>
          <a:bodyPr wrap="square" lIns="0" tIns="0" rIns="0" bIns="0" rtlCol="0" anchor="t">
            <a:normAutofit/>
          </a:bodyPr>
          <a:lstStyle/>
          <a:p>
            <a:pPr indent="0" marL="0">
              <a:buNone/>
            </a:pPr>
            <a:r>
              <a:rPr lang="en-US" sz="1000" dirty="0">
                <a:solidFill>
                  <a:srgbClr val="6C757D"/>
                </a:solidFill>
                <a:latin typeface="Open Sans" pitchFamily="34" charset="0"/>
                <a:ea typeface="Open Sans" pitchFamily="34" charset="-122"/>
                <a:cs typeface="Open Sans" pitchFamily="34" charset="-120"/>
              </a:rPr>
              <a:t>40.2% margin on cost-covered sales</a:t>
            </a:r>
            <a:endParaRPr lang="en-US" sz="1000" dirty="0"/>
          </a:p>
        </p:txBody>
      </p:sp>
      <p:sp>
        <p:nvSpPr>
          <p:cNvPr id="15" name="Shape 13"/>
          <p:cNvSpPr/>
          <p:nvPr/>
        </p:nvSpPr>
        <p:spPr>
          <a:xfrm>
            <a:off x="8083296" y="1783080"/>
            <a:ext cx="3337560" cy="1536192"/>
          </a:xfrm>
          <a:prstGeom prst="roundRect">
            <a:avLst>
              <a:gd name="adj" fmla="val 4762"/>
            </a:avLst>
          </a:prstGeom>
          <a:solidFill>
            <a:srgbClr val="FFFFFF"/>
          </a:solidFill>
          <a:ln w="10160">
            <a:solidFill>
              <a:srgbClr val="DEE2E6"/>
            </a:solidFill>
            <a:prstDash val="solid"/>
          </a:ln>
        </p:spPr>
      </p:sp>
      <p:sp>
        <p:nvSpPr>
          <p:cNvPr id="16" name="Shape 14"/>
          <p:cNvSpPr/>
          <p:nvPr/>
        </p:nvSpPr>
        <p:spPr>
          <a:xfrm>
            <a:off x="8083296" y="1783080"/>
            <a:ext cx="73152" cy="1536192"/>
          </a:xfrm>
          <a:prstGeom prst="rect">
            <a:avLst/>
          </a:prstGeom>
          <a:solidFill>
            <a:srgbClr val="30445C"/>
          </a:solidFill>
          <a:ln w="12700">
            <a:solidFill>
              <a:srgbClr val="30445C">
                <a:alpha val="0"/>
              </a:srgbClr>
            </a:solidFill>
            <a:prstDash val="solid"/>
          </a:ln>
        </p:spPr>
      </p:sp>
      <p:sp>
        <p:nvSpPr>
          <p:cNvPr id="17" name="Text 15"/>
          <p:cNvSpPr/>
          <p:nvPr/>
        </p:nvSpPr>
        <p:spPr>
          <a:xfrm>
            <a:off x="8284464" y="1929384"/>
            <a:ext cx="2971800" cy="228600"/>
          </a:xfrm>
          <a:prstGeom prst="rect">
            <a:avLst/>
          </a:prstGeom>
          <a:noFill/>
          <a:ln/>
        </p:spPr>
        <p:txBody>
          <a:bodyPr wrap="square" lIns="0" tIns="0" rIns="0" bIns="0" rtlCol="0" anchor="ctr">
            <a:normAutofit/>
          </a:bodyPr>
          <a:lstStyle/>
          <a:p>
            <a:pPr indent="0" marL="0">
              <a:buNone/>
            </a:pPr>
            <a:r>
              <a:rPr lang="en-US" sz="900" b="1" dirty="0">
                <a:solidFill>
                  <a:srgbClr val="6C757D"/>
                </a:solidFill>
                <a:latin typeface="Open Sans" pitchFamily="34" charset="0"/>
                <a:ea typeface="Open Sans" pitchFamily="34" charset="-122"/>
                <a:cs typeface="Open Sans" pitchFamily="34" charset="-120"/>
              </a:rPr>
              <a:t>LANDED SENSITIVITY</a:t>
            </a:r>
            <a:endParaRPr lang="en-US" sz="900" dirty="0"/>
          </a:p>
        </p:txBody>
      </p:sp>
      <p:sp>
        <p:nvSpPr>
          <p:cNvPr id="18" name="Text 16"/>
          <p:cNvSpPr/>
          <p:nvPr/>
        </p:nvSpPr>
        <p:spPr>
          <a:xfrm>
            <a:off x="8284464" y="2267712"/>
            <a:ext cx="2971800" cy="438912"/>
          </a:xfrm>
          <a:prstGeom prst="rect">
            <a:avLst/>
          </a:prstGeom>
          <a:noFill/>
          <a:ln/>
        </p:spPr>
        <p:txBody>
          <a:bodyPr wrap="square" lIns="0" tIns="0" rIns="0" bIns="0" rtlCol="0" anchor="ctr">
            <a:normAutofit/>
          </a:bodyPr>
          <a:lstStyle/>
          <a:p>
            <a:pPr indent="0" marL="0">
              <a:buNone/>
            </a:pPr>
            <a:r>
              <a:rPr lang="en-US" sz="2300" b="1" dirty="0">
                <a:solidFill>
                  <a:srgbClr val="212529"/>
                </a:solidFill>
                <a:latin typeface="Open Sans" pitchFamily="34" charset="0"/>
                <a:ea typeface="Open Sans" pitchFamily="34" charset="-122"/>
                <a:cs typeface="Open Sans" pitchFamily="34" charset="-120"/>
              </a:rPr>
              <a:t>$4.8m</a:t>
            </a:r>
            <a:endParaRPr lang="en-US" sz="2300" dirty="0"/>
          </a:p>
        </p:txBody>
      </p:sp>
      <p:sp>
        <p:nvSpPr>
          <p:cNvPr id="19" name="Text 17"/>
          <p:cNvSpPr/>
          <p:nvPr/>
        </p:nvSpPr>
        <p:spPr>
          <a:xfrm>
            <a:off x="8284464" y="2761488"/>
            <a:ext cx="2971800" cy="457200"/>
          </a:xfrm>
          <a:prstGeom prst="rect">
            <a:avLst/>
          </a:prstGeom>
          <a:noFill/>
          <a:ln/>
        </p:spPr>
        <p:txBody>
          <a:bodyPr wrap="square" lIns="0" tIns="0" rIns="0" bIns="0" rtlCol="0" anchor="t">
            <a:normAutofit/>
          </a:bodyPr>
          <a:lstStyle/>
          <a:p>
            <a:pPr indent="0" marL="0">
              <a:buNone/>
            </a:pPr>
            <a:r>
              <a:rPr lang="en-US" sz="1000" dirty="0">
                <a:solidFill>
                  <a:srgbClr val="6C757D"/>
                </a:solidFill>
                <a:latin typeface="Open Sans" pitchFamily="34" charset="0"/>
                <a:ea typeface="Open Sans" pitchFamily="34" charset="-122"/>
                <a:cs typeface="Open Sans" pitchFamily="34" charset="-120"/>
              </a:rPr>
              <a:t>37.4% margin using landed cost</a:t>
            </a:r>
            <a:endParaRPr lang="en-US" sz="1000" dirty="0"/>
          </a:p>
        </p:txBody>
      </p:sp>
      <p:sp>
        <p:nvSpPr>
          <p:cNvPr id="20" name="Text 18"/>
          <p:cNvSpPr/>
          <p:nvPr/>
        </p:nvSpPr>
        <p:spPr>
          <a:xfrm>
            <a:off x="859536" y="3730752"/>
            <a:ext cx="10561320" cy="603504"/>
          </a:xfrm>
          <a:prstGeom prst="rect">
            <a:avLst/>
          </a:prstGeom>
          <a:noFill/>
          <a:ln/>
        </p:spPr>
        <p:txBody>
          <a:bodyPr wrap="square" lIns="0" tIns="0" rIns="0" bIns="0" rtlCol="0" anchor="ctr">
            <a:normAutofit/>
          </a:bodyPr>
          <a:lstStyle/>
          <a:p>
            <a:pPr indent="0" marL="0">
              <a:buNone/>
            </a:pPr>
            <a:r>
              <a:rPr lang="en-US" sz="1500" b="1" dirty="0">
                <a:solidFill>
                  <a:srgbClr val="212529"/>
                </a:solidFill>
                <a:latin typeface="Open Sans" pitchFamily="34" charset="0"/>
                <a:ea typeface="Open Sans" pitchFamily="34" charset="-122"/>
                <a:cs typeface="Open Sans" pitchFamily="34" charset="-120"/>
              </a:rPr>
              <a:t>Observed: pack-size 2 standard cost is about 2x landed cost. Divide standard cost by pack_size before multiplying by signed units.</a:t>
            </a:r>
            <a:endParaRPr lang="en-US" sz="1500" dirty="0"/>
          </a:p>
        </p:txBody>
      </p:sp>
      <p:sp>
        <p:nvSpPr>
          <p:cNvPr id="21" name="Text 19"/>
          <p:cNvSpPr/>
          <p:nvPr/>
        </p:nvSpPr>
        <p:spPr>
          <a:xfrm>
            <a:off x="859536" y="4526280"/>
            <a:ext cx="10561320" cy="384048"/>
          </a:xfrm>
          <a:prstGeom prst="rect">
            <a:avLst/>
          </a:prstGeom>
          <a:noFill/>
          <a:ln/>
        </p:spPr>
        <p:txBody>
          <a:bodyPr wrap="square" lIns="0" tIns="0" rIns="0" bIns="0" rtlCol="0" anchor="ctr">
            <a:normAutofit/>
          </a:bodyPr>
          <a:lstStyle/>
          <a:p>
            <a:pPr indent="0" marL="0">
              <a:buNone/>
            </a:pPr>
            <a:r>
              <a:rPr lang="en-US" sz="1400" b="1" dirty="0">
                <a:solidFill>
                  <a:srgbClr val="6E9117"/>
                </a:solidFill>
                <a:latin typeface="Open Sans" pitchFamily="34" charset="0"/>
                <a:ea typeface="Open Sans" pitchFamily="34" charset="-122"/>
                <a:cs typeface="Open Sans" pitchFamily="34" charset="-120"/>
              </a:rPr>
              <a:t>2022 difference: $0.3m gross profit and 2.8 margin points.</a:t>
            </a:r>
            <a:endParaRPr lang="en-US" sz="1400" dirty="0"/>
          </a:p>
        </p:txBody>
      </p:sp>
      <p:sp>
        <p:nvSpPr>
          <p:cNvPr id="22" name="Shape 20"/>
          <p:cNvSpPr/>
          <p:nvPr/>
        </p:nvSpPr>
        <p:spPr>
          <a:xfrm>
            <a:off x="841248" y="5166360"/>
            <a:ext cx="10469880" cy="621792"/>
          </a:xfrm>
          <a:prstGeom prst="roundRect">
            <a:avLst>
              <a:gd name="adj" fmla="val 8824"/>
            </a:avLst>
          </a:prstGeom>
          <a:solidFill>
            <a:srgbClr val="F8E9E7"/>
          </a:solidFill>
          <a:ln w="12700">
            <a:solidFill>
              <a:srgbClr val="F8E9E7">
                <a:alpha val="0"/>
              </a:srgbClr>
            </a:solidFill>
            <a:prstDash val="solid"/>
          </a:ln>
        </p:spPr>
      </p:sp>
      <p:sp>
        <p:nvSpPr>
          <p:cNvPr id="23" name="Text 21"/>
          <p:cNvSpPr/>
          <p:nvPr/>
        </p:nvSpPr>
        <p:spPr>
          <a:xfrm>
            <a:off x="1024128" y="5321808"/>
            <a:ext cx="10058400" cy="228600"/>
          </a:xfrm>
          <a:prstGeom prst="rect">
            <a:avLst/>
          </a:prstGeom>
          <a:noFill/>
          <a:ln/>
        </p:spPr>
        <p:txBody>
          <a:bodyPr wrap="square" lIns="0" tIns="0" rIns="0" bIns="0" rtlCol="0" anchor="ctr">
            <a:normAutofit/>
          </a:bodyPr>
          <a:lstStyle/>
          <a:p>
            <a:pPr indent="0" marL="0">
              <a:buNone/>
            </a:pPr>
            <a:r>
              <a:rPr lang="en-US" sz="1100" b="1" dirty="0">
                <a:solidFill>
                  <a:srgbClr val="B5473A"/>
                </a:solidFill>
                <a:latin typeface="Open Sans" pitchFamily="34" charset="0"/>
                <a:ea typeface="Open Sans" pitchFamily="34" charset="-122"/>
                <a:cs typeface="Open Sans" pitchFamily="34" charset="-120"/>
              </a:rPr>
              <a:t>Assumption pending Finance/AP confirmation. Gross profit != net profit; store opex period is unresolved.</a:t>
            </a:r>
            <a:endParaRPr lang="en-US" sz="1100" dirty="0"/>
          </a:p>
        </p:txBody>
      </p:sp>
      <p:sp>
        <p:nvSpPr>
          <p:cNvPr id="25" name="Slide Number Placeholder 0"/>
          <p:cNvSpPr>
            <a:spLocks noGrp="1"/>
          </p:cNvSpPr>
          <p:nvPr>
            <p:ph type="sldNum" sz="quarter" idx="4294967295"/>
          </p:nvPr>
        </p:nvSpPr>
        <p:spPr>
          <a:xfrm>
            <a:off x="11201400"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6C757D"/>
                </a:solidFill>
                <a:latin typeface="Open Sans"/>
                <a:ea typeface="Open Sans"/>
                <a:cs typeface="Open Sans"/>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384048"/>
            <a:ext cx="10789920" cy="219456"/>
          </a:xfrm>
          <a:prstGeom prst="rect">
            <a:avLst/>
          </a:prstGeom>
          <a:noFill/>
          <a:ln/>
        </p:spPr>
        <p:txBody>
          <a:bodyPr wrap="square" lIns="0" tIns="0" rIns="0" bIns="0" rtlCol="0" anchor="ctr">
            <a:normAutofit/>
          </a:bodyPr>
          <a:lstStyle/>
          <a:p>
            <a:pPr indent="0" marL="0">
              <a:buNone/>
            </a:pPr>
            <a:r>
              <a:rPr lang="en-US" sz="1000" b="1" spc="120" kern="0" dirty="0">
                <a:solidFill>
                  <a:srgbClr val="6E9117"/>
                </a:solidFill>
                <a:latin typeface="Open Sans" pitchFamily="34" charset="0"/>
                <a:ea typeface="Open Sans" pitchFamily="34" charset="-122"/>
                <a:cs typeface="Open Sans" pitchFamily="34" charset="-120"/>
              </a:rPr>
              <a:t>PERFORMANCE TREND</a:t>
            </a:r>
            <a:endParaRPr lang="en-US" sz="1000" dirty="0"/>
          </a:p>
        </p:txBody>
      </p:sp>
      <p:sp>
        <p:nvSpPr>
          <p:cNvPr id="3" name="Text 1"/>
          <p:cNvSpPr/>
          <p:nvPr/>
        </p:nvSpPr>
        <p:spPr>
          <a:xfrm>
            <a:off x="566928" y="694944"/>
            <a:ext cx="10972800" cy="475488"/>
          </a:xfrm>
          <a:prstGeom prst="rect">
            <a:avLst/>
          </a:prstGeom>
          <a:noFill/>
          <a:ln/>
        </p:spPr>
        <p:txBody>
          <a:bodyPr wrap="square" lIns="0" tIns="0" rIns="0" bIns="0" rtlCol="0" anchor="ctr">
            <a:normAutofit/>
          </a:bodyPr>
          <a:lstStyle/>
          <a:p>
            <a:pPr indent="0" marL="0">
              <a:buNone/>
            </a:pPr>
            <a:r>
              <a:rPr lang="en-US" sz="2500" b="1" dirty="0">
                <a:solidFill>
                  <a:srgbClr val="212529"/>
                </a:solidFill>
                <a:latin typeface="Open Sans" pitchFamily="34" charset="0"/>
                <a:ea typeface="Open Sans" pitchFamily="34" charset="-122"/>
                <a:cs typeface="Open Sans" pitchFamily="34" charset="-120"/>
              </a:rPr>
              <a:t>Sales recovered; gross margin now needs attention</a:t>
            </a:r>
            <a:endParaRPr lang="en-US" sz="2500" dirty="0"/>
          </a:p>
        </p:txBody>
      </p:sp>
      <p:sp>
        <p:nvSpPr>
          <p:cNvPr id="4" name="Text 2"/>
          <p:cNvSpPr/>
          <p:nvPr/>
        </p:nvSpPr>
        <p:spPr>
          <a:xfrm>
            <a:off x="566928" y="1207008"/>
            <a:ext cx="10972800" cy="292608"/>
          </a:xfrm>
          <a:prstGeom prst="rect">
            <a:avLst/>
          </a:prstGeom>
          <a:noFill/>
          <a:ln/>
        </p:spPr>
        <p:txBody>
          <a:bodyPr wrap="square" lIns="0" tIns="0" rIns="0" bIns="0" rtlCol="0" anchor="ctr">
            <a:normAutofit/>
          </a:bodyPr>
          <a:lstStyle/>
          <a:p>
            <a:pPr indent="0" marL="0">
              <a:buNone/>
            </a:pPr>
            <a:r>
              <a:rPr lang="en-US" sz="1100" dirty="0">
                <a:solidFill>
                  <a:srgbClr val="6C757D"/>
                </a:solidFill>
                <a:latin typeface="Open Sans" pitchFamily="34" charset="0"/>
                <a:ea typeface="Open Sans" pitchFamily="34" charset="-122"/>
                <a:cs typeface="Open Sans" pitchFamily="34" charset="-120"/>
              </a:rPr>
              <a:t>Complete calendar years | signed returns included | standard cost normalized by pack size.</a:t>
            </a:r>
            <a:endParaRPr lang="en-US" sz="1100" dirty="0"/>
          </a:p>
        </p:txBody>
      </p:sp>
      <p:sp>
        <p:nvSpPr>
          <p:cNvPr id="5" name="Shape 3"/>
          <p:cNvSpPr/>
          <p:nvPr/>
        </p:nvSpPr>
        <p:spPr>
          <a:xfrm>
            <a:off x="960120" y="5120640"/>
            <a:ext cx="6949440" cy="0"/>
          </a:xfrm>
          <a:prstGeom prst="line">
            <a:avLst/>
          </a:prstGeom>
          <a:noFill/>
          <a:ln w="12700">
            <a:solidFill>
              <a:srgbClr val="ADB5BD"/>
            </a:solidFill>
            <a:prstDash val="solid"/>
          </a:ln>
        </p:spPr>
      </p:sp>
      <p:sp>
        <p:nvSpPr>
          <p:cNvPr id="6" name="Shape 4"/>
          <p:cNvSpPr/>
          <p:nvPr/>
        </p:nvSpPr>
        <p:spPr>
          <a:xfrm>
            <a:off x="1399032" y="2802945"/>
            <a:ext cx="841248" cy="2317695"/>
          </a:xfrm>
          <a:prstGeom prst="rect">
            <a:avLst/>
          </a:prstGeom>
          <a:solidFill>
            <a:srgbClr val="AAB3BB"/>
          </a:solidFill>
          <a:ln w="12700">
            <a:solidFill>
              <a:srgbClr val="AAB3BB">
                <a:alpha val="0"/>
              </a:srgbClr>
            </a:solidFill>
            <a:prstDash val="solid"/>
          </a:ln>
        </p:spPr>
      </p:sp>
      <p:sp>
        <p:nvSpPr>
          <p:cNvPr id="7" name="Text 5"/>
          <p:cNvSpPr/>
          <p:nvPr/>
        </p:nvSpPr>
        <p:spPr>
          <a:xfrm>
            <a:off x="1216152" y="2482905"/>
            <a:ext cx="1207008" cy="219456"/>
          </a:xfrm>
          <a:prstGeom prst="rect">
            <a:avLst/>
          </a:prstGeom>
          <a:noFill/>
          <a:ln/>
        </p:spPr>
        <p:txBody>
          <a:bodyPr wrap="square" lIns="0" tIns="0" rIns="0" bIns="0" rtlCol="0" anchor="ctr">
            <a:normAutofit/>
          </a:bodyPr>
          <a:lstStyle/>
          <a:p>
            <a:pPr algn="ctr" indent="0" marL="0">
              <a:buNone/>
            </a:pPr>
            <a:r>
              <a:rPr lang="en-US" sz="1000" b="1" dirty="0">
                <a:solidFill>
                  <a:srgbClr val="212529"/>
                </a:solidFill>
                <a:latin typeface="Open Sans" pitchFamily="34" charset="0"/>
                <a:ea typeface="Open Sans" pitchFamily="34" charset="-122"/>
                <a:cs typeface="Open Sans" pitchFamily="34" charset="-120"/>
              </a:rPr>
              <a:t>$10.5m</a:t>
            </a:r>
            <a:endParaRPr lang="en-US" sz="1000" dirty="0"/>
          </a:p>
        </p:txBody>
      </p:sp>
      <p:sp>
        <p:nvSpPr>
          <p:cNvPr id="8" name="Text 6"/>
          <p:cNvSpPr/>
          <p:nvPr/>
        </p:nvSpPr>
        <p:spPr>
          <a:xfrm>
            <a:off x="1399032" y="5248656"/>
            <a:ext cx="841248" cy="219456"/>
          </a:xfrm>
          <a:prstGeom prst="rect">
            <a:avLst/>
          </a:prstGeom>
          <a:noFill/>
          <a:ln/>
        </p:spPr>
        <p:txBody>
          <a:bodyPr wrap="square" lIns="0" tIns="0" rIns="0" bIns="0" rtlCol="0" anchor="ctr">
            <a:normAutofit/>
          </a:bodyPr>
          <a:lstStyle/>
          <a:p>
            <a:pPr algn="ctr" indent="0" marL="0">
              <a:buNone/>
            </a:pPr>
            <a:r>
              <a:rPr lang="en-US" sz="1000" dirty="0">
                <a:solidFill>
                  <a:srgbClr val="6C757D"/>
                </a:solidFill>
                <a:latin typeface="Open Sans" pitchFamily="34" charset="0"/>
                <a:ea typeface="Open Sans" pitchFamily="34" charset="-122"/>
                <a:cs typeface="Open Sans" pitchFamily="34" charset="-120"/>
              </a:rPr>
              <a:t>2019</a:t>
            </a:r>
            <a:endParaRPr lang="en-US" sz="1000" dirty="0"/>
          </a:p>
        </p:txBody>
      </p:sp>
      <p:sp>
        <p:nvSpPr>
          <p:cNvPr id="9" name="Text 7"/>
          <p:cNvSpPr/>
          <p:nvPr/>
        </p:nvSpPr>
        <p:spPr>
          <a:xfrm>
            <a:off x="1399032" y="5513832"/>
            <a:ext cx="841248" cy="219456"/>
          </a:xfrm>
          <a:prstGeom prst="rect">
            <a:avLst/>
          </a:prstGeom>
          <a:noFill/>
          <a:ln/>
        </p:spPr>
        <p:txBody>
          <a:bodyPr wrap="square" lIns="0" tIns="0" rIns="0" bIns="0" rtlCol="0" anchor="ctr">
            <a:normAutofit/>
          </a:bodyPr>
          <a:lstStyle/>
          <a:p>
            <a:pPr algn="ctr" indent="0" marL="0">
              <a:buNone/>
            </a:pPr>
            <a:r>
              <a:rPr lang="en-US" sz="1000" b="1" dirty="0">
                <a:solidFill>
                  <a:srgbClr val="6E9117"/>
                </a:solidFill>
                <a:latin typeface="Open Sans" pitchFamily="34" charset="0"/>
                <a:ea typeface="Open Sans" pitchFamily="34" charset="-122"/>
                <a:cs typeface="Open Sans" pitchFamily="34" charset="-120"/>
              </a:rPr>
              <a:t>40.9%</a:t>
            </a:r>
            <a:endParaRPr lang="en-US" sz="1000" dirty="0"/>
          </a:p>
        </p:txBody>
      </p:sp>
      <p:sp>
        <p:nvSpPr>
          <p:cNvPr id="10" name="Shape 8"/>
          <p:cNvSpPr/>
          <p:nvPr/>
        </p:nvSpPr>
        <p:spPr>
          <a:xfrm>
            <a:off x="2953512" y="2824823"/>
            <a:ext cx="841248" cy="2295817"/>
          </a:xfrm>
          <a:prstGeom prst="rect">
            <a:avLst/>
          </a:prstGeom>
          <a:solidFill>
            <a:srgbClr val="AAB3BB"/>
          </a:solidFill>
          <a:ln w="12700">
            <a:solidFill>
              <a:srgbClr val="AAB3BB">
                <a:alpha val="0"/>
              </a:srgbClr>
            </a:solidFill>
            <a:prstDash val="solid"/>
          </a:ln>
        </p:spPr>
      </p:sp>
      <p:sp>
        <p:nvSpPr>
          <p:cNvPr id="11" name="Text 9"/>
          <p:cNvSpPr/>
          <p:nvPr/>
        </p:nvSpPr>
        <p:spPr>
          <a:xfrm>
            <a:off x="2770632" y="2504783"/>
            <a:ext cx="1207008" cy="219456"/>
          </a:xfrm>
          <a:prstGeom prst="rect">
            <a:avLst/>
          </a:prstGeom>
          <a:noFill/>
          <a:ln/>
        </p:spPr>
        <p:txBody>
          <a:bodyPr wrap="square" lIns="0" tIns="0" rIns="0" bIns="0" rtlCol="0" anchor="ctr">
            <a:normAutofit/>
          </a:bodyPr>
          <a:lstStyle/>
          <a:p>
            <a:pPr algn="ctr" indent="0" marL="0">
              <a:buNone/>
            </a:pPr>
            <a:r>
              <a:rPr lang="en-US" sz="1000" b="1" dirty="0">
                <a:solidFill>
                  <a:srgbClr val="212529"/>
                </a:solidFill>
                <a:latin typeface="Open Sans" pitchFamily="34" charset="0"/>
                <a:ea typeface="Open Sans" pitchFamily="34" charset="-122"/>
                <a:cs typeface="Open Sans" pitchFamily="34" charset="-120"/>
              </a:rPr>
              <a:t>$10.4m</a:t>
            </a:r>
            <a:endParaRPr lang="en-US" sz="1000" dirty="0"/>
          </a:p>
        </p:txBody>
      </p:sp>
      <p:sp>
        <p:nvSpPr>
          <p:cNvPr id="12" name="Text 10"/>
          <p:cNvSpPr/>
          <p:nvPr/>
        </p:nvSpPr>
        <p:spPr>
          <a:xfrm>
            <a:off x="2953512" y="5248656"/>
            <a:ext cx="841248" cy="219456"/>
          </a:xfrm>
          <a:prstGeom prst="rect">
            <a:avLst/>
          </a:prstGeom>
          <a:noFill/>
          <a:ln/>
        </p:spPr>
        <p:txBody>
          <a:bodyPr wrap="square" lIns="0" tIns="0" rIns="0" bIns="0" rtlCol="0" anchor="ctr">
            <a:normAutofit/>
          </a:bodyPr>
          <a:lstStyle/>
          <a:p>
            <a:pPr algn="ctr" indent="0" marL="0">
              <a:buNone/>
            </a:pPr>
            <a:r>
              <a:rPr lang="en-US" sz="1000" dirty="0">
                <a:solidFill>
                  <a:srgbClr val="6C757D"/>
                </a:solidFill>
                <a:latin typeface="Open Sans" pitchFamily="34" charset="0"/>
                <a:ea typeface="Open Sans" pitchFamily="34" charset="-122"/>
                <a:cs typeface="Open Sans" pitchFamily="34" charset="-120"/>
              </a:rPr>
              <a:t>2020</a:t>
            </a:r>
            <a:endParaRPr lang="en-US" sz="1000" dirty="0"/>
          </a:p>
        </p:txBody>
      </p:sp>
      <p:sp>
        <p:nvSpPr>
          <p:cNvPr id="13" name="Text 11"/>
          <p:cNvSpPr/>
          <p:nvPr/>
        </p:nvSpPr>
        <p:spPr>
          <a:xfrm>
            <a:off x="2953512" y="5513832"/>
            <a:ext cx="841248" cy="219456"/>
          </a:xfrm>
          <a:prstGeom prst="rect">
            <a:avLst/>
          </a:prstGeom>
          <a:noFill/>
          <a:ln/>
        </p:spPr>
        <p:txBody>
          <a:bodyPr wrap="square" lIns="0" tIns="0" rIns="0" bIns="0" rtlCol="0" anchor="ctr">
            <a:normAutofit/>
          </a:bodyPr>
          <a:lstStyle/>
          <a:p>
            <a:pPr algn="ctr" indent="0" marL="0">
              <a:buNone/>
            </a:pPr>
            <a:r>
              <a:rPr lang="en-US" sz="1000" b="1" dirty="0">
                <a:solidFill>
                  <a:srgbClr val="6E9117"/>
                </a:solidFill>
                <a:latin typeface="Open Sans" pitchFamily="34" charset="0"/>
                <a:ea typeface="Open Sans" pitchFamily="34" charset="-122"/>
                <a:cs typeface="Open Sans" pitchFamily="34" charset="-120"/>
              </a:rPr>
              <a:t>41.1%</a:t>
            </a:r>
            <a:endParaRPr lang="en-US" sz="1000" dirty="0"/>
          </a:p>
        </p:txBody>
      </p:sp>
      <p:sp>
        <p:nvSpPr>
          <p:cNvPr id="14" name="Shape 12"/>
          <p:cNvSpPr/>
          <p:nvPr/>
        </p:nvSpPr>
        <p:spPr>
          <a:xfrm>
            <a:off x="4507992" y="2569708"/>
            <a:ext cx="841248" cy="2550932"/>
          </a:xfrm>
          <a:prstGeom prst="rect">
            <a:avLst/>
          </a:prstGeom>
          <a:solidFill>
            <a:srgbClr val="AAB3BB"/>
          </a:solidFill>
          <a:ln w="12700">
            <a:solidFill>
              <a:srgbClr val="AAB3BB">
                <a:alpha val="0"/>
              </a:srgbClr>
            </a:solidFill>
            <a:prstDash val="solid"/>
          </a:ln>
        </p:spPr>
      </p:sp>
      <p:sp>
        <p:nvSpPr>
          <p:cNvPr id="15" name="Text 13"/>
          <p:cNvSpPr/>
          <p:nvPr/>
        </p:nvSpPr>
        <p:spPr>
          <a:xfrm>
            <a:off x="4325112" y="2249668"/>
            <a:ext cx="1207008" cy="219456"/>
          </a:xfrm>
          <a:prstGeom prst="rect">
            <a:avLst/>
          </a:prstGeom>
          <a:noFill/>
          <a:ln/>
        </p:spPr>
        <p:txBody>
          <a:bodyPr wrap="square" lIns="0" tIns="0" rIns="0" bIns="0" rtlCol="0" anchor="ctr">
            <a:normAutofit/>
          </a:bodyPr>
          <a:lstStyle/>
          <a:p>
            <a:pPr algn="ctr" indent="0" marL="0">
              <a:buNone/>
            </a:pPr>
            <a:r>
              <a:rPr lang="en-US" sz="1000" b="1" dirty="0">
                <a:solidFill>
                  <a:srgbClr val="212529"/>
                </a:solidFill>
                <a:latin typeface="Open Sans" pitchFamily="34" charset="0"/>
                <a:ea typeface="Open Sans" pitchFamily="34" charset="-122"/>
                <a:cs typeface="Open Sans" pitchFamily="34" charset="-120"/>
              </a:rPr>
              <a:t>$11.6m</a:t>
            </a:r>
            <a:endParaRPr lang="en-US" sz="1000" dirty="0"/>
          </a:p>
        </p:txBody>
      </p:sp>
      <p:sp>
        <p:nvSpPr>
          <p:cNvPr id="16" name="Text 14"/>
          <p:cNvSpPr/>
          <p:nvPr/>
        </p:nvSpPr>
        <p:spPr>
          <a:xfrm>
            <a:off x="4507992" y="5248656"/>
            <a:ext cx="841248" cy="219456"/>
          </a:xfrm>
          <a:prstGeom prst="rect">
            <a:avLst/>
          </a:prstGeom>
          <a:noFill/>
          <a:ln/>
        </p:spPr>
        <p:txBody>
          <a:bodyPr wrap="square" lIns="0" tIns="0" rIns="0" bIns="0" rtlCol="0" anchor="ctr">
            <a:normAutofit/>
          </a:bodyPr>
          <a:lstStyle/>
          <a:p>
            <a:pPr algn="ctr" indent="0" marL="0">
              <a:buNone/>
            </a:pPr>
            <a:r>
              <a:rPr lang="en-US" sz="1000" dirty="0">
                <a:solidFill>
                  <a:srgbClr val="6C757D"/>
                </a:solidFill>
                <a:latin typeface="Open Sans" pitchFamily="34" charset="0"/>
                <a:ea typeface="Open Sans" pitchFamily="34" charset="-122"/>
                <a:cs typeface="Open Sans" pitchFamily="34" charset="-120"/>
              </a:rPr>
              <a:t>2021</a:t>
            </a:r>
            <a:endParaRPr lang="en-US" sz="1000" dirty="0"/>
          </a:p>
        </p:txBody>
      </p:sp>
      <p:sp>
        <p:nvSpPr>
          <p:cNvPr id="17" name="Text 15"/>
          <p:cNvSpPr/>
          <p:nvPr/>
        </p:nvSpPr>
        <p:spPr>
          <a:xfrm>
            <a:off x="4507992" y="5513832"/>
            <a:ext cx="841248" cy="219456"/>
          </a:xfrm>
          <a:prstGeom prst="rect">
            <a:avLst/>
          </a:prstGeom>
          <a:noFill/>
          <a:ln/>
        </p:spPr>
        <p:txBody>
          <a:bodyPr wrap="square" lIns="0" tIns="0" rIns="0" bIns="0" rtlCol="0" anchor="ctr">
            <a:normAutofit/>
          </a:bodyPr>
          <a:lstStyle/>
          <a:p>
            <a:pPr algn="ctr" indent="0" marL="0">
              <a:buNone/>
            </a:pPr>
            <a:r>
              <a:rPr lang="en-US" sz="1000" b="1" dirty="0">
                <a:solidFill>
                  <a:srgbClr val="6E9117"/>
                </a:solidFill>
                <a:latin typeface="Open Sans" pitchFamily="34" charset="0"/>
                <a:ea typeface="Open Sans" pitchFamily="34" charset="-122"/>
                <a:cs typeface="Open Sans" pitchFamily="34" charset="-120"/>
              </a:rPr>
              <a:t>41.1%</a:t>
            </a:r>
            <a:endParaRPr lang="en-US" sz="1000" dirty="0"/>
          </a:p>
        </p:txBody>
      </p:sp>
      <p:sp>
        <p:nvSpPr>
          <p:cNvPr id="18" name="Shape 16"/>
          <p:cNvSpPr/>
          <p:nvPr/>
        </p:nvSpPr>
        <p:spPr>
          <a:xfrm>
            <a:off x="6062472" y="2297927"/>
            <a:ext cx="841248" cy="2822713"/>
          </a:xfrm>
          <a:prstGeom prst="rect">
            <a:avLst/>
          </a:prstGeom>
          <a:solidFill>
            <a:srgbClr val="95C11F"/>
          </a:solidFill>
          <a:ln w="12700">
            <a:solidFill>
              <a:srgbClr val="95C11F">
                <a:alpha val="0"/>
              </a:srgbClr>
            </a:solidFill>
            <a:prstDash val="solid"/>
          </a:ln>
        </p:spPr>
      </p:sp>
      <p:sp>
        <p:nvSpPr>
          <p:cNvPr id="19" name="Text 17"/>
          <p:cNvSpPr/>
          <p:nvPr/>
        </p:nvSpPr>
        <p:spPr>
          <a:xfrm>
            <a:off x="5879592" y="1977887"/>
            <a:ext cx="1207008" cy="219456"/>
          </a:xfrm>
          <a:prstGeom prst="rect">
            <a:avLst/>
          </a:prstGeom>
          <a:noFill/>
          <a:ln/>
        </p:spPr>
        <p:txBody>
          <a:bodyPr wrap="square" lIns="0" tIns="0" rIns="0" bIns="0" rtlCol="0" anchor="ctr">
            <a:normAutofit/>
          </a:bodyPr>
          <a:lstStyle/>
          <a:p>
            <a:pPr algn="ctr" indent="0" marL="0">
              <a:buNone/>
            </a:pPr>
            <a:r>
              <a:rPr lang="en-US" sz="1000" b="1" dirty="0">
                <a:solidFill>
                  <a:srgbClr val="212529"/>
                </a:solidFill>
                <a:latin typeface="Open Sans" pitchFamily="34" charset="0"/>
                <a:ea typeface="Open Sans" pitchFamily="34" charset="-122"/>
                <a:cs typeface="Open Sans" pitchFamily="34" charset="-120"/>
              </a:rPr>
              <a:t>$12.8m</a:t>
            </a:r>
            <a:endParaRPr lang="en-US" sz="1000" dirty="0"/>
          </a:p>
        </p:txBody>
      </p:sp>
      <p:sp>
        <p:nvSpPr>
          <p:cNvPr id="20" name="Text 18"/>
          <p:cNvSpPr/>
          <p:nvPr/>
        </p:nvSpPr>
        <p:spPr>
          <a:xfrm>
            <a:off x="6062472" y="5248656"/>
            <a:ext cx="841248" cy="219456"/>
          </a:xfrm>
          <a:prstGeom prst="rect">
            <a:avLst/>
          </a:prstGeom>
          <a:noFill/>
          <a:ln/>
        </p:spPr>
        <p:txBody>
          <a:bodyPr wrap="square" lIns="0" tIns="0" rIns="0" bIns="0" rtlCol="0" anchor="ctr">
            <a:normAutofit/>
          </a:bodyPr>
          <a:lstStyle/>
          <a:p>
            <a:pPr algn="ctr" indent="0" marL="0">
              <a:buNone/>
            </a:pPr>
            <a:r>
              <a:rPr lang="en-US" sz="1000" dirty="0">
                <a:solidFill>
                  <a:srgbClr val="6C757D"/>
                </a:solidFill>
                <a:latin typeface="Open Sans" pitchFamily="34" charset="0"/>
                <a:ea typeface="Open Sans" pitchFamily="34" charset="-122"/>
                <a:cs typeface="Open Sans" pitchFamily="34" charset="-120"/>
              </a:rPr>
              <a:t>2022</a:t>
            </a:r>
            <a:endParaRPr lang="en-US" sz="1000" dirty="0"/>
          </a:p>
        </p:txBody>
      </p:sp>
      <p:sp>
        <p:nvSpPr>
          <p:cNvPr id="21" name="Text 19"/>
          <p:cNvSpPr/>
          <p:nvPr/>
        </p:nvSpPr>
        <p:spPr>
          <a:xfrm>
            <a:off x="6062472" y="5513832"/>
            <a:ext cx="841248" cy="219456"/>
          </a:xfrm>
          <a:prstGeom prst="rect">
            <a:avLst/>
          </a:prstGeom>
          <a:noFill/>
          <a:ln/>
        </p:spPr>
        <p:txBody>
          <a:bodyPr wrap="square" lIns="0" tIns="0" rIns="0" bIns="0" rtlCol="0" anchor="ctr">
            <a:normAutofit/>
          </a:bodyPr>
          <a:lstStyle/>
          <a:p>
            <a:pPr algn="ctr" indent="0" marL="0">
              <a:buNone/>
            </a:pPr>
            <a:r>
              <a:rPr lang="en-US" sz="1000" b="1" dirty="0">
                <a:solidFill>
                  <a:srgbClr val="6E9117"/>
                </a:solidFill>
                <a:latin typeface="Open Sans" pitchFamily="34" charset="0"/>
                <a:ea typeface="Open Sans" pitchFamily="34" charset="-122"/>
                <a:cs typeface="Open Sans" pitchFamily="34" charset="-120"/>
              </a:rPr>
              <a:t>40.2%</a:t>
            </a:r>
            <a:endParaRPr lang="en-US" sz="1000" dirty="0"/>
          </a:p>
        </p:txBody>
      </p:sp>
      <p:sp>
        <p:nvSpPr>
          <p:cNvPr id="22" name="Text 20"/>
          <p:cNvSpPr/>
          <p:nvPr/>
        </p:nvSpPr>
        <p:spPr>
          <a:xfrm>
            <a:off x="960120" y="1627632"/>
            <a:ext cx="1371600" cy="210312"/>
          </a:xfrm>
          <a:prstGeom prst="rect">
            <a:avLst/>
          </a:prstGeom>
          <a:noFill/>
          <a:ln/>
        </p:spPr>
        <p:txBody>
          <a:bodyPr wrap="square" lIns="0" tIns="0" rIns="0" bIns="0" rtlCol="0" anchor="ctr">
            <a:normAutofit/>
          </a:bodyPr>
          <a:lstStyle/>
          <a:p>
            <a:pPr indent="0" marL="0">
              <a:buNone/>
            </a:pPr>
            <a:r>
              <a:rPr lang="en-US" sz="1000" b="1" dirty="0">
                <a:solidFill>
                  <a:srgbClr val="6C757D"/>
                </a:solidFill>
                <a:latin typeface="Open Sans" pitchFamily="34" charset="0"/>
                <a:ea typeface="Open Sans" pitchFamily="34" charset="-122"/>
                <a:cs typeface="Open Sans" pitchFamily="34" charset="-120"/>
              </a:rPr>
              <a:t>Net sales</a:t>
            </a:r>
            <a:endParaRPr lang="en-US" sz="1000" dirty="0"/>
          </a:p>
        </p:txBody>
      </p:sp>
      <p:sp>
        <p:nvSpPr>
          <p:cNvPr id="23" name="Text 21"/>
          <p:cNvSpPr/>
          <p:nvPr/>
        </p:nvSpPr>
        <p:spPr>
          <a:xfrm>
            <a:off x="960120" y="5513832"/>
            <a:ext cx="914400" cy="219456"/>
          </a:xfrm>
          <a:prstGeom prst="rect">
            <a:avLst/>
          </a:prstGeom>
          <a:noFill/>
          <a:ln/>
        </p:spPr>
        <p:txBody>
          <a:bodyPr wrap="square" lIns="0" tIns="0" rIns="0" bIns="0" rtlCol="0" anchor="ctr">
            <a:normAutofit/>
          </a:bodyPr>
          <a:lstStyle/>
          <a:p>
            <a:pPr indent="0" marL="0">
              <a:buNone/>
            </a:pPr>
            <a:r>
              <a:rPr lang="en-US" sz="900" dirty="0">
                <a:solidFill>
                  <a:srgbClr val="6C757D"/>
                </a:solidFill>
                <a:latin typeface="Open Sans" pitchFamily="34" charset="0"/>
                <a:ea typeface="Open Sans" pitchFamily="34" charset="-122"/>
                <a:cs typeface="Open Sans" pitchFamily="34" charset="-120"/>
              </a:rPr>
              <a:t>Gross margin</a:t>
            </a:r>
            <a:endParaRPr lang="en-US" sz="900" dirty="0"/>
          </a:p>
        </p:txBody>
      </p:sp>
      <p:sp>
        <p:nvSpPr>
          <p:cNvPr id="24" name="Shape 22"/>
          <p:cNvSpPr/>
          <p:nvPr/>
        </p:nvSpPr>
        <p:spPr>
          <a:xfrm>
            <a:off x="8366760" y="2121408"/>
            <a:ext cx="3063240" cy="1234440"/>
          </a:xfrm>
          <a:prstGeom prst="roundRect">
            <a:avLst>
              <a:gd name="adj" fmla="val 5926"/>
            </a:avLst>
          </a:prstGeom>
          <a:solidFill>
            <a:srgbClr val="FFFFFF"/>
          </a:solidFill>
          <a:ln w="10160">
            <a:solidFill>
              <a:srgbClr val="DEE2E6"/>
            </a:solidFill>
            <a:prstDash val="solid"/>
          </a:ln>
        </p:spPr>
      </p:sp>
      <p:sp>
        <p:nvSpPr>
          <p:cNvPr id="25" name="Shape 23"/>
          <p:cNvSpPr/>
          <p:nvPr/>
        </p:nvSpPr>
        <p:spPr>
          <a:xfrm>
            <a:off x="8366760" y="2121408"/>
            <a:ext cx="73152" cy="1234440"/>
          </a:xfrm>
          <a:prstGeom prst="rect">
            <a:avLst/>
          </a:prstGeom>
          <a:solidFill>
            <a:srgbClr val="95C11F"/>
          </a:solidFill>
          <a:ln w="12700">
            <a:solidFill>
              <a:srgbClr val="95C11F">
                <a:alpha val="0"/>
              </a:srgbClr>
            </a:solidFill>
            <a:prstDash val="solid"/>
          </a:ln>
        </p:spPr>
      </p:sp>
      <p:sp>
        <p:nvSpPr>
          <p:cNvPr id="26" name="Text 24"/>
          <p:cNvSpPr/>
          <p:nvPr/>
        </p:nvSpPr>
        <p:spPr>
          <a:xfrm>
            <a:off x="8567928" y="2267712"/>
            <a:ext cx="2697480" cy="228600"/>
          </a:xfrm>
          <a:prstGeom prst="rect">
            <a:avLst/>
          </a:prstGeom>
          <a:noFill/>
          <a:ln/>
        </p:spPr>
        <p:txBody>
          <a:bodyPr wrap="square" lIns="0" tIns="0" rIns="0" bIns="0" rtlCol="0" anchor="ctr">
            <a:normAutofit/>
          </a:bodyPr>
          <a:lstStyle/>
          <a:p>
            <a:pPr indent="0" marL="0">
              <a:buNone/>
            </a:pPr>
            <a:r>
              <a:rPr lang="en-US" sz="900" b="1" dirty="0">
                <a:solidFill>
                  <a:srgbClr val="6C757D"/>
                </a:solidFill>
                <a:latin typeface="Open Sans" pitchFamily="34" charset="0"/>
                <a:ea typeface="Open Sans" pitchFamily="34" charset="-122"/>
                <a:cs typeface="Open Sans" pitchFamily="34" charset="-120"/>
              </a:rPr>
              <a:t>2022 SALES YOY</a:t>
            </a:r>
            <a:endParaRPr lang="en-US" sz="900" dirty="0"/>
          </a:p>
        </p:txBody>
      </p:sp>
      <p:sp>
        <p:nvSpPr>
          <p:cNvPr id="27" name="Text 25"/>
          <p:cNvSpPr/>
          <p:nvPr/>
        </p:nvSpPr>
        <p:spPr>
          <a:xfrm>
            <a:off x="8567928" y="2606040"/>
            <a:ext cx="2697480" cy="438912"/>
          </a:xfrm>
          <a:prstGeom prst="rect">
            <a:avLst/>
          </a:prstGeom>
          <a:noFill/>
          <a:ln/>
        </p:spPr>
        <p:txBody>
          <a:bodyPr wrap="square" lIns="0" tIns="0" rIns="0" bIns="0" rtlCol="0" anchor="ctr">
            <a:normAutofit/>
          </a:bodyPr>
          <a:lstStyle/>
          <a:p>
            <a:pPr indent="0" marL="0">
              <a:buNone/>
            </a:pPr>
            <a:r>
              <a:rPr lang="en-US" sz="2300" b="1" dirty="0">
                <a:solidFill>
                  <a:srgbClr val="212529"/>
                </a:solidFill>
                <a:latin typeface="Open Sans" pitchFamily="34" charset="0"/>
                <a:ea typeface="Open Sans" pitchFamily="34" charset="-122"/>
                <a:cs typeface="Open Sans" pitchFamily="34" charset="-120"/>
              </a:rPr>
              <a:t>10.7%</a:t>
            </a:r>
            <a:endParaRPr lang="en-US" sz="2300" dirty="0"/>
          </a:p>
        </p:txBody>
      </p:sp>
      <p:sp>
        <p:nvSpPr>
          <p:cNvPr id="28" name="Text 26"/>
          <p:cNvSpPr/>
          <p:nvPr/>
        </p:nvSpPr>
        <p:spPr>
          <a:xfrm>
            <a:off x="8567928" y="3099816"/>
            <a:ext cx="2697480" cy="155448"/>
          </a:xfrm>
          <a:prstGeom prst="rect">
            <a:avLst/>
          </a:prstGeom>
          <a:noFill/>
          <a:ln/>
        </p:spPr>
        <p:txBody>
          <a:bodyPr wrap="square" lIns="0" tIns="0" rIns="0" bIns="0" rtlCol="0" anchor="t">
            <a:normAutofit/>
          </a:bodyPr>
          <a:lstStyle/>
          <a:p>
            <a:pPr indent="0" marL="0">
              <a:buNone/>
            </a:pPr>
            <a:r>
              <a:rPr lang="en-US" sz="1000" dirty="0">
                <a:solidFill>
                  <a:srgbClr val="6C757D"/>
                </a:solidFill>
                <a:latin typeface="Open Sans" pitchFamily="34" charset="0"/>
                <a:ea typeface="Open Sans" pitchFamily="34" charset="-122"/>
                <a:cs typeface="Open Sans" pitchFamily="34" charset="-120"/>
              </a:rPr>
              <a:t>+$1.2m year over year</a:t>
            </a:r>
            <a:endParaRPr lang="en-US" sz="1000" dirty="0"/>
          </a:p>
        </p:txBody>
      </p:sp>
      <p:sp>
        <p:nvSpPr>
          <p:cNvPr id="29" name="Shape 27"/>
          <p:cNvSpPr/>
          <p:nvPr/>
        </p:nvSpPr>
        <p:spPr>
          <a:xfrm>
            <a:off x="8366760" y="3703320"/>
            <a:ext cx="3063240" cy="1234440"/>
          </a:xfrm>
          <a:prstGeom prst="roundRect">
            <a:avLst>
              <a:gd name="adj" fmla="val 5926"/>
            </a:avLst>
          </a:prstGeom>
          <a:solidFill>
            <a:srgbClr val="FFFFFF"/>
          </a:solidFill>
          <a:ln w="10160">
            <a:solidFill>
              <a:srgbClr val="DEE2E6"/>
            </a:solidFill>
            <a:prstDash val="solid"/>
          </a:ln>
        </p:spPr>
      </p:sp>
      <p:sp>
        <p:nvSpPr>
          <p:cNvPr id="30" name="Shape 28"/>
          <p:cNvSpPr/>
          <p:nvPr/>
        </p:nvSpPr>
        <p:spPr>
          <a:xfrm>
            <a:off x="8366760" y="3703320"/>
            <a:ext cx="73152" cy="1234440"/>
          </a:xfrm>
          <a:prstGeom prst="rect">
            <a:avLst/>
          </a:prstGeom>
          <a:solidFill>
            <a:srgbClr val="30445C"/>
          </a:solidFill>
          <a:ln w="12700">
            <a:solidFill>
              <a:srgbClr val="30445C">
                <a:alpha val="0"/>
              </a:srgbClr>
            </a:solidFill>
            <a:prstDash val="solid"/>
          </a:ln>
        </p:spPr>
      </p:sp>
      <p:sp>
        <p:nvSpPr>
          <p:cNvPr id="31" name="Text 29"/>
          <p:cNvSpPr/>
          <p:nvPr/>
        </p:nvSpPr>
        <p:spPr>
          <a:xfrm>
            <a:off x="8567928" y="3849624"/>
            <a:ext cx="2697480" cy="228600"/>
          </a:xfrm>
          <a:prstGeom prst="rect">
            <a:avLst/>
          </a:prstGeom>
          <a:noFill/>
          <a:ln/>
        </p:spPr>
        <p:txBody>
          <a:bodyPr wrap="square" lIns="0" tIns="0" rIns="0" bIns="0" rtlCol="0" anchor="ctr">
            <a:normAutofit/>
          </a:bodyPr>
          <a:lstStyle/>
          <a:p>
            <a:pPr indent="0" marL="0">
              <a:buNone/>
            </a:pPr>
            <a:r>
              <a:rPr lang="en-US" sz="900" b="1" dirty="0">
                <a:solidFill>
                  <a:srgbClr val="6C757D"/>
                </a:solidFill>
                <a:latin typeface="Open Sans" pitchFamily="34" charset="0"/>
                <a:ea typeface="Open Sans" pitchFamily="34" charset="-122"/>
                <a:cs typeface="Open Sans" pitchFamily="34" charset="-120"/>
              </a:rPr>
              <a:t>2022 GROSS PROFIT YOY</a:t>
            </a:r>
            <a:endParaRPr lang="en-US" sz="900" dirty="0"/>
          </a:p>
        </p:txBody>
      </p:sp>
      <p:sp>
        <p:nvSpPr>
          <p:cNvPr id="32" name="Text 30"/>
          <p:cNvSpPr/>
          <p:nvPr/>
        </p:nvSpPr>
        <p:spPr>
          <a:xfrm>
            <a:off x="8567928" y="4187952"/>
            <a:ext cx="2697480" cy="438912"/>
          </a:xfrm>
          <a:prstGeom prst="rect">
            <a:avLst/>
          </a:prstGeom>
          <a:noFill/>
          <a:ln/>
        </p:spPr>
        <p:txBody>
          <a:bodyPr wrap="square" lIns="0" tIns="0" rIns="0" bIns="0" rtlCol="0" anchor="ctr">
            <a:normAutofit/>
          </a:bodyPr>
          <a:lstStyle/>
          <a:p>
            <a:pPr indent="0" marL="0">
              <a:buNone/>
            </a:pPr>
            <a:r>
              <a:rPr lang="en-US" sz="2300" b="1" dirty="0">
                <a:solidFill>
                  <a:srgbClr val="212529"/>
                </a:solidFill>
                <a:latin typeface="Open Sans" pitchFamily="34" charset="0"/>
                <a:ea typeface="Open Sans" pitchFamily="34" charset="-122"/>
                <a:cs typeface="Open Sans" pitchFamily="34" charset="-120"/>
              </a:rPr>
              <a:t>8.1%</a:t>
            </a:r>
            <a:endParaRPr lang="en-US" sz="2300" dirty="0"/>
          </a:p>
        </p:txBody>
      </p:sp>
      <p:sp>
        <p:nvSpPr>
          <p:cNvPr id="33" name="Text 31"/>
          <p:cNvSpPr/>
          <p:nvPr/>
        </p:nvSpPr>
        <p:spPr>
          <a:xfrm>
            <a:off x="8567928" y="4681728"/>
            <a:ext cx="2697480" cy="155448"/>
          </a:xfrm>
          <a:prstGeom prst="rect">
            <a:avLst/>
          </a:prstGeom>
          <a:noFill/>
          <a:ln/>
        </p:spPr>
        <p:txBody>
          <a:bodyPr wrap="square" lIns="0" tIns="0" rIns="0" bIns="0" rtlCol="0" anchor="t">
            <a:normAutofit/>
          </a:bodyPr>
          <a:lstStyle/>
          <a:p>
            <a:pPr indent="0" marL="0">
              <a:buNone/>
            </a:pPr>
            <a:r>
              <a:rPr lang="en-US" sz="1000" dirty="0">
                <a:solidFill>
                  <a:srgbClr val="6C757D"/>
                </a:solidFill>
                <a:latin typeface="Open Sans" pitchFamily="34" charset="0"/>
                <a:ea typeface="Open Sans" pitchFamily="34" charset="-122"/>
                <a:cs typeface="Open Sans" pitchFamily="34" charset="-120"/>
              </a:rPr>
              <a:t>+$0.4m year over year</a:t>
            </a:r>
            <a:endParaRPr lang="en-US" sz="1000" dirty="0"/>
          </a:p>
        </p:txBody>
      </p:sp>
      <p:sp>
        <p:nvSpPr>
          <p:cNvPr id="34" name="Text 32"/>
          <p:cNvSpPr/>
          <p:nvPr/>
        </p:nvSpPr>
        <p:spPr>
          <a:xfrm>
            <a:off x="859536" y="5897880"/>
            <a:ext cx="10515600" cy="219456"/>
          </a:xfrm>
          <a:prstGeom prst="rect">
            <a:avLst/>
          </a:prstGeom>
          <a:noFill/>
          <a:ln/>
        </p:spPr>
        <p:txBody>
          <a:bodyPr wrap="square" lIns="0" tIns="0" rIns="0" bIns="0" rtlCol="0" anchor="ctr">
            <a:normAutofit/>
          </a:bodyPr>
          <a:lstStyle/>
          <a:p>
            <a:pPr indent="0" marL="0">
              <a:buNone/>
            </a:pPr>
            <a:r>
              <a:rPr lang="en-US" sz="900" dirty="0">
                <a:solidFill>
                  <a:srgbClr val="6C757D"/>
                </a:solidFill>
                <a:latin typeface="Open Sans" pitchFamily="34" charset="0"/>
                <a:ea typeface="Open Sans" pitchFamily="34" charset="-122"/>
                <a:cs typeface="Open Sans" pitchFamily="34" charset="-120"/>
              </a:rPr>
              <a:t>YoY only compares the adjacent full-year periods available in the extract.</a:t>
            </a:r>
            <a:endParaRPr lang="en-US" sz="900" dirty="0"/>
          </a:p>
        </p:txBody>
      </p:sp>
      <p:sp>
        <p:nvSpPr>
          <p:cNvPr id="25" name="Slide Number Placeholder 0"/>
          <p:cNvSpPr>
            <a:spLocks noGrp="1"/>
          </p:cNvSpPr>
          <p:nvPr>
            <p:ph type="sldNum" sz="quarter" idx="4294967295"/>
          </p:nvPr>
        </p:nvSpPr>
        <p:spPr>
          <a:xfrm>
            <a:off x="11201400"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6C757D"/>
                </a:solidFill>
                <a:latin typeface="Open Sans"/>
                <a:ea typeface="Open Sans"/>
                <a:cs typeface="Open Sans"/>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384048"/>
            <a:ext cx="10789920" cy="219456"/>
          </a:xfrm>
          <a:prstGeom prst="rect">
            <a:avLst/>
          </a:prstGeom>
          <a:noFill/>
          <a:ln/>
        </p:spPr>
        <p:txBody>
          <a:bodyPr wrap="square" lIns="0" tIns="0" rIns="0" bIns="0" rtlCol="0" anchor="ctr">
            <a:normAutofit/>
          </a:bodyPr>
          <a:lstStyle/>
          <a:p>
            <a:pPr indent="0" marL="0">
              <a:buNone/>
            </a:pPr>
            <a:r>
              <a:rPr lang="en-US" sz="1000" b="1" spc="120" kern="0" dirty="0">
                <a:solidFill>
                  <a:srgbClr val="6E9117"/>
                </a:solidFill>
                <a:latin typeface="Open Sans" pitchFamily="34" charset="0"/>
                <a:ea typeface="Open Sans" pitchFamily="34" charset="-122"/>
                <a:cs typeface="Open Sans" pitchFamily="34" charset="-120"/>
              </a:rPr>
              <a:t>GROWTH DRIVERS</a:t>
            </a:r>
            <a:endParaRPr lang="en-US" sz="1000" dirty="0"/>
          </a:p>
        </p:txBody>
      </p:sp>
      <p:sp>
        <p:nvSpPr>
          <p:cNvPr id="3" name="Text 1"/>
          <p:cNvSpPr/>
          <p:nvPr/>
        </p:nvSpPr>
        <p:spPr>
          <a:xfrm>
            <a:off x="566928" y="694944"/>
            <a:ext cx="10972800" cy="475488"/>
          </a:xfrm>
          <a:prstGeom prst="rect">
            <a:avLst/>
          </a:prstGeom>
          <a:noFill/>
          <a:ln/>
        </p:spPr>
        <p:txBody>
          <a:bodyPr wrap="square" lIns="0" tIns="0" rIns="0" bIns="0" rtlCol="0" anchor="ctr">
            <a:normAutofit/>
          </a:bodyPr>
          <a:lstStyle/>
          <a:p>
            <a:pPr indent="0" marL="0">
              <a:buNone/>
            </a:pPr>
            <a:r>
              <a:rPr lang="en-US" sz="2500" b="1" dirty="0">
                <a:solidFill>
                  <a:srgbClr val="212529"/>
                </a:solidFill>
                <a:latin typeface="Open Sans" pitchFamily="34" charset="0"/>
                <a:ea typeface="Open Sans" pitchFamily="34" charset="-122"/>
                <a:cs typeface="Open Sans" pitchFamily="34" charset="-120"/>
              </a:rPr>
              <a:t>2022 growth was mainly volume, concentrated in the West</a:t>
            </a:r>
            <a:endParaRPr lang="en-US" sz="2500" dirty="0"/>
          </a:p>
        </p:txBody>
      </p:sp>
      <p:sp>
        <p:nvSpPr>
          <p:cNvPr id="4" name="Text 2"/>
          <p:cNvSpPr/>
          <p:nvPr/>
        </p:nvSpPr>
        <p:spPr>
          <a:xfrm>
            <a:off x="566928" y="1207008"/>
            <a:ext cx="10972800" cy="292608"/>
          </a:xfrm>
          <a:prstGeom prst="rect">
            <a:avLst/>
          </a:prstGeom>
          <a:noFill/>
          <a:ln/>
        </p:spPr>
        <p:txBody>
          <a:bodyPr wrap="square" lIns="0" tIns="0" rIns="0" bIns="0" rtlCol="0" anchor="ctr">
            <a:normAutofit/>
          </a:bodyPr>
          <a:lstStyle/>
          <a:p>
            <a:pPr indent="0" marL="0">
              <a:buNone/>
            </a:pPr>
            <a:r>
              <a:rPr lang="en-US" sz="1100" dirty="0">
                <a:solidFill>
                  <a:srgbClr val="6C757D"/>
                </a:solidFill>
                <a:latin typeface="Open Sans" pitchFamily="34" charset="0"/>
                <a:ea typeface="Open Sans" pitchFamily="34" charset="-122"/>
                <a:cs typeface="Open Sans" pitchFamily="34" charset="-120"/>
              </a:rPr>
              <a:t>Net sales increased $1.23m year over year; the bridge is exact arithmetic on mart units and ASP.</a:t>
            </a:r>
            <a:endParaRPr lang="en-US" sz="1100" dirty="0"/>
          </a:p>
        </p:txBody>
      </p:sp>
      <p:sp>
        <p:nvSpPr>
          <p:cNvPr id="5" name="Text 3"/>
          <p:cNvSpPr/>
          <p:nvPr/>
        </p:nvSpPr>
        <p:spPr>
          <a:xfrm>
            <a:off x="841248" y="1892808"/>
            <a:ext cx="1508760" cy="228600"/>
          </a:xfrm>
          <a:prstGeom prst="rect">
            <a:avLst/>
          </a:prstGeom>
          <a:noFill/>
          <a:ln/>
        </p:spPr>
        <p:txBody>
          <a:bodyPr wrap="square" lIns="0" tIns="0" rIns="0" bIns="0" rtlCol="0" anchor="ctr">
            <a:normAutofit/>
          </a:bodyPr>
          <a:lstStyle/>
          <a:p>
            <a:pPr indent="0" marL="0">
              <a:buNone/>
            </a:pPr>
            <a:r>
              <a:rPr lang="en-US" sz="1000" b="1" dirty="0">
                <a:solidFill>
                  <a:srgbClr val="212529"/>
                </a:solidFill>
                <a:latin typeface="Open Sans" pitchFamily="34" charset="0"/>
                <a:ea typeface="Open Sans" pitchFamily="34" charset="-122"/>
                <a:cs typeface="Open Sans" pitchFamily="34" charset="-120"/>
              </a:rPr>
              <a:t>Volume effect</a:t>
            </a:r>
            <a:endParaRPr lang="en-US" sz="1000" dirty="0"/>
          </a:p>
        </p:txBody>
      </p:sp>
      <p:sp>
        <p:nvSpPr>
          <p:cNvPr id="6" name="Shape 4"/>
          <p:cNvSpPr/>
          <p:nvPr/>
        </p:nvSpPr>
        <p:spPr>
          <a:xfrm>
            <a:off x="2441448" y="1938528"/>
            <a:ext cx="3657600" cy="310896"/>
          </a:xfrm>
          <a:prstGeom prst="roundRect">
            <a:avLst>
              <a:gd name="adj" fmla="val 11765"/>
            </a:avLst>
          </a:prstGeom>
          <a:solidFill>
            <a:srgbClr val="E9ECEF"/>
          </a:solidFill>
          <a:ln w="12700">
            <a:solidFill>
              <a:srgbClr val="E9ECEF">
                <a:alpha val="0"/>
              </a:srgbClr>
            </a:solidFill>
            <a:prstDash val="solid"/>
          </a:ln>
        </p:spPr>
      </p:sp>
      <p:sp>
        <p:nvSpPr>
          <p:cNvPr id="7" name="Shape 5"/>
          <p:cNvSpPr/>
          <p:nvPr/>
        </p:nvSpPr>
        <p:spPr>
          <a:xfrm>
            <a:off x="2441448" y="1938528"/>
            <a:ext cx="3657600" cy="310896"/>
          </a:xfrm>
          <a:prstGeom prst="roundRect">
            <a:avLst>
              <a:gd name="adj" fmla="val 11765"/>
            </a:avLst>
          </a:prstGeom>
          <a:solidFill>
            <a:srgbClr val="95C11F"/>
          </a:solidFill>
          <a:ln w="12700">
            <a:solidFill>
              <a:srgbClr val="95C11F">
                <a:alpha val="0"/>
              </a:srgbClr>
            </a:solidFill>
            <a:prstDash val="solid"/>
          </a:ln>
        </p:spPr>
      </p:sp>
      <p:sp>
        <p:nvSpPr>
          <p:cNvPr id="8" name="Text 6"/>
          <p:cNvSpPr/>
          <p:nvPr/>
        </p:nvSpPr>
        <p:spPr>
          <a:xfrm>
            <a:off x="6172200" y="1901952"/>
            <a:ext cx="713232" cy="228600"/>
          </a:xfrm>
          <a:prstGeom prst="rect">
            <a:avLst/>
          </a:prstGeom>
          <a:noFill/>
          <a:ln/>
        </p:spPr>
        <p:txBody>
          <a:bodyPr wrap="square" lIns="0" tIns="0" rIns="0" bIns="0" rtlCol="0" anchor="ctr">
            <a:normAutofit/>
          </a:bodyPr>
          <a:lstStyle/>
          <a:p>
            <a:pPr algn="r" indent="0" marL="0">
              <a:buNone/>
            </a:pPr>
            <a:r>
              <a:rPr lang="en-US" sz="1000" b="1" dirty="0">
                <a:solidFill>
                  <a:srgbClr val="212529"/>
                </a:solidFill>
                <a:latin typeface="Open Sans" pitchFamily="34" charset="0"/>
                <a:ea typeface="Open Sans" pitchFamily="34" charset="-122"/>
                <a:cs typeface="Open Sans" pitchFamily="34" charset="-120"/>
              </a:rPr>
              <a:t>+$1.11m</a:t>
            </a:r>
            <a:endParaRPr lang="en-US" sz="1000" dirty="0"/>
          </a:p>
        </p:txBody>
      </p:sp>
      <p:sp>
        <p:nvSpPr>
          <p:cNvPr id="9" name="Text 7"/>
          <p:cNvSpPr/>
          <p:nvPr/>
        </p:nvSpPr>
        <p:spPr>
          <a:xfrm>
            <a:off x="841248" y="2487168"/>
            <a:ext cx="1508760" cy="228600"/>
          </a:xfrm>
          <a:prstGeom prst="rect">
            <a:avLst/>
          </a:prstGeom>
          <a:noFill/>
          <a:ln/>
        </p:spPr>
        <p:txBody>
          <a:bodyPr wrap="square" lIns="0" tIns="0" rIns="0" bIns="0" rtlCol="0" anchor="ctr">
            <a:normAutofit/>
          </a:bodyPr>
          <a:lstStyle/>
          <a:p>
            <a:pPr indent="0" marL="0">
              <a:buNone/>
            </a:pPr>
            <a:r>
              <a:rPr lang="en-US" sz="1000" b="1" dirty="0">
                <a:solidFill>
                  <a:srgbClr val="212529"/>
                </a:solidFill>
                <a:latin typeface="Open Sans" pitchFamily="34" charset="0"/>
                <a:ea typeface="Open Sans" pitchFamily="34" charset="-122"/>
                <a:cs typeface="Open Sans" pitchFamily="34" charset="-120"/>
              </a:rPr>
              <a:t>Price / mix effect</a:t>
            </a:r>
            <a:endParaRPr lang="en-US" sz="1000" dirty="0"/>
          </a:p>
        </p:txBody>
      </p:sp>
      <p:sp>
        <p:nvSpPr>
          <p:cNvPr id="10" name="Shape 8"/>
          <p:cNvSpPr/>
          <p:nvPr/>
        </p:nvSpPr>
        <p:spPr>
          <a:xfrm>
            <a:off x="2441448" y="2532888"/>
            <a:ext cx="3657600" cy="310896"/>
          </a:xfrm>
          <a:prstGeom prst="roundRect">
            <a:avLst>
              <a:gd name="adj" fmla="val 11765"/>
            </a:avLst>
          </a:prstGeom>
          <a:solidFill>
            <a:srgbClr val="E9ECEF"/>
          </a:solidFill>
          <a:ln w="12700">
            <a:solidFill>
              <a:srgbClr val="E9ECEF">
                <a:alpha val="0"/>
              </a:srgbClr>
            </a:solidFill>
            <a:prstDash val="solid"/>
          </a:ln>
        </p:spPr>
      </p:sp>
      <p:sp>
        <p:nvSpPr>
          <p:cNvPr id="11" name="Shape 9"/>
          <p:cNvSpPr/>
          <p:nvPr/>
        </p:nvSpPr>
        <p:spPr>
          <a:xfrm>
            <a:off x="2441448" y="2532888"/>
            <a:ext cx="401632" cy="310896"/>
          </a:xfrm>
          <a:prstGeom prst="roundRect">
            <a:avLst>
              <a:gd name="adj" fmla="val 11765"/>
            </a:avLst>
          </a:prstGeom>
          <a:solidFill>
            <a:srgbClr val="30445C"/>
          </a:solidFill>
          <a:ln w="12700">
            <a:solidFill>
              <a:srgbClr val="30445C">
                <a:alpha val="0"/>
              </a:srgbClr>
            </a:solidFill>
            <a:prstDash val="solid"/>
          </a:ln>
        </p:spPr>
      </p:sp>
      <p:sp>
        <p:nvSpPr>
          <p:cNvPr id="12" name="Text 10"/>
          <p:cNvSpPr/>
          <p:nvPr/>
        </p:nvSpPr>
        <p:spPr>
          <a:xfrm>
            <a:off x="6172200" y="2496312"/>
            <a:ext cx="713232" cy="228600"/>
          </a:xfrm>
          <a:prstGeom prst="rect">
            <a:avLst/>
          </a:prstGeom>
          <a:noFill/>
          <a:ln/>
        </p:spPr>
        <p:txBody>
          <a:bodyPr wrap="square" lIns="0" tIns="0" rIns="0" bIns="0" rtlCol="0" anchor="ctr">
            <a:normAutofit/>
          </a:bodyPr>
          <a:lstStyle/>
          <a:p>
            <a:pPr algn="r" indent="0" marL="0">
              <a:buNone/>
            </a:pPr>
            <a:r>
              <a:rPr lang="en-US" sz="1000" b="1" dirty="0">
                <a:solidFill>
                  <a:srgbClr val="212529"/>
                </a:solidFill>
                <a:latin typeface="Open Sans" pitchFamily="34" charset="0"/>
                <a:ea typeface="Open Sans" pitchFamily="34" charset="-122"/>
                <a:cs typeface="Open Sans" pitchFamily="34" charset="-120"/>
              </a:rPr>
              <a:t>+$0.12m</a:t>
            </a:r>
            <a:endParaRPr lang="en-US" sz="1000" dirty="0"/>
          </a:p>
        </p:txBody>
      </p:sp>
      <p:sp>
        <p:nvSpPr>
          <p:cNvPr id="13" name="Text 11"/>
          <p:cNvSpPr/>
          <p:nvPr/>
        </p:nvSpPr>
        <p:spPr>
          <a:xfrm>
            <a:off x="877824" y="3154680"/>
            <a:ext cx="6126480" cy="502920"/>
          </a:xfrm>
          <a:prstGeom prst="rect">
            <a:avLst/>
          </a:prstGeom>
          <a:noFill/>
          <a:ln/>
        </p:spPr>
        <p:txBody>
          <a:bodyPr wrap="square" lIns="0" tIns="0" rIns="0" bIns="0" rtlCol="0" anchor="ctr">
            <a:normAutofit/>
          </a:bodyPr>
          <a:lstStyle/>
          <a:p>
            <a:pPr indent="0" marL="0">
              <a:buNone/>
            </a:pPr>
            <a:r>
              <a:rPr lang="en-US" sz="1000" dirty="0">
                <a:solidFill>
                  <a:srgbClr val="6C757D"/>
                </a:solidFill>
                <a:latin typeface="Open Sans" pitchFamily="34" charset="0"/>
                <a:ea typeface="Open Sans" pitchFamily="34" charset="-122"/>
                <a:cs typeface="Open Sans" pitchFamily="34" charset="-120"/>
              </a:rPr>
              <a:t>ASP: $32.18 to $32.49 per net unit. This residual combines price and mix.</a:t>
            </a:r>
            <a:endParaRPr lang="en-US" sz="1000" dirty="0"/>
          </a:p>
        </p:txBody>
      </p:sp>
      <p:sp>
        <p:nvSpPr>
          <p:cNvPr id="14" name="Text 12"/>
          <p:cNvSpPr/>
          <p:nvPr/>
        </p:nvSpPr>
        <p:spPr>
          <a:xfrm>
            <a:off x="7342632" y="1783080"/>
            <a:ext cx="4069080" cy="228600"/>
          </a:xfrm>
          <a:prstGeom prst="rect">
            <a:avLst/>
          </a:prstGeom>
          <a:noFill/>
          <a:ln/>
        </p:spPr>
        <p:txBody>
          <a:bodyPr wrap="square" lIns="0" tIns="0" rIns="0" bIns="0" rtlCol="0" anchor="ctr">
            <a:normAutofit/>
          </a:bodyPr>
          <a:lstStyle/>
          <a:p>
            <a:pPr indent="0" marL="0">
              <a:buNone/>
            </a:pPr>
            <a:r>
              <a:rPr lang="en-US" sz="1000" b="1" dirty="0">
                <a:solidFill>
                  <a:srgbClr val="6E9117"/>
                </a:solidFill>
                <a:latin typeface="Open Sans" pitchFamily="34" charset="0"/>
                <a:ea typeface="Open Sans" pitchFamily="34" charset="-122"/>
                <a:cs typeface="Open Sans" pitchFamily="34" charset="-120"/>
              </a:rPr>
              <a:t>REGIONAL CONTRIBUTION TO CHANGE</a:t>
            </a:r>
            <a:endParaRPr lang="en-US" sz="1000" dirty="0"/>
          </a:p>
        </p:txBody>
      </p:sp>
      <p:sp>
        <p:nvSpPr>
          <p:cNvPr id="15" name="Text 13"/>
          <p:cNvSpPr/>
          <p:nvPr/>
        </p:nvSpPr>
        <p:spPr>
          <a:xfrm>
            <a:off x="7360920" y="2157984"/>
            <a:ext cx="1600200" cy="237744"/>
          </a:xfrm>
          <a:prstGeom prst="rect">
            <a:avLst/>
          </a:prstGeom>
          <a:noFill/>
          <a:ln/>
        </p:spPr>
        <p:txBody>
          <a:bodyPr wrap="square" lIns="0" tIns="0" rIns="0" bIns="0" rtlCol="0" anchor="ctr">
            <a:normAutofit/>
          </a:bodyPr>
          <a:lstStyle/>
          <a:p>
            <a:pPr indent="0" marL="0">
              <a:buNone/>
            </a:pPr>
            <a:r>
              <a:rPr lang="en-US" sz="1100" b="1" dirty="0">
                <a:solidFill>
                  <a:srgbClr val="212529"/>
                </a:solidFill>
                <a:latin typeface="Open Sans" pitchFamily="34" charset="0"/>
                <a:ea typeface="Open Sans" pitchFamily="34" charset="-122"/>
                <a:cs typeface="Open Sans" pitchFamily="34" charset="-120"/>
              </a:rPr>
              <a:t>West</a:t>
            </a:r>
            <a:endParaRPr lang="en-US" sz="1100" dirty="0"/>
          </a:p>
        </p:txBody>
      </p:sp>
      <p:sp>
        <p:nvSpPr>
          <p:cNvPr id="16" name="Text 14"/>
          <p:cNvSpPr/>
          <p:nvPr/>
        </p:nvSpPr>
        <p:spPr>
          <a:xfrm>
            <a:off x="9006840" y="2157984"/>
            <a:ext cx="1417320" cy="237744"/>
          </a:xfrm>
          <a:prstGeom prst="rect">
            <a:avLst/>
          </a:prstGeom>
          <a:noFill/>
          <a:ln/>
        </p:spPr>
        <p:txBody>
          <a:bodyPr wrap="square" lIns="0" tIns="0" rIns="0" bIns="0" rtlCol="0" anchor="ctr">
            <a:normAutofit/>
          </a:bodyPr>
          <a:lstStyle/>
          <a:p>
            <a:pPr algn="r" indent="0" marL="0">
              <a:buNone/>
            </a:pPr>
            <a:r>
              <a:rPr lang="en-US" sz="1100" b="1" dirty="0">
                <a:solidFill>
                  <a:srgbClr val="6E9117"/>
                </a:solidFill>
                <a:latin typeface="Open Sans" pitchFamily="34" charset="0"/>
                <a:ea typeface="Open Sans" pitchFamily="34" charset="-122"/>
                <a:cs typeface="Open Sans" pitchFamily="34" charset="-120"/>
              </a:rPr>
              <a:t>+$0.94m</a:t>
            </a:r>
            <a:endParaRPr lang="en-US" sz="1100" dirty="0"/>
          </a:p>
        </p:txBody>
      </p:sp>
      <p:sp>
        <p:nvSpPr>
          <p:cNvPr id="17" name="Text 15"/>
          <p:cNvSpPr/>
          <p:nvPr/>
        </p:nvSpPr>
        <p:spPr>
          <a:xfrm>
            <a:off x="10469880" y="2157984"/>
            <a:ext cx="731520" cy="237744"/>
          </a:xfrm>
          <a:prstGeom prst="rect">
            <a:avLst/>
          </a:prstGeom>
          <a:noFill/>
          <a:ln/>
        </p:spPr>
        <p:txBody>
          <a:bodyPr wrap="square" lIns="0" tIns="0" rIns="0" bIns="0" rtlCol="0" anchor="ctr">
            <a:normAutofit/>
          </a:bodyPr>
          <a:lstStyle/>
          <a:p>
            <a:pPr algn="r" indent="0" marL="0">
              <a:buNone/>
            </a:pPr>
            <a:r>
              <a:rPr lang="en-US" sz="1000" dirty="0">
                <a:solidFill>
                  <a:srgbClr val="6C757D"/>
                </a:solidFill>
                <a:latin typeface="Open Sans" pitchFamily="34" charset="0"/>
                <a:ea typeface="Open Sans" pitchFamily="34" charset="-122"/>
                <a:cs typeface="Open Sans" pitchFamily="34" charset="-120"/>
              </a:rPr>
              <a:t>14.2%</a:t>
            </a:r>
            <a:endParaRPr lang="en-US" sz="1000" dirty="0"/>
          </a:p>
        </p:txBody>
      </p:sp>
      <p:sp>
        <p:nvSpPr>
          <p:cNvPr id="18" name="Text 16"/>
          <p:cNvSpPr/>
          <p:nvPr/>
        </p:nvSpPr>
        <p:spPr>
          <a:xfrm>
            <a:off x="7360920" y="2688336"/>
            <a:ext cx="1600200" cy="237744"/>
          </a:xfrm>
          <a:prstGeom prst="rect">
            <a:avLst/>
          </a:prstGeom>
          <a:noFill/>
          <a:ln/>
        </p:spPr>
        <p:txBody>
          <a:bodyPr wrap="square" lIns="0" tIns="0" rIns="0" bIns="0" rtlCol="0" anchor="ctr">
            <a:normAutofit/>
          </a:bodyPr>
          <a:lstStyle/>
          <a:p>
            <a:pPr indent="0" marL="0">
              <a:buNone/>
            </a:pPr>
            <a:r>
              <a:rPr lang="en-US" sz="1100" b="1" dirty="0">
                <a:solidFill>
                  <a:srgbClr val="212529"/>
                </a:solidFill>
                <a:latin typeface="Open Sans" pitchFamily="34" charset="0"/>
                <a:ea typeface="Open Sans" pitchFamily="34" charset="-122"/>
                <a:cs typeface="Open Sans" pitchFamily="34" charset="-120"/>
              </a:rPr>
              <a:t>Midwest</a:t>
            </a:r>
            <a:endParaRPr lang="en-US" sz="1100" dirty="0"/>
          </a:p>
        </p:txBody>
      </p:sp>
      <p:sp>
        <p:nvSpPr>
          <p:cNvPr id="19" name="Text 17"/>
          <p:cNvSpPr/>
          <p:nvPr/>
        </p:nvSpPr>
        <p:spPr>
          <a:xfrm>
            <a:off x="9006840" y="2688336"/>
            <a:ext cx="1417320" cy="237744"/>
          </a:xfrm>
          <a:prstGeom prst="rect">
            <a:avLst/>
          </a:prstGeom>
          <a:noFill/>
          <a:ln/>
        </p:spPr>
        <p:txBody>
          <a:bodyPr wrap="square" lIns="0" tIns="0" rIns="0" bIns="0" rtlCol="0" anchor="ctr">
            <a:normAutofit/>
          </a:bodyPr>
          <a:lstStyle/>
          <a:p>
            <a:pPr algn="r" indent="0" marL="0">
              <a:buNone/>
            </a:pPr>
            <a:r>
              <a:rPr lang="en-US" sz="1100" b="1" dirty="0">
                <a:solidFill>
                  <a:srgbClr val="6E9117"/>
                </a:solidFill>
                <a:latin typeface="Open Sans" pitchFamily="34" charset="0"/>
                <a:ea typeface="Open Sans" pitchFamily="34" charset="-122"/>
                <a:cs typeface="Open Sans" pitchFamily="34" charset="-120"/>
              </a:rPr>
              <a:t>+$0.24m</a:t>
            </a:r>
            <a:endParaRPr lang="en-US" sz="1100" dirty="0"/>
          </a:p>
        </p:txBody>
      </p:sp>
      <p:sp>
        <p:nvSpPr>
          <p:cNvPr id="20" name="Text 18"/>
          <p:cNvSpPr/>
          <p:nvPr/>
        </p:nvSpPr>
        <p:spPr>
          <a:xfrm>
            <a:off x="10469880" y="2688336"/>
            <a:ext cx="731520" cy="237744"/>
          </a:xfrm>
          <a:prstGeom prst="rect">
            <a:avLst/>
          </a:prstGeom>
          <a:noFill/>
          <a:ln/>
        </p:spPr>
        <p:txBody>
          <a:bodyPr wrap="square" lIns="0" tIns="0" rIns="0" bIns="0" rtlCol="0" anchor="ctr">
            <a:normAutofit/>
          </a:bodyPr>
          <a:lstStyle/>
          <a:p>
            <a:pPr algn="r" indent="0" marL="0">
              <a:buNone/>
            </a:pPr>
            <a:r>
              <a:rPr lang="en-US" sz="1000" dirty="0">
                <a:solidFill>
                  <a:srgbClr val="6C757D"/>
                </a:solidFill>
                <a:latin typeface="Open Sans" pitchFamily="34" charset="0"/>
                <a:ea typeface="Open Sans" pitchFamily="34" charset="-122"/>
                <a:cs typeface="Open Sans" pitchFamily="34" charset="-120"/>
              </a:rPr>
              <a:t>13.4%</a:t>
            </a:r>
            <a:endParaRPr lang="en-US" sz="1000" dirty="0"/>
          </a:p>
        </p:txBody>
      </p:sp>
      <p:sp>
        <p:nvSpPr>
          <p:cNvPr id="21" name="Text 19"/>
          <p:cNvSpPr/>
          <p:nvPr/>
        </p:nvSpPr>
        <p:spPr>
          <a:xfrm>
            <a:off x="7360920" y="3218688"/>
            <a:ext cx="1600200" cy="237744"/>
          </a:xfrm>
          <a:prstGeom prst="rect">
            <a:avLst/>
          </a:prstGeom>
          <a:noFill/>
          <a:ln/>
        </p:spPr>
        <p:txBody>
          <a:bodyPr wrap="square" lIns="0" tIns="0" rIns="0" bIns="0" rtlCol="0" anchor="ctr">
            <a:normAutofit/>
          </a:bodyPr>
          <a:lstStyle/>
          <a:p>
            <a:pPr indent="0" marL="0">
              <a:buNone/>
            </a:pPr>
            <a:r>
              <a:rPr lang="en-US" sz="1100" b="1" dirty="0">
                <a:solidFill>
                  <a:srgbClr val="212529"/>
                </a:solidFill>
                <a:latin typeface="Open Sans" pitchFamily="34" charset="0"/>
                <a:ea typeface="Open Sans" pitchFamily="34" charset="-122"/>
                <a:cs typeface="Open Sans" pitchFamily="34" charset="-120"/>
              </a:rPr>
              <a:t>South</a:t>
            </a:r>
            <a:endParaRPr lang="en-US" sz="1100" dirty="0"/>
          </a:p>
        </p:txBody>
      </p:sp>
      <p:sp>
        <p:nvSpPr>
          <p:cNvPr id="22" name="Text 20"/>
          <p:cNvSpPr/>
          <p:nvPr/>
        </p:nvSpPr>
        <p:spPr>
          <a:xfrm>
            <a:off x="9006840" y="3218688"/>
            <a:ext cx="1417320" cy="237744"/>
          </a:xfrm>
          <a:prstGeom prst="rect">
            <a:avLst/>
          </a:prstGeom>
          <a:noFill/>
          <a:ln/>
        </p:spPr>
        <p:txBody>
          <a:bodyPr wrap="square" lIns="0" tIns="0" rIns="0" bIns="0" rtlCol="0" anchor="ctr">
            <a:normAutofit/>
          </a:bodyPr>
          <a:lstStyle/>
          <a:p>
            <a:pPr algn="r" indent="0" marL="0">
              <a:buNone/>
            </a:pPr>
            <a:r>
              <a:rPr lang="en-US" sz="1100" b="1" dirty="0">
                <a:solidFill>
                  <a:srgbClr val="6E9117"/>
                </a:solidFill>
                <a:latin typeface="Open Sans" pitchFamily="34" charset="0"/>
                <a:ea typeface="Open Sans" pitchFamily="34" charset="-122"/>
                <a:cs typeface="Open Sans" pitchFamily="34" charset="-120"/>
              </a:rPr>
              <a:t>+$0.17m</a:t>
            </a:r>
            <a:endParaRPr lang="en-US" sz="1100" dirty="0"/>
          </a:p>
        </p:txBody>
      </p:sp>
      <p:sp>
        <p:nvSpPr>
          <p:cNvPr id="23" name="Text 21"/>
          <p:cNvSpPr/>
          <p:nvPr/>
        </p:nvSpPr>
        <p:spPr>
          <a:xfrm>
            <a:off x="10469880" y="3218688"/>
            <a:ext cx="731520" cy="237744"/>
          </a:xfrm>
          <a:prstGeom prst="rect">
            <a:avLst/>
          </a:prstGeom>
          <a:noFill/>
          <a:ln/>
        </p:spPr>
        <p:txBody>
          <a:bodyPr wrap="square" lIns="0" tIns="0" rIns="0" bIns="0" rtlCol="0" anchor="ctr">
            <a:normAutofit/>
          </a:bodyPr>
          <a:lstStyle/>
          <a:p>
            <a:pPr algn="r" indent="0" marL="0">
              <a:buNone/>
            </a:pPr>
            <a:r>
              <a:rPr lang="en-US" sz="1000" dirty="0">
                <a:solidFill>
                  <a:srgbClr val="6C757D"/>
                </a:solidFill>
                <a:latin typeface="Open Sans" pitchFamily="34" charset="0"/>
                <a:ea typeface="Open Sans" pitchFamily="34" charset="-122"/>
                <a:cs typeface="Open Sans" pitchFamily="34" charset="-120"/>
              </a:rPr>
              <a:t>11.5%</a:t>
            </a:r>
            <a:endParaRPr lang="en-US" sz="1000" dirty="0"/>
          </a:p>
        </p:txBody>
      </p:sp>
      <p:sp>
        <p:nvSpPr>
          <p:cNvPr id="24" name="Text 22"/>
          <p:cNvSpPr/>
          <p:nvPr/>
        </p:nvSpPr>
        <p:spPr>
          <a:xfrm>
            <a:off x="7360920" y="3749040"/>
            <a:ext cx="1600200" cy="237744"/>
          </a:xfrm>
          <a:prstGeom prst="rect">
            <a:avLst/>
          </a:prstGeom>
          <a:noFill/>
          <a:ln/>
        </p:spPr>
        <p:txBody>
          <a:bodyPr wrap="square" lIns="0" tIns="0" rIns="0" bIns="0" rtlCol="0" anchor="ctr">
            <a:normAutofit/>
          </a:bodyPr>
          <a:lstStyle/>
          <a:p>
            <a:pPr indent="0" marL="0">
              <a:buNone/>
            </a:pPr>
            <a:r>
              <a:rPr lang="en-US" sz="1100" b="1" dirty="0">
                <a:solidFill>
                  <a:srgbClr val="212529"/>
                </a:solidFill>
                <a:latin typeface="Open Sans" pitchFamily="34" charset="0"/>
                <a:ea typeface="Open Sans" pitchFamily="34" charset="-122"/>
                <a:cs typeface="Open Sans" pitchFamily="34" charset="-120"/>
              </a:rPr>
              <a:t>Northeast</a:t>
            </a:r>
            <a:endParaRPr lang="en-US" sz="1100" dirty="0"/>
          </a:p>
        </p:txBody>
      </p:sp>
      <p:sp>
        <p:nvSpPr>
          <p:cNvPr id="25" name="Text 23"/>
          <p:cNvSpPr/>
          <p:nvPr/>
        </p:nvSpPr>
        <p:spPr>
          <a:xfrm>
            <a:off x="9006840" y="3749040"/>
            <a:ext cx="1417320" cy="237744"/>
          </a:xfrm>
          <a:prstGeom prst="rect">
            <a:avLst/>
          </a:prstGeom>
          <a:noFill/>
          <a:ln/>
        </p:spPr>
        <p:txBody>
          <a:bodyPr wrap="square" lIns="0" tIns="0" rIns="0" bIns="0" rtlCol="0" anchor="ctr">
            <a:normAutofit/>
          </a:bodyPr>
          <a:lstStyle/>
          <a:p>
            <a:pPr algn="r" indent="0" marL="0">
              <a:buNone/>
            </a:pPr>
            <a:r>
              <a:rPr lang="en-US" sz="1100" b="1" dirty="0">
                <a:solidFill>
                  <a:srgbClr val="B5473A"/>
                </a:solidFill>
                <a:latin typeface="Open Sans" pitchFamily="34" charset="0"/>
                <a:ea typeface="Open Sans" pitchFamily="34" charset="-122"/>
                <a:cs typeface="Open Sans" pitchFamily="34" charset="-120"/>
              </a:rPr>
              <a:t>-$0.14m</a:t>
            </a:r>
            <a:endParaRPr lang="en-US" sz="1100" dirty="0"/>
          </a:p>
        </p:txBody>
      </p:sp>
      <p:sp>
        <p:nvSpPr>
          <p:cNvPr id="26" name="Text 24"/>
          <p:cNvSpPr/>
          <p:nvPr/>
        </p:nvSpPr>
        <p:spPr>
          <a:xfrm>
            <a:off x="10469880" y="3749040"/>
            <a:ext cx="731520" cy="237744"/>
          </a:xfrm>
          <a:prstGeom prst="rect">
            <a:avLst/>
          </a:prstGeom>
          <a:noFill/>
          <a:ln/>
        </p:spPr>
        <p:txBody>
          <a:bodyPr wrap="square" lIns="0" tIns="0" rIns="0" bIns="0" rtlCol="0" anchor="ctr">
            <a:normAutofit/>
          </a:bodyPr>
          <a:lstStyle/>
          <a:p>
            <a:pPr algn="r" indent="0" marL="0">
              <a:buNone/>
            </a:pPr>
            <a:r>
              <a:rPr lang="en-US" sz="1000" dirty="0">
                <a:solidFill>
                  <a:srgbClr val="6C757D"/>
                </a:solidFill>
                <a:latin typeface="Open Sans" pitchFamily="34" charset="0"/>
                <a:ea typeface="Open Sans" pitchFamily="34" charset="-122"/>
                <a:cs typeface="Open Sans" pitchFamily="34" charset="-120"/>
              </a:rPr>
              <a:t>-8.8%</a:t>
            </a:r>
            <a:endParaRPr lang="en-US" sz="1000" dirty="0"/>
          </a:p>
        </p:txBody>
      </p:sp>
      <p:sp>
        <p:nvSpPr>
          <p:cNvPr id="27" name="Text 25"/>
          <p:cNvSpPr/>
          <p:nvPr/>
        </p:nvSpPr>
        <p:spPr>
          <a:xfrm>
            <a:off x="877824" y="4078224"/>
            <a:ext cx="3657600" cy="228600"/>
          </a:xfrm>
          <a:prstGeom prst="rect">
            <a:avLst/>
          </a:prstGeom>
          <a:noFill/>
          <a:ln/>
        </p:spPr>
        <p:txBody>
          <a:bodyPr wrap="square" lIns="0" tIns="0" rIns="0" bIns="0" rtlCol="0" anchor="ctr">
            <a:normAutofit/>
          </a:bodyPr>
          <a:lstStyle/>
          <a:p>
            <a:pPr indent="0" marL="0">
              <a:buNone/>
            </a:pPr>
            <a:r>
              <a:rPr lang="en-US" sz="1000" b="1" dirty="0">
                <a:solidFill>
                  <a:srgbClr val="6E9117"/>
                </a:solidFill>
                <a:latin typeface="Open Sans" pitchFamily="34" charset="0"/>
                <a:ea typeface="Open Sans" pitchFamily="34" charset="-122"/>
                <a:cs typeface="Open Sans" pitchFamily="34" charset="-120"/>
              </a:rPr>
              <a:t>TOP PRODUCT SALES INCREASES</a:t>
            </a:r>
            <a:endParaRPr lang="en-US" sz="1000" dirty="0"/>
          </a:p>
        </p:txBody>
      </p:sp>
      <p:sp>
        <p:nvSpPr>
          <p:cNvPr id="28" name="Text 26"/>
          <p:cNvSpPr/>
          <p:nvPr/>
        </p:nvSpPr>
        <p:spPr>
          <a:xfrm>
            <a:off x="896112" y="4443984"/>
            <a:ext cx="2240280" cy="219456"/>
          </a:xfrm>
          <a:prstGeom prst="rect">
            <a:avLst/>
          </a:prstGeom>
          <a:noFill/>
          <a:ln/>
        </p:spPr>
        <p:txBody>
          <a:bodyPr wrap="square" lIns="0" tIns="0" rIns="0" bIns="0" rtlCol="0" anchor="ctr">
            <a:normAutofit/>
          </a:bodyPr>
          <a:lstStyle/>
          <a:p>
            <a:pPr indent="0" marL="0">
              <a:buNone/>
            </a:pPr>
            <a:r>
              <a:rPr lang="en-US" sz="1100" b="1" dirty="0">
                <a:solidFill>
                  <a:srgbClr val="212529"/>
                </a:solidFill>
                <a:latin typeface="Open Sans" pitchFamily="34" charset="0"/>
                <a:ea typeface="Open Sans" pitchFamily="34" charset="-122"/>
                <a:cs typeface="Open Sans" pitchFamily="34" charset="-120"/>
              </a:rPr>
              <a:t>Dinnerware</a:t>
            </a:r>
            <a:endParaRPr lang="en-US" sz="1100" dirty="0"/>
          </a:p>
        </p:txBody>
      </p:sp>
      <p:sp>
        <p:nvSpPr>
          <p:cNvPr id="29" name="Text 27"/>
          <p:cNvSpPr/>
          <p:nvPr/>
        </p:nvSpPr>
        <p:spPr>
          <a:xfrm>
            <a:off x="3246120" y="4443984"/>
            <a:ext cx="1143000" cy="219456"/>
          </a:xfrm>
          <a:prstGeom prst="rect">
            <a:avLst/>
          </a:prstGeom>
          <a:noFill/>
          <a:ln/>
        </p:spPr>
        <p:txBody>
          <a:bodyPr wrap="square" lIns="0" tIns="0" rIns="0" bIns="0" rtlCol="0" anchor="ctr">
            <a:normAutofit/>
          </a:bodyPr>
          <a:lstStyle/>
          <a:p>
            <a:pPr indent="0" marL="0">
              <a:buNone/>
            </a:pPr>
            <a:r>
              <a:rPr lang="en-US" sz="1100" b="1" dirty="0">
                <a:solidFill>
                  <a:srgbClr val="212529"/>
                </a:solidFill>
                <a:latin typeface="Open Sans" pitchFamily="34" charset="0"/>
                <a:ea typeface="Open Sans" pitchFamily="34" charset="-122"/>
                <a:cs typeface="Open Sans" pitchFamily="34" charset="-120"/>
              </a:rPr>
              <a:t>+$0.21m</a:t>
            </a:r>
            <a:endParaRPr lang="en-US" sz="1100" dirty="0"/>
          </a:p>
        </p:txBody>
      </p:sp>
      <p:sp>
        <p:nvSpPr>
          <p:cNvPr id="30" name="Text 28"/>
          <p:cNvSpPr/>
          <p:nvPr/>
        </p:nvSpPr>
        <p:spPr>
          <a:xfrm>
            <a:off x="4663440" y="4443984"/>
            <a:ext cx="1005840" cy="219456"/>
          </a:xfrm>
          <a:prstGeom prst="rect">
            <a:avLst/>
          </a:prstGeom>
          <a:noFill/>
          <a:ln/>
        </p:spPr>
        <p:txBody>
          <a:bodyPr wrap="square" lIns="0" tIns="0" rIns="0" bIns="0" rtlCol="0" anchor="ctr">
            <a:normAutofit/>
          </a:bodyPr>
          <a:lstStyle/>
          <a:p>
            <a:pPr indent="0" marL="0">
              <a:buNone/>
            </a:pPr>
            <a:r>
              <a:rPr lang="en-US" sz="1000" dirty="0">
                <a:solidFill>
                  <a:srgbClr val="6C757D"/>
                </a:solidFill>
                <a:latin typeface="Open Sans" pitchFamily="34" charset="0"/>
                <a:ea typeface="Open Sans" pitchFamily="34" charset="-122"/>
                <a:cs typeface="Open Sans" pitchFamily="34" charset="-120"/>
              </a:rPr>
              <a:t>42.5% GM</a:t>
            </a:r>
            <a:endParaRPr lang="en-US" sz="1000" dirty="0"/>
          </a:p>
        </p:txBody>
      </p:sp>
      <p:sp>
        <p:nvSpPr>
          <p:cNvPr id="31" name="Text 29"/>
          <p:cNvSpPr/>
          <p:nvPr/>
        </p:nvSpPr>
        <p:spPr>
          <a:xfrm>
            <a:off x="896112" y="4837176"/>
            <a:ext cx="2240280" cy="219456"/>
          </a:xfrm>
          <a:prstGeom prst="rect">
            <a:avLst/>
          </a:prstGeom>
          <a:noFill/>
          <a:ln/>
        </p:spPr>
        <p:txBody>
          <a:bodyPr wrap="square" lIns="0" tIns="0" rIns="0" bIns="0" rtlCol="0" anchor="ctr">
            <a:normAutofit/>
          </a:bodyPr>
          <a:lstStyle/>
          <a:p>
            <a:pPr indent="0" marL="0">
              <a:buNone/>
            </a:pPr>
            <a:r>
              <a:rPr lang="en-US" sz="1100" b="1" dirty="0">
                <a:solidFill>
                  <a:srgbClr val="212529"/>
                </a:solidFill>
                <a:latin typeface="Open Sans" pitchFamily="34" charset="0"/>
                <a:ea typeface="Open Sans" pitchFamily="34" charset="-122"/>
                <a:cs typeface="Open Sans" pitchFamily="34" charset="-120"/>
              </a:rPr>
              <a:t>Cookware</a:t>
            </a:r>
            <a:endParaRPr lang="en-US" sz="1100" dirty="0"/>
          </a:p>
        </p:txBody>
      </p:sp>
      <p:sp>
        <p:nvSpPr>
          <p:cNvPr id="32" name="Text 30"/>
          <p:cNvSpPr/>
          <p:nvPr/>
        </p:nvSpPr>
        <p:spPr>
          <a:xfrm>
            <a:off x="3246120" y="4837176"/>
            <a:ext cx="1143000" cy="219456"/>
          </a:xfrm>
          <a:prstGeom prst="rect">
            <a:avLst/>
          </a:prstGeom>
          <a:noFill/>
          <a:ln/>
        </p:spPr>
        <p:txBody>
          <a:bodyPr wrap="square" lIns="0" tIns="0" rIns="0" bIns="0" rtlCol="0" anchor="ctr">
            <a:normAutofit/>
          </a:bodyPr>
          <a:lstStyle/>
          <a:p>
            <a:pPr indent="0" marL="0">
              <a:buNone/>
            </a:pPr>
            <a:r>
              <a:rPr lang="en-US" sz="1100" b="1" dirty="0">
                <a:solidFill>
                  <a:srgbClr val="212529"/>
                </a:solidFill>
                <a:latin typeface="Open Sans" pitchFamily="34" charset="0"/>
                <a:ea typeface="Open Sans" pitchFamily="34" charset="-122"/>
                <a:cs typeface="Open Sans" pitchFamily="34" charset="-120"/>
              </a:rPr>
              <a:t>+$0.21m</a:t>
            </a:r>
            <a:endParaRPr lang="en-US" sz="1100" dirty="0"/>
          </a:p>
        </p:txBody>
      </p:sp>
      <p:sp>
        <p:nvSpPr>
          <p:cNvPr id="33" name="Text 31"/>
          <p:cNvSpPr/>
          <p:nvPr/>
        </p:nvSpPr>
        <p:spPr>
          <a:xfrm>
            <a:off x="4663440" y="4837176"/>
            <a:ext cx="1005840" cy="219456"/>
          </a:xfrm>
          <a:prstGeom prst="rect">
            <a:avLst/>
          </a:prstGeom>
          <a:noFill/>
          <a:ln/>
        </p:spPr>
        <p:txBody>
          <a:bodyPr wrap="square" lIns="0" tIns="0" rIns="0" bIns="0" rtlCol="0" anchor="ctr">
            <a:normAutofit/>
          </a:bodyPr>
          <a:lstStyle/>
          <a:p>
            <a:pPr indent="0" marL="0">
              <a:buNone/>
            </a:pPr>
            <a:r>
              <a:rPr lang="en-US" sz="1000" dirty="0">
                <a:solidFill>
                  <a:srgbClr val="6C757D"/>
                </a:solidFill>
                <a:latin typeface="Open Sans" pitchFamily="34" charset="0"/>
                <a:ea typeface="Open Sans" pitchFamily="34" charset="-122"/>
                <a:cs typeface="Open Sans" pitchFamily="34" charset="-120"/>
              </a:rPr>
              <a:t>38.8% GM</a:t>
            </a:r>
            <a:endParaRPr lang="en-US" sz="1000" dirty="0"/>
          </a:p>
        </p:txBody>
      </p:sp>
      <p:sp>
        <p:nvSpPr>
          <p:cNvPr id="34" name="Text 32"/>
          <p:cNvSpPr/>
          <p:nvPr/>
        </p:nvSpPr>
        <p:spPr>
          <a:xfrm>
            <a:off x="896112" y="5230368"/>
            <a:ext cx="2240280" cy="219456"/>
          </a:xfrm>
          <a:prstGeom prst="rect">
            <a:avLst/>
          </a:prstGeom>
          <a:noFill/>
          <a:ln/>
        </p:spPr>
        <p:txBody>
          <a:bodyPr wrap="square" lIns="0" tIns="0" rIns="0" bIns="0" rtlCol="0" anchor="ctr">
            <a:normAutofit/>
          </a:bodyPr>
          <a:lstStyle/>
          <a:p>
            <a:pPr indent="0" marL="0">
              <a:buNone/>
            </a:pPr>
            <a:r>
              <a:rPr lang="en-US" sz="1100" b="1" dirty="0">
                <a:solidFill>
                  <a:srgbClr val="212529"/>
                </a:solidFill>
                <a:latin typeface="Open Sans" pitchFamily="34" charset="0"/>
                <a:ea typeface="Open Sans" pitchFamily="34" charset="-122"/>
                <a:cs typeface="Open Sans" pitchFamily="34" charset="-120"/>
              </a:rPr>
              <a:t>Candles</a:t>
            </a:r>
            <a:endParaRPr lang="en-US" sz="1100" dirty="0"/>
          </a:p>
        </p:txBody>
      </p:sp>
      <p:sp>
        <p:nvSpPr>
          <p:cNvPr id="35" name="Text 33"/>
          <p:cNvSpPr/>
          <p:nvPr/>
        </p:nvSpPr>
        <p:spPr>
          <a:xfrm>
            <a:off x="3246120" y="5230368"/>
            <a:ext cx="1143000" cy="219456"/>
          </a:xfrm>
          <a:prstGeom prst="rect">
            <a:avLst/>
          </a:prstGeom>
          <a:noFill/>
          <a:ln/>
        </p:spPr>
        <p:txBody>
          <a:bodyPr wrap="square" lIns="0" tIns="0" rIns="0" bIns="0" rtlCol="0" anchor="ctr">
            <a:normAutofit/>
          </a:bodyPr>
          <a:lstStyle/>
          <a:p>
            <a:pPr indent="0" marL="0">
              <a:buNone/>
            </a:pPr>
            <a:r>
              <a:rPr lang="en-US" sz="1100" b="1" dirty="0">
                <a:solidFill>
                  <a:srgbClr val="212529"/>
                </a:solidFill>
                <a:latin typeface="Open Sans" pitchFamily="34" charset="0"/>
                <a:ea typeface="Open Sans" pitchFamily="34" charset="-122"/>
                <a:cs typeface="Open Sans" pitchFamily="34" charset="-120"/>
              </a:rPr>
              <a:t>+$0.17m</a:t>
            </a:r>
            <a:endParaRPr lang="en-US" sz="1100" dirty="0"/>
          </a:p>
        </p:txBody>
      </p:sp>
      <p:sp>
        <p:nvSpPr>
          <p:cNvPr id="36" name="Text 34"/>
          <p:cNvSpPr/>
          <p:nvPr/>
        </p:nvSpPr>
        <p:spPr>
          <a:xfrm>
            <a:off x="4663440" y="5230368"/>
            <a:ext cx="1005840" cy="219456"/>
          </a:xfrm>
          <a:prstGeom prst="rect">
            <a:avLst/>
          </a:prstGeom>
          <a:noFill/>
          <a:ln/>
        </p:spPr>
        <p:txBody>
          <a:bodyPr wrap="square" lIns="0" tIns="0" rIns="0" bIns="0" rtlCol="0" anchor="ctr">
            <a:normAutofit/>
          </a:bodyPr>
          <a:lstStyle/>
          <a:p>
            <a:pPr indent="0" marL="0">
              <a:buNone/>
            </a:pPr>
            <a:r>
              <a:rPr lang="en-US" sz="1000" dirty="0">
                <a:solidFill>
                  <a:srgbClr val="6C757D"/>
                </a:solidFill>
                <a:latin typeface="Open Sans" pitchFamily="34" charset="0"/>
                <a:ea typeface="Open Sans" pitchFamily="34" charset="-122"/>
                <a:cs typeface="Open Sans" pitchFamily="34" charset="-120"/>
              </a:rPr>
              <a:t>50.9% GM</a:t>
            </a:r>
            <a:endParaRPr lang="en-US" sz="1000" dirty="0"/>
          </a:p>
        </p:txBody>
      </p:sp>
      <p:sp>
        <p:nvSpPr>
          <p:cNvPr id="37" name="Text 35"/>
          <p:cNvSpPr/>
          <p:nvPr/>
        </p:nvSpPr>
        <p:spPr>
          <a:xfrm>
            <a:off x="859536" y="5961888"/>
            <a:ext cx="10515600" cy="201168"/>
          </a:xfrm>
          <a:prstGeom prst="rect">
            <a:avLst/>
          </a:prstGeom>
          <a:noFill/>
          <a:ln/>
        </p:spPr>
        <p:txBody>
          <a:bodyPr wrap="square" lIns="0" tIns="0" rIns="0" bIns="0" rtlCol="0" anchor="ctr">
            <a:normAutofit/>
          </a:bodyPr>
          <a:lstStyle/>
          <a:p>
            <a:pPr indent="0" marL="0">
              <a:buNone/>
            </a:pPr>
            <a:r>
              <a:rPr lang="en-US" sz="900" dirty="0">
                <a:solidFill>
                  <a:srgbClr val="6C757D"/>
                </a:solidFill>
                <a:latin typeface="Open Sans" pitchFamily="34" charset="0"/>
                <a:ea typeface="Open Sans" pitchFamily="34" charset="-122"/>
                <a:cs typeface="Open Sans" pitchFamily="34" charset="-120"/>
              </a:rPr>
              <a:t>Growth decomposition and segment changes are descriptive, not causal.</a:t>
            </a:r>
            <a:endParaRPr lang="en-US" sz="900" dirty="0"/>
          </a:p>
        </p:txBody>
      </p:sp>
      <p:sp>
        <p:nvSpPr>
          <p:cNvPr id="25" name="Slide Number Placeholder 0"/>
          <p:cNvSpPr>
            <a:spLocks noGrp="1"/>
          </p:cNvSpPr>
          <p:nvPr>
            <p:ph type="sldNum" sz="quarter" idx="4294967295"/>
          </p:nvPr>
        </p:nvSpPr>
        <p:spPr>
          <a:xfrm>
            <a:off x="11201400"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6C757D"/>
                </a:solidFill>
                <a:latin typeface="Open Sans"/>
                <a:ea typeface="Open Sans"/>
                <a:cs typeface="Open Sans"/>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384048"/>
            <a:ext cx="10789920" cy="219456"/>
          </a:xfrm>
          <a:prstGeom prst="rect">
            <a:avLst/>
          </a:prstGeom>
          <a:noFill/>
          <a:ln/>
        </p:spPr>
        <p:txBody>
          <a:bodyPr wrap="square" lIns="0" tIns="0" rIns="0" bIns="0" rtlCol="0" anchor="ctr">
            <a:normAutofit/>
          </a:bodyPr>
          <a:lstStyle/>
          <a:p>
            <a:pPr indent="0" marL="0">
              <a:buNone/>
            </a:pPr>
            <a:r>
              <a:rPr lang="en-US" sz="1000" b="1" spc="120" kern="0" dirty="0">
                <a:solidFill>
                  <a:srgbClr val="6E9117"/>
                </a:solidFill>
                <a:latin typeface="Open Sans" pitchFamily="34" charset="0"/>
                <a:ea typeface="Open Sans" pitchFamily="34" charset="-122"/>
                <a:cs typeface="Open Sans" pitchFamily="34" charset="-120"/>
              </a:rPr>
              <a:t>GROSS PROFIT OPPORTUNITIES</a:t>
            </a:r>
            <a:endParaRPr lang="en-US" sz="1000" dirty="0"/>
          </a:p>
        </p:txBody>
      </p:sp>
      <p:sp>
        <p:nvSpPr>
          <p:cNvPr id="3" name="Text 1"/>
          <p:cNvSpPr/>
          <p:nvPr/>
        </p:nvSpPr>
        <p:spPr>
          <a:xfrm>
            <a:off x="566928" y="694944"/>
            <a:ext cx="10972800" cy="475488"/>
          </a:xfrm>
          <a:prstGeom prst="rect">
            <a:avLst/>
          </a:prstGeom>
          <a:noFill/>
          <a:ln/>
        </p:spPr>
        <p:txBody>
          <a:bodyPr wrap="square" lIns="0" tIns="0" rIns="0" bIns="0" rtlCol="0" anchor="ctr">
            <a:normAutofit/>
          </a:bodyPr>
          <a:lstStyle/>
          <a:p>
            <a:pPr indent="0" marL="0">
              <a:buNone/>
            </a:pPr>
            <a:r>
              <a:rPr lang="en-US" sz="2500" b="1" dirty="0">
                <a:solidFill>
                  <a:srgbClr val="212529"/>
                </a:solidFill>
                <a:latin typeface="Open Sans" pitchFamily="34" charset="0"/>
                <a:ea typeface="Open Sans" pitchFamily="34" charset="-122"/>
                <a:cs typeface="Open Sans" pitchFamily="34" charset="-120"/>
              </a:rPr>
              <a:t>Protect high-margin growth; diagnose thin-margin volume</a:t>
            </a:r>
            <a:endParaRPr lang="en-US" sz="2500" dirty="0"/>
          </a:p>
        </p:txBody>
      </p:sp>
      <p:sp>
        <p:nvSpPr>
          <p:cNvPr id="4" name="Text 2"/>
          <p:cNvSpPr/>
          <p:nvPr/>
        </p:nvSpPr>
        <p:spPr>
          <a:xfrm>
            <a:off x="566928" y="1207008"/>
            <a:ext cx="10972800" cy="292608"/>
          </a:xfrm>
          <a:prstGeom prst="rect">
            <a:avLst/>
          </a:prstGeom>
          <a:noFill/>
          <a:ln/>
        </p:spPr>
        <p:txBody>
          <a:bodyPr wrap="square" lIns="0" tIns="0" rIns="0" bIns="0" rtlCol="0" anchor="ctr">
            <a:normAutofit/>
          </a:bodyPr>
          <a:lstStyle/>
          <a:p>
            <a:pPr indent="0" marL="0">
              <a:buNone/>
            </a:pPr>
            <a:r>
              <a:rPr lang="en-US" sz="1100" dirty="0">
                <a:solidFill>
                  <a:srgbClr val="6C757D"/>
                </a:solidFill>
                <a:latin typeface="Open Sans" pitchFamily="34" charset="0"/>
                <a:ea typeface="Open Sans" pitchFamily="34" charset="-122"/>
                <a:cs typeface="Open Sans" pitchFamily="34" charset="-120"/>
              </a:rPr>
              <a:t>Gross margin is gross profit divided by standard-cost-covered net sales.</a:t>
            </a:r>
            <a:endParaRPr lang="en-US" sz="1100" dirty="0"/>
          </a:p>
        </p:txBody>
      </p:sp>
      <p:sp>
        <p:nvSpPr>
          <p:cNvPr id="5" name="Text 3"/>
          <p:cNvSpPr/>
          <p:nvPr/>
        </p:nvSpPr>
        <p:spPr>
          <a:xfrm>
            <a:off x="896112" y="1819656"/>
            <a:ext cx="1508760" cy="228600"/>
          </a:xfrm>
          <a:prstGeom prst="rect">
            <a:avLst/>
          </a:prstGeom>
          <a:noFill/>
          <a:ln/>
        </p:spPr>
        <p:txBody>
          <a:bodyPr wrap="square" lIns="0" tIns="0" rIns="0" bIns="0" rtlCol="0" anchor="ctr">
            <a:normAutofit/>
          </a:bodyPr>
          <a:lstStyle/>
          <a:p>
            <a:pPr indent="0" marL="0">
              <a:buNone/>
            </a:pPr>
            <a:r>
              <a:rPr lang="en-US" sz="1000" b="1" dirty="0">
                <a:solidFill>
                  <a:srgbClr val="212529"/>
                </a:solidFill>
                <a:latin typeface="Open Sans" pitchFamily="34" charset="0"/>
                <a:ea typeface="Open Sans" pitchFamily="34" charset="-122"/>
                <a:cs typeface="Open Sans" pitchFamily="34" charset="-120"/>
              </a:rPr>
              <a:t>Bathroom Furniture</a:t>
            </a:r>
            <a:endParaRPr lang="en-US" sz="1000" dirty="0"/>
          </a:p>
        </p:txBody>
      </p:sp>
      <p:sp>
        <p:nvSpPr>
          <p:cNvPr id="6" name="Shape 4"/>
          <p:cNvSpPr/>
          <p:nvPr/>
        </p:nvSpPr>
        <p:spPr>
          <a:xfrm>
            <a:off x="2496312" y="1865376"/>
            <a:ext cx="4251960" cy="310896"/>
          </a:xfrm>
          <a:prstGeom prst="roundRect">
            <a:avLst>
              <a:gd name="adj" fmla="val 11765"/>
            </a:avLst>
          </a:prstGeom>
          <a:solidFill>
            <a:srgbClr val="E9ECEF"/>
          </a:solidFill>
          <a:ln w="12700">
            <a:solidFill>
              <a:srgbClr val="E9ECEF">
                <a:alpha val="0"/>
              </a:srgbClr>
            </a:solidFill>
            <a:prstDash val="solid"/>
          </a:ln>
        </p:spPr>
      </p:sp>
      <p:sp>
        <p:nvSpPr>
          <p:cNvPr id="7" name="Shape 5"/>
          <p:cNvSpPr/>
          <p:nvPr/>
        </p:nvSpPr>
        <p:spPr>
          <a:xfrm>
            <a:off x="2496312" y="1865376"/>
            <a:ext cx="1617585" cy="310896"/>
          </a:xfrm>
          <a:prstGeom prst="roundRect">
            <a:avLst>
              <a:gd name="adj" fmla="val 11765"/>
            </a:avLst>
          </a:prstGeom>
          <a:solidFill>
            <a:srgbClr val="B5473A"/>
          </a:solidFill>
          <a:ln w="12700">
            <a:solidFill>
              <a:srgbClr val="B5473A">
                <a:alpha val="0"/>
              </a:srgbClr>
            </a:solidFill>
            <a:prstDash val="solid"/>
          </a:ln>
        </p:spPr>
      </p:sp>
      <p:sp>
        <p:nvSpPr>
          <p:cNvPr id="8" name="Text 6"/>
          <p:cNvSpPr/>
          <p:nvPr/>
        </p:nvSpPr>
        <p:spPr>
          <a:xfrm>
            <a:off x="6821424" y="1828800"/>
            <a:ext cx="713232" cy="228600"/>
          </a:xfrm>
          <a:prstGeom prst="rect">
            <a:avLst/>
          </a:prstGeom>
          <a:noFill/>
          <a:ln/>
        </p:spPr>
        <p:txBody>
          <a:bodyPr wrap="square" lIns="0" tIns="0" rIns="0" bIns="0" rtlCol="0" anchor="ctr">
            <a:normAutofit/>
          </a:bodyPr>
          <a:lstStyle/>
          <a:p>
            <a:pPr algn="r" indent="0" marL="0">
              <a:buNone/>
            </a:pPr>
            <a:r>
              <a:rPr lang="en-US" sz="1000" b="1" dirty="0">
                <a:solidFill>
                  <a:srgbClr val="212529"/>
                </a:solidFill>
                <a:latin typeface="Open Sans" pitchFamily="34" charset="0"/>
                <a:ea typeface="Open Sans" pitchFamily="34" charset="-122"/>
                <a:cs typeface="Open Sans" pitchFamily="34" charset="-120"/>
              </a:rPr>
              <a:t>22.8%</a:t>
            </a:r>
            <a:endParaRPr lang="en-US" sz="1000" dirty="0"/>
          </a:p>
        </p:txBody>
      </p:sp>
      <p:sp>
        <p:nvSpPr>
          <p:cNvPr id="9" name="Text 7"/>
          <p:cNvSpPr/>
          <p:nvPr/>
        </p:nvSpPr>
        <p:spPr>
          <a:xfrm>
            <a:off x="7315200" y="1847088"/>
            <a:ext cx="1508760" cy="237744"/>
          </a:xfrm>
          <a:prstGeom prst="rect">
            <a:avLst/>
          </a:prstGeom>
          <a:noFill/>
          <a:ln/>
        </p:spPr>
        <p:txBody>
          <a:bodyPr wrap="square" lIns="0" tIns="0" rIns="0" bIns="0" rtlCol="0" anchor="ctr">
            <a:normAutofit/>
          </a:bodyPr>
          <a:lstStyle/>
          <a:p>
            <a:pPr indent="0" marL="0">
              <a:buNone/>
            </a:pPr>
            <a:r>
              <a:rPr lang="en-US" sz="1000" dirty="0">
                <a:solidFill>
                  <a:srgbClr val="6C757D"/>
                </a:solidFill>
                <a:latin typeface="Open Sans" pitchFamily="34" charset="0"/>
                <a:ea typeface="Open Sans" pitchFamily="34" charset="-122"/>
                <a:cs typeface="Open Sans" pitchFamily="34" charset="-120"/>
              </a:rPr>
              <a:t>$0.7m sales</a:t>
            </a:r>
            <a:endParaRPr lang="en-US" sz="1000" dirty="0"/>
          </a:p>
        </p:txBody>
      </p:sp>
      <p:sp>
        <p:nvSpPr>
          <p:cNvPr id="10" name="Text 8"/>
          <p:cNvSpPr/>
          <p:nvPr/>
        </p:nvSpPr>
        <p:spPr>
          <a:xfrm>
            <a:off x="8823960" y="1847088"/>
            <a:ext cx="1463040" cy="237744"/>
          </a:xfrm>
          <a:prstGeom prst="rect">
            <a:avLst/>
          </a:prstGeom>
          <a:noFill/>
          <a:ln/>
        </p:spPr>
        <p:txBody>
          <a:bodyPr wrap="square" lIns="0" tIns="0" rIns="0" bIns="0" rtlCol="0" anchor="ctr">
            <a:normAutofit/>
          </a:bodyPr>
          <a:lstStyle/>
          <a:p>
            <a:pPr indent="0" marL="0">
              <a:buNone/>
            </a:pPr>
            <a:r>
              <a:rPr lang="en-US" sz="1000" b="1" dirty="0">
                <a:solidFill>
                  <a:srgbClr val="212529"/>
                </a:solidFill>
                <a:latin typeface="Open Sans" pitchFamily="34" charset="0"/>
                <a:ea typeface="Open Sans" pitchFamily="34" charset="-122"/>
                <a:cs typeface="Open Sans" pitchFamily="34" charset="-120"/>
              </a:rPr>
              <a:t>$0.2m GP</a:t>
            </a:r>
            <a:endParaRPr lang="en-US" sz="1000" dirty="0"/>
          </a:p>
        </p:txBody>
      </p:sp>
      <p:sp>
        <p:nvSpPr>
          <p:cNvPr id="11" name="Text 9"/>
          <p:cNvSpPr/>
          <p:nvPr/>
        </p:nvSpPr>
        <p:spPr>
          <a:xfrm>
            <a:off x="896112" y="2414016"/>
            <a:ext cx="1508760" cy="228600"/>
          </a:xfrm>
          <a:prstGeom prst="rect">
            <a:avLst/>
          </a:prstGeom>
          <a:noFill/>
          <a:ln/>
        </p:spPr>
        <p:txBody>
          <a:bodyPr wrap="square" lIns="0" tIns="0" rIns="0" bIns="0" rtlCol="0" anchor="ctr">
            <a:normAutofit/>
          </a:bodyPr>
          <a:lstStyle/>
          <a:p>
            <a:pPr indent="0" marL="0">
              <a:buNone/>
            </a:pPr>
            <a:r>
              <a:rPr lang="en-US" sz="1000" b="1" dirty="0">
                <a:solidFill>
                  <a:srgbClr val="212529"/>
                </a:solidFill>
                <a:latin typeface="Open Sans" pitchFamily="34" charset="0"/>
                <a:ea typeface="Open Sans" pitchFamily="34" charset="-122"/>
                <a:cs typeface="Open Sans" pitchFamily="34" charset="-120"/>
              </a:rPr>
              <a:t>Wardrobes</a:t>
            </a:r>
            <a:endParaRPr lang="en-US" sz="1000" dirty="0"/>
          </a:p>
        </p:txBody>
      </p:sp>
      <p:sp>
        <p:nvSpPr>
          <p:cNvPr id="12" name="Shape 10"/>
          <p:cNvSpPr/>
          <p:nvPr/>
        </p:nvSpPr>
        <p:spPr>
          <a:xfrm>
            <a:off x="2496312" y="2459736"/>
            <a:ext cx="4251960" cy="310896"/>
          </a:xfrm>
          <a:prstGeom prst="roundRect">
            <a:avLst>
              <a:gd name="adj" fmla="val 11765"/>
            </a:avLst>
          </a:prstGeom>
          <a:solidFill>
            <a:srgbClr val="E9ECEF"/>
          </a:solidFill>
          <a:ln w="12700">
            <a:solidFill>
              <a:srgbClr val="E9ECEF">
                <a:alpha val="0"/>
              </a:srgbClr>
            </a:solidFill>
            <a:prstDash val="solid"/>
          </a:ln>
        </p:spPr>
      </p:sp>
      <p:sp>
        <p:nvSpPr>
          <p:cNvPr id="13" name="Shape 11"/>
          <p:cNvSpPr/>
          <p:nvPr/>
        </p:nvSpPr>
        <p:spPr>
          <a:xfrm>
            <a:off x="2496312" y="2459736"/>
            <a:ext cx="1664582" cy="310896"/>
          </a:xfrm>
          <a:prstGeom prst="roundRect">
            <a:avLst>
              <a:gd name="adj" fmla="val 11765"/>
            </a:avLst>
          </a:prstGeom>
          <a:solidFill>
            <a:srgbClr val="B5473A"/>
          </a:solidFill>
          <a:ln w="12700">
            <a:solidFill>
              <a:srgbClr val="B5473A">
                <a:alpha val="0"/>
              </a:srgbClr>
            </a:solidFill>
            <a:prstDash val="solid"/>
          </a:ln>
        </p:spPr>
      </p:sp>
      <p:sp>
        <p:nvSpPr>
          <p:cNvPr id="14" name="Text 12"/>
          <p:cNvSpPr/>
          <p:nvPr/>
        </p:nvSpPr>
        <p:spPr>
          <a:xfrm>
            <a:off x="6821424" y="2423160"/>
            <a:ext cx="713232" cy="228600"/>
          </a:xfrm>
          <a:prstGeom prst="rect">
            <a:avLst/>
          </a:prstGeom>
          <a:noFill/>
          <a:ln/>
        </p:spPr>
        <p:txBody>
          <a:bodyPr wrap="square" lIns="0" tIns="0" rIns="0" bIns="0" rtlCol="0" anchor="ctr">
            <a:normAutofit/>
          </a:bodyPr>
          <a:lstStyle/>
          <a:p>
            <a:pPr algn="r" indent="0" marL="0">
              <a:buNone/>
            </a:pPr>
            <a:r>
              <a:rPr lang="en-US" sz="1000" b="1" dirty="0">
                <a:solidFill>
                  <a:srgbClr val="212529"/>
                </a:solidFill>
                <a:latin typeface="Open Sans" pitchFamily="34" charset="0"/>
                <a:ea typeface="Open Sans" pitchFamily="34" charset="-122"/>
                <a:cs typeface="Open Sans" pitchFamily="34" charset="-120"/>
              </a:rPr>
              <a:t>23.5%</a:t>
            </a:r>
            <a:endParaRPr lang="en-US" sz="1000" dirty="0"/>
          </a:p>
        </p:txBody>
      </p:sp>
      <p:sp>
        <p:nvSpPr>
          <p:cNvPr id="15" name="Text 13"/>
          <p:cNvSpPr/>
          <p:nvPr/>
        </p:nvSpPr>
        <p:spPr>
          <a:xfrm>
            <a:off x="7315200" y="2441448"/>
            <a:ext cx="1508760" cy="237744"/>
          </a:xfrm>
          <a:prstGeom prst="rect">
            <a:avLst/>
          </a:prstGeom>
          <a:noFill/>
          <a:ln/>
        </p:spPr>
        <p:txBody>
          <a:bodyPr wrap="square" lIns="0" tIns="0" rIns="0" bIns="0" rtlCol="0" anchor="ctr">
            <a:normAutofit/>
          </a:bodyPr>
          <a:lstStyle/>
          <a:p>
            <a:pPr indent="0" marL="0">
              <a:buNone/>
            </a:pPr>
            <a:r>
              <a:rPr lang="en-US" sz="1000" dirty="0">
                <a:solidFill>
                  <a:srgbClr val="6C757D"/>
                </a:solidFill>
                <a:latin typeface="Open Sans" pitchFamily="34" charset="0"/>
                <a:ea typeface="Open Sans" pitchFamily="34" charset="-122"/>
                <a:cs typeface="Open Sans" pitchFamily="34" charset="-120"/>
              </a:rPr>
              <a:t>$0.5m sales</a:t>
            </a:r>
            <a:endParaRPr lang="en-US" sz="1000" dirty="0"/>
          </a:p>
        </p:txBody>
      </p:sp>
      <p:sp>
        <p:nvSpPr>
          <p:cNvPr id="16" name="Text 14"/>
          <p:cNvSpPr/>
          <p:nvPr/>
        </p:nvSpPr>
        <p:spPr>
          <a:xfrm>
            <a:off x="8823960" y="2441448"/>
            <a:ext cx="1463040" cy="237744"/>
          </a:xfrm>
          <a:prstGeom prst="rect">
            <a:avLst/>
          </a:prstGeom>
          <a:noFill/>
          <a:ln/>
        </p:spPr>
        <p:txBody>
          <a:bodyPr wrap="square" lIns="0" tIns="0" rIns="0" bIns="0" rtlCol="0" anchor="ctr">
            <a:normAutofit/>
          </a:bodyPr>
          <a:lstStyle/>
          <a:p>
            <a:pPr indent="0" marL="0">
              <a:buNone/>
            </a:pPr>
            <a:r>
              <a:rPr lang="en-US" sz="1000" b="1" dirty="0">
                <a:solidFill>
                  <a:srgbClr val="212529"/>
                </a:solidFill>
                <a:latin typeface="Open Sans" pitchFamily="34" charset="0"/>
                <a:ea typeface="Open Sans" pitchFamily="34" charset="-122"/>
                <a:cs typeface="Open Sans" pitchFamily="34" charset="-120"/>
              </a:rPr>
              <a:t>$0.1m GP</a:t>
            </a:r>
            <a:endParaRPr lang="en-US" sz="1000" dirty="0"/>
          </a:p>
        </p:txBody>
      </p:sp>
      <p:sp>
        <p:nvSpPr>
          <p:cNvPr id="17" name="Text 15"/>
          <p:cNvSpPr/>
          <p:nvPr/>
        </p:nvSpPr>
        <p:spPr>
          <a:xfrm>
            <a:off x="896112" y="3008376"/>
            <a:ext cx="1508760" cy="228600"/>
          </a:xfrm>
          <a:prstGeom prst="rect">
            <a:avLst/>
          </a:prstGeom>
          <a:noFill/>
          <a:ln/>
        </p:spPr>
        <p:txBody>
          <a:bodyPr wrap="square" lIns="0" tIns="0" rIns="0" bIns="0" rtlCol="0" anchor="ctr">
            <a:normAutofit/>
          </a:bodyPr>
          <a:lstStyle/>
          <a:p>
            <a:pPr indent="0" marL="0">
              <a:buNone/>
            </a:pPr>
            <a:r>
              <a:rPr lang="en-US" sz="1000" b="1" dirty="0">
                <a:solidFill>
                  <a:srgbClr val="212529"/>
                </a:solidFill>
                <a:latin typeface="Open Sans" pitchFamily="34" charset="0"/>
                <a:ea typeface="Open Sans" pitchFamily="34" charset="-122"/>
                <a:cs typeface="Open Sans" pitchFamily="34" charset="-120"/>
              </a:rPr>
              <a:t>Dining Furniture</a:t>
            </a:r>
            <a:endParaRPr lang="en-US" sz="1000" dirty="0"/>
          </a:p>
        </p:txBody>
      </p:sp>
      <p:sp>
        <p:nvSpPr>
          <p:cNvPr id="18" name="Shape 16"/>
          <p:cNvSpPr/>
          <p:nvPr/>
        </p:nvSpPr>
        <p:spPr>
          <a:xfrm>
            <a:off x="2496312" y="3054096"/>
            <a:ext cx="4251960" cy="310896"/>
          </a:xfrm>
          <a:prstGeom prst="roundRect">
            <a:avLst>
              <a:gd name="adj" fmla="val 11765"/>
            </a:avLst>
          </a:prstGeom>
          <a:solidFill>
            <a:srgbClr val="E9ECEF"/>
          </a:solidFill>
          <a:ln w="12700">
            <a:solidFill>
              <a:srgbClr val="E9ECEF">
                <a:alpha val="0"/>
              </a:srgbClr>
            </a:solidFill>
            <a:prstDash val="solid"/>
          </a:ln>
        </p:spPr>
      </p:sp>
      <p:sp>
        <p:nvSpPr>
          <p:cNvPr id="19" name="Shape 17"/>
          <p:cNvSpPr/>
          <p:nvPr/>
        </p:nvSpPr>
        <p:spPr>
          <a:xfrm>
            <a:off x="2496312" y="3054096"/>
            <a:ext cx="1689265" cy="310896"/>
          </a:xfrm>
          <a:prstGeom prst="roundRect">
            <a:avLst>
              <a:gd name="adj" fmla="val 11765"/>
            </a:avLst>
          </a:prstGeom>
          <a:solidFill>
            <a:srgbClr val="B5473A"/>
          </a:solidFill>
          <a:ln w="12700">
            <a:solidFill>
              <a:srgbClr val="B5473A">
                <a:alpha val="0"/>
              </a:srgbClr>
            </a:solidFill>
            <a:prstDash val="solid"/>
          </a:ln>
        </p:spPr>
      </p:sp>
      <p:sp>
        <p:nvSpPr>
          <p:cNvPr id="20" name="Text 18"/>
          <p:cNvSpPr/>
          <p:nvPr/>
        </p:nvSpPr>
        <p:spPr>
          <a:xfrm>
            <a:off x="6821424" y="3017520"/>
            <a:ext cx="713232" cy="228600"/>
          </a:xfrm>
          <a:prstGeom prst="rect">
            <a:avLst/>
          </a:prstGeom>
          <a:noFill/>
          <a:ln/>
        </p:spPr>
        <p:txBody>
          <a:bodyPr wrap="square" lIns="0" tIns="0" rIns="0" bIns="0" rtlCol="0" anchor="ctr">
            <a:normAutofit/>
          </a:bodyPr>
          <a:lstStyle/>
          <a:p>
            <a:pPr algn="r" indent="0" marL="0">
              <a:buNone/>
            </a:pPr>
            <a:r>
              <a:rPr lang="en-US" sz="1000" b="1" dirty="0">
                <a:solidFill>
                  <a:srgbClr val="212529"/>
                </a:solidFill>
                <a:latin typeface="Open Sans" pitchFamily="34" charset="0"/>
                <a:ea typeface="Open Sans" pitchFamily="34" charset="-122"/>
                <a:cs typeface="Open Sans" pitchFamily="34" charset="-120"/>
              </a:rPr>
              <a:t>23.8%</a:t>
            </a:r>
            <a:endParaRPr lang="en-US" sz="1000" dirty="0"/>
          </a:p>
        </p:txBody>
      </p:sp>
      <p:sp>
        <p:nvSpPr>
          <p:cNvPr id="21" name="Text 19"/>
          <p:cNvSpPr/>
          <p:nvPr/>
        </p:nvSpPr>
        <p:spPr>
          <a:xfrm>
            <a:off x="7315200" y="3035808"/>
            <a:ext cx="1508760" cy="237744"/>
          </a:xfrm>
          <a:prstGeom prst="rect">
            <a:avLst/>
          </a:prstGeom>
          <a:noFill/>
          <a:ln/>
        </p:spPr>
        <p:txBody>
          <a:bodyPr wrap="square" lIns="0" tIns="0" rIns="0" bIns="0" rtlCol="0" anchor="ctr">
            <a:normAutofit/>
          </a:bodyPr>
          <a:lstStyle/>
          <a:p>
            <a:pPr indent="0" marL="0">
              <a:buNone/>
            </a:pPr>
            <a:r>
              <a:rPr lang="en-US" sz="1000" dirty="0">
                <a:solidFill>
                  <a:srgbClr val="6C757D"/>
                </a:solidFill>
                <a:latin typeface="Open Sans" pitchFamily="34" charset="0"/>
                <a:ea typeface="Open Sans" pitchFamily="34" charset="-122"/>
                <a:cs typeface="Open Sans" pitchFamily="34" charset="-120"/>
              </a:rPr>
              <a:t>$1.1m sales</a:t>
            </a:r>
            <a:endParaRPr lang="en-US" sz="1000" dirty="0"/>
          </a:p>
        </p:txBody>
      </p:sp>
      <p:sp>
        <p:nvSpPr>
          <p:cNvPr id="22" name="Text 20"/>
          <p:cNvSpPr/>
          <p:nvPr/>
        </p:nvSpPr>
        <p:spPr>
          <a:xfrm>
            <a:off x="8823960" y="3035808"/>
            <a:ext cx="1463040" cy="237744"/>
          </a:xfrm>
          <a:prstGeom prst="rect">
            <a:avLst/>
          </a:prstGeom>
          <a:noFill/>
          <a:ln/>
        </p:spPr>
        <p:txBody>
          <a:bodyPr wrap="square" lIns="0" tIns="0" rIns="0" bIns="0" rtlCol="0" anchor="ctr">
            <a:normAutofit/>
          </a:bodyPr>
          <a:lstStyle/>
          <a:p>
            <a:pPr indent="0" marL="0">
              <a:buNone/>
            </a:pPr>
            <a:r>
              <a:rPr lang="en-US" sz="1000" b="1" dirty="0">
                <a:solidFill>
                  <a:srgbClr val="212529"/>
                </a:solidFill>
                <a:latin typeface="Open Sans" pitchFamily="34" charset="0"/>
                <a:ea typeface="Open Sans" pitchFamily="34" charset="-122"/>
                <a:cs typeface="Open Sans" pitchFamily="34" charset="-120"/>
              </a:rPr>
              <a:t>$0.3m GP</a:t>
            </a:r>
            <a:endParaRPr lang="en-US" sz="1000" dirty="0"/>
          </a:p>
        </p:txBody>
      </p:sp>
      <p:sp>
        <p:nvSpPr>
          <p:cNvPr id="23" name="Text 21"/>
          <p:cNvSpPr/>
          <p:nvPr/>
        </p:nvSpPr>
        <p:spPr>
          <a:xfrm>
            <a:off x="896112" y="3602736"/>
            <a:ext cx="1508760" cy="228600"/>
          </a:xfrm>
          <a:prstGeom prst="rect">
            <a:avLst/>
          </a:prstGeom>
          <a:noFill/>
          <a:ln/>
        </p:spPr>
        <p:txBody>
          <a:bodyPr wrap="square" lIns="0" tIns="0" rIns="0" bIns="0" rtlCol="0" anchor="ctr">
            <a:normAutofit/>
          </a:bodyPr>
          <a:lstStyle/>
          <a:p>
            <a:pPr indent="0" marL="0">
              <a:buNone/>
            </a:pPr>
            <a:r>
              <a:rPr lang="en-US" sz="1000" b="1" dirty="0">
                <a:solidFill>
                  <a:srgbClr val="212529"/>
                </a:solidFill>
                <a:latin typeface="Open Sans" pitchFamily="34" charset="0"/>
                <a:ea typeface="Open Sans" pitchFamily="34" charset="-122"/>
                <a:cs typeface="Open Sans" pitchFamily="34" charset="-120"/>
              </a:rPr>
              <a:t>Computers</a:t>
            </a:r>
            <a:endParaRPr lang="en-US" sz="1000" dirty="0"/>
          </a:p>
        </p:txBody>
      </p:sp>
      <p:sp>
        <p:nvSpPr>
          <p:cNvPr id="24" name="Shape 22"/>
          <p:cNvSpPr/>
          <p:nvPr/>
        </p:nvSpPr>
        <p:spPr>
          <a:xfrm>
            <a:off x="2496312" y="3648456"/>
            <a:ext cx="4251960" cy="310896"/>
          </a:xfrm>
          <a:prstGeom prst="roundRect">
            <a:avLst>
              <a:gd name="adj" fmla="val 11765"/>
            </a:avLst>
          </a:prstGeom>
          <a:solidFill>
            <a:srgbClr val="E9ECEF"/>
          </a:solidFill>
          <a:ln w="12700">
            <a:solidFill>
              <a:srgbClr val="E9ECEF">
                <a:alpha val="0"/>
              </a:srgbClr>
            </a:solidFill>
            <a:prstDash val="solid"/>
          </a:ln>
        </p:spPr>
      </p:sp>
      <p:sp>
        <p:nvSpPr>
          <p:cNvPr id="25" name="Shape 23"/>
          <p:cNvSpPr/>
          <p:nvPr/>
        </p:nvSpPr>
        <p:spPr>
          <a:xfrm>
            <a:off x="2496312" y="3648456"/>
            <a:ext cx="2226175" cy="310896"/>
          </a:xfrm>
          <a:prstGeom prst="roundRect">
            <a:avLst>
              <a:gd name="adj" fmla="val 11765"/>
            </a:avLst>
          </a:prstGeom>
          <a:solidFill>
            <a:srgbClr val="30445C"/>
          </a:solidFill>
          <a:ln w="12700">
            <a:solidFill>
              <a:srgbClr val="30445C">
                <a:alpha val="0"/>
              </a:srgbClr>
            </a:solidFill>
            <a:prstDash val="solid"/>
          </a:ln>
        </p:spPr>
      </p:sp>
      <p:sp>
        <p:nvSpPr>
          <p:cNvPr id="26" name="Text 24"/>
          <p:cNvSpPr/>
          <p:nvPr/>
        </p:nvSpPr>
        <p:spPr>
          <a:xfrm>
            <a:off x="6821424" y="3611880"/>
            <a:ext cx="713232" cy="228600"/>
          </a:xfrm>
          <a:prstGeom prst="rect">
            <a:avLst/>
          </a:prstGeom>
          <a:noFill/>
          <a:ln/>
        </p:spPr>
        <p:txBody>
          <a:bodyPr wrap="square" lIns="0" tIns="0" rIns="0" bIns="0" rtlCol="0" anchor="ctr">
            <a:normAutofit/>
          </a:bodyPr>
          <a:lstStyle/>
          <a:p>
            <a:pPr algn="r" indent="0" marL="0">
              <a:buNone/>
            </a:pPr>
            <a:r>
              <a:rPr lang="en-US" sz="1000" b="1" dirty="0">
                <a:solidFill>
                  <a:srgbClr val="212529"/>
                </a:solidFill>
                <a:latin typeface="Open Sans" pitchFamily="34" charset="0"/>
                <a:ea typeface="Open Sans" pitchFamily="34" charset="-122"/>
                <a:cs typeface="Open Sans" pitchFamily="34" charset="-120"/>
              </a:rPr>
              <a:t>31.4%</a:t>
            </a:r>
            <a:endParaRPr lang="en-US" sz="1000" dirty="0"/>
          </a:p>
        </p:txBody>
      </p:sp>
      <p:sp>
        <p:nvSpPr>
          <p:cNvPr id="27" name="Text 25"/>
          <p:cNvSpPr/>
          <p:nvPr/>
        </p:nvSpPr>
        <p:spPr>
          <a:xfrm>
            <a:off x="7315200" y="3630168"/>
            <a:ext cx="1508760" cy="237744"/>
          </a:xfrm>
          <a:prstGeom prst="rect">
            <a:avLst/>
          </a:prstGeom>
          <a:noFill/>
          <a:ln/>
        </p:spPr>
        <p:txBody>
          <a:bodyPr wrap="square" lIns="0" tIns="0" rIns="0" bIns="0" rtlCol="0" anchor="ctr">
            <a:normAutofit/>
          </a:bodyPr>
          <a:lstStyle/>
          <a:p>
            <a:pPr indent="0" marL="0">
              <a:buNone/>
            </a:pPr>
            <a:r>
              <a:rPr lang="en-US" sz="1000" dirty="0">
                <a:solidFill>
                  <a:srgbClr val="6C757D"/>
                </a:solidFill>
                <a:latin typeface="Open Sans" pitchFamily="34" charset="0"/>
                <a:ea typeface="Open Sans" pitchFamily="34" charset="-122"/>
                <a:cs typeface="Open Sans" pitchFamily="34" charset="-120"/>
              </a:rPr>
              <a:t>$2.0m sales</a:t>
            </a:r>
            <a:endParaRPr lang="en-US" sz="1000" dirty="0"/>
          </a:p>
        </p:txBody>
      </p:sp>
      <p:sp>
        <p:nvSpPr>
          <p:cNvPr id="28" name="Text 26"/>
          <p:cNvSpPr/>
          <p:nvPr/>
        </p:nvSpPr>
        <p:spPr>
          <a:xfrm>
            <a:off x="8823960" y="3630168"/>
            <a:ext cx="1463040" cy="237744"/>
          </a:xfrm>
          <a:prstGeom prst="rect">
            <a:avLst/>
          </a:prstGeom>
          <a:noFill/>
          <a:ln/>
        </p:spPr>
        <p:txBody>
          <a:bodyPr wrap="square" lIns="0" tIns="0" rIns="0" bIns="0" rtlCol="0" anchor="ctr">
            <a:normAutofit/>
          </a:bodyPr>
          <a:lstStyle/>
          <a:p>
            <a:pPr indent="0" marL="0">
              <a:buNone/>
            </a:pPr>
            <a:r>
              <a:rPr lang="en-US" sz="1000" b="1" dirty="0">
                <a:solidFill>
                  <a:srgbClr val="212529"/>
                </a:solidFill>
                <a:latin typeface="Open Sans" pitchFamily="34" charset="0"/>
                <a:ea typeface="Open Sans" pitchFamily="34" charset="-122"/>
                <a:cs typeface="Open Sans" pitchFamily="34" charset="-120"/>
              </a:rPr>
              <a:t>$0.6m GP</a:t>
            </a:r>
            <a:endParaRPr lang="en-US" sz="1000" dirty="0"/>
          </a:p>
        </p:txBody>
      </p:sp>
      <p:sp>
        <p:nvSpPr>
          <p:cNvPr id="29" name="Shape 27"/>
          <p:cNvSpPr/>
          <p:nvPr/>
        </p:nvSpPr>
        <p:spPr>
          <a:xfrm>
            <a:off x="886968" y="4617720"/>
            <a:ext cx="4983480" cy="941832"/>
          </a:xfrm>
          <a:prstGeom prst="roundRect">
            <a:avLst>
              <a:gd name="adj" fmla="val 5825"/>
            </a:avLst>
          </a:prstGeom>
          <a:solidFill>
            <a:srgbClr val="EEF4E0"/>
          </a:solidFill>
          <a:ln w="12700">
            <a:solidFill>
              <a:srgbClr val="EEF4E0">
                <a:alpha val="0"/>
              </a:srgbClr>
            </a:solidFill>
            <a:prstDash val="solid"/>
          </a:ln>
        </p:spPr>
      </p:sp>
      <p:sp>
        <p:nvSpPr>
          <p:cNvPr id="30" name="Text 28"/>
          <p:cNvSpPr/>
          <p:nvPr/>
        </p:nvSpPr>
        <p:spPr>
          <a:xfrm>
            <a:off x="1060704" y="4754880"/>
            <a:ext cx="2286000" cy="201168"/>
          </a:xfrm>
          <a:prstGeom prst="rect">
            <a:avLst/>
          </a:prstGeom>
          <a:noFill/>
          <a:ln/>
        </p:spPr>
        <p:txBody>
          <a:bodyPr wrap="square" lIns="0" tIns="0" rIns="0" bIns="0" rtlCol="0" anchor="ctr">
            <a:normAutofit/>
          </a:bodyPr>
          <a:lstStyle/>
          <a:p>
            <a:pPr indent="0" marL="0">
              <a:buNone/>
            </a:pPr>
            <a:r>
              <a:rPr lang="en-US" sz="900" b="1" dirty="0">
                <a:solidFill>
                  <a:srgbClr val="6E9117"/>
                </a:solidFill>
                <a:latin typeface="Open Sans" pitchFamily="34" charset="0"/>
                <a:ea typeface="Open Sans" pitchFamily="34" charset="-122"/>
                <a:cs typeface="Open Sans" pitchFamily="34" charset="-120"/>
              </a:rPr>
              <a:t>SCALE WITH DISCIPLINE</a:t>
            </a:r>
            <a:endParaRPr lang="en-US" sz="900" dirty="0"/>
          </a:p>
        </p:txBody>
      </p:sp>
      <p:sp>
        <p:nvSpPr>
          <p:cNvPr id="31" name="Text 29"/>
          <p:cNvSpPr/>
          <p:nvPr/>
        </p:nvSpPr>
        <p:spPr>
          <a:xfrm>
            <a:off x="1060704" y="5056632"/>
            <a:ext cx="4480560" cy="292608"/>
          </a:xfrm>
          <a:prstGeom prst="rect">
            <a:avLst/>
          </a:prstGeom>
          <a:noFill/>
          <a:ln/>
        </p:spPr>
        <p:txBody>
          <a:bodyPr wrap="square" lIns="0" tIns="0" rIns="0" bIns="0" rtlCol="0" anchor="ctr">
            <a:normAutofit/>
          </a:bodyPr>
          <a:lstStyle/>
          <a:p>
            <a:pPr indent="0" marL="0">
              <a:buNone/>
            </a:pPr>
            <a:r>
              <a:rPr lang="en-US" sz="1100" b="1" dirty="0">
                <a:solidFill>
                  <a:srgbClr val="212529"/>
                </a:solidFill>
                <a:latin typeface="Open Sans" pitchFamily="34" charset="0"/>
                <a:ea typeface="Open Sans" pitchFamily="34" charset="-122"/>
                <a:cs typeface="Open Sans" pitchFamily="34" charset="-120"/>
              </a:rPr>
              <a:t>Candles: +$0.2m sales; 50.9% GM</a:t>
            </a:r>
            <a:endParaRPr lang="en-US" sz="1100" dirty="0"/>
          </a:p>
        </p:txBody>
      </p:sp>
      <p:sp>
        <p:nvSpPr>
          <p:cNvPr id="32" name="Shape 30"/>
          <p:cNvSpPr/>
          <p:nvPr/>
        </p:nvSpPr>
        <p:spPr>
          <a:xfrm>
            <a:off x="6199632" y="4617720"/>
            <a:ext cx="4937760" cy="941832"/>
          </a:xfrm>
          <a:prstGeom prst="roundRect">
            <a:avLst>
              <a:gd name="adj" fmla="val 5825"/>
            </a:avLst>
          </a:prstGeom>
          <a:solidFill>
            <a:srgbClr val="EEF1F4"/>
          </a:solidFill>
          <a:ln w="12700">
            <a:solidFill>
              <a:srgbClr val="EEF1F4">
                <a:alpha val="0"/>
              </a:srgbClr>
            </a:solidFill>
            <a:prstDash val="solid"/>
          </a:ln>
        </p:spPr>
      </p:sp>
      <p:sp>
        <p:nvSpPr>
          <p:cNvPr id="33" name="Text 31"/>
          <p:cNvSpPr/>
          <p:nvPr/>
        </p:nvSpPr>
        <p:spPr>
          <a:xfrm>
            <a:off x="6382512" y="4754880"/>
            <a:ext cx="2834640" cy="201168"/>
          </a:xfrm>
          <a:prstGeom prst="rect">
            <a:avLst/>
          </a:prstGeom>
          <a:noFill/>
          <a:ln/>
        </p:spPr>
        <p:txBody>
          <a:bodyPr wrap="square" lIns="0" tIns="0" rIns="0" bIns="0" rtlCol="0" anchor="ctr">
            <a:normAutofit/>
          </a:bodyPr>
          <a:lstStyle/>
          <a:p>
            <a:pPr indent="0" marL="0">
              <a:buNone/>
            </a:pPr>
            <a:r>
              <a:rPr lang="en-US" sz="900" b="1" dirty="0">
                <a:solidFill>
                  <a:srgbClr val="30445C"/>
                </a:solidFill>
                <a:latin typeface="Open Sans" pitchFamily="34" charset="0"/>
                <a:ea typeface="Open Sans" pitchFamily="34" charset="-122"/>
                <a:cs typeface="Open Sans" pitchFamily="34" charset="-120"/>
              </a:rPr>
              <a:t>INVESTIGATE COST MOVEMENT</a:t>
            </a:r>
            <a:endParaRPr lang="en-US" sz="900" dirty="0"/>
          </a:p>
        </p:txBody>
      </p:sp>
      <p:sp>
        <p:nvSpPr>
          <p:cNvPr id="34" name="Text 32"/>
          <p:cNvSpPr/>
          <p:nvPr/>
        </p:nvSpPr>
        <p:spPr>
          <a:xfrm>
            <a:off x="6382512" y="5038344"/>
            <a:ext cx="4480560" cy="365760"/>
          </a:xfrm>
          <a:prstGeom prst="rect">
            <a:avLst/>
          </a:prstGeom>
          <a:noFill/>
          <a:ln/>
        </p:spPr>
        <p:txBody>
          <a:bodyPr wrap="square" lIns="0" tIns="0" rIns="0" bIns="0" rtlCol="0" anchor="ctr">
            <a:normAutofit/>
          </a:bodyPr>
          <a:lstStyle/>
          <a:p>
            <a:pPr indent="0" marL="0">
              <a:buNone/>
            </a:pPr>
            <a:r>
              <a:rPr lang="en-US" sz="1000" b="1" dirty="0">
                <a:solidFill>
                  <a:srgbClr val="212529"/>
                </a:solidFill>
                <a:latin typeface="Open Sans" pitchFamily="34" charset="0"/>
                <a:ea typeface="Open Sans" pitchFamily="34" charset="-122"/>
                <a:cs typeface="Open Sans" pitchFamily="34" charset="-120"/>
              </a:rPr>
              <a:t>Landed GM fell to 37.4% in 2022; reconcile vendor costs and timing.</a:t>
            </a:r>
            <a:endParaRPr lang="en-US" sz="1000" dirty="0"/>
          </a:p>
        </p:txBody>
      </p:sp>
      <p:sp>
        <p:nvSpPr>
          <p:cNvPr id="35" name="Text 33"/>
          <p:cNvSpPr/>
          <p:nvPr/>
        </p:nvSpPr>
        <p:spPr>
          <a:xfrm>
            <a:off x="896112" y="5897880"/>
            <a:ext cx="10607040" cy="237744"/>
          </a:xfrm>
          <a:prstGeom prst="rect">
            <a:avLst/>
          </a:prstGeom>
          <a:noFill/>
          <a:ln/>
        </p:spPr>
        <p:txBody>
          <a:bodyPr wrap="square" lIns="0" tIns="0" rIns="0" bIns="0" rtlCol="0" anchor="ctr">
            <a:normAutofit/>
          </a:bodyPr>
          <a:lstStyle/>
          <a:p>
            <a:pPr indent="0" marL="0">
              <a:buNone/>
            </a:pPr>
            <a:r>
              <a:rPr lang="en-US" sz="900" dirty="0">
                <a:solidFill>
                  <a:srgbClr val="6C757D"/>
                </a:solidFill>
                <a:latin typeface="Open Sans" pitchFamily="34" charset="0"/>
                <a:ea typeface="Open Sans" pitchFamily="34" charset="-122"/>
                <a:cs typeface="Open Sans" pitchFamily="34" charset="-120"/>
              </a:rPr>
              <a:t>Validate assortment and cost basis before repricing; no store-level net-profit claim is supported.</a:t>
            </a:r>
            <a:endParaRPr lang="en-US" sz="900" dirty="0"/>
          </a:p>
        </p:txBody>
      </p:sp>
      <p:sp>
        <p:nvSpPr>
          <p:cNvPr id="25" name="Slide Number Placeholder 0"/>
          <p:cNvSpPr>
            <a:spLocks noGrp="1"/>
          </p:cNvSpPr>
          <p:nvPr>
            <p:ph type="sldNum" sz="quarter" idx="4294967295"/>
          </p:nvPr>
        </p:nvSpPr>
        <p:spPr>
          <a:xfrm>
            <a:off x="11201400"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6C757D"/>
                </a:solidFill>
                <a:latin typeface="Open Sans"/>
                <a:ea typeface="Open Sans"/>
                <a:cs typeface="Open Sans"/>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384048"/>
            <a:ext cx="10789920" cy="219456"/>
          </a:xfrm>
          <a:prstGeom prst="rect">
            <a:avLst/>
          </a:prstGeom>
          <a:noFill/>
          <a:ln/>
        </p:spPr>
        <p:txBody>
          <a:bodyPr wrap="square" lIns="0" tIns="0" rIns="0" bIns="0" rtlCol="0" anchor="ctr">
            <a:normAutofit/>
          </a:bodyPr>
          <a:lstStyle/>
          <a:p>
            <a:pPr indent="0" marL="0">
              <a:buNone/>
            </a:pPr>
            <a:r>
              <a:rPr lang="en-US" sz="1000" b="1" spc="120" kern="0" dirty="0">
                <a:solidFill>
                  <a:srgbClr val="6E9117"/>
                </a:solidFill>
                <a:latin typeface="Open Sans" pitchFamily="34" charset="0"/>
                <a:ea typeface="Open Sans" pitchFamily="34" charset="-122"/>
                <a:cs typeface="Open Sans" pitchFamily="34" charset="-120"/>
              </a:rPr>
              <a:t>CONTROLS AND NEXT STEPS</a:t>
            </a:r>
            <a:endParaRPr lang="en-US" sz="1000" dirty="0"/>
          </a:p>
        </p:txBody>
      </p:sp>
      <p:sp>
        <p:nvSpPr>
          <p:cNvPr id="3" name="Text 1"/>
          <p:cNvSpPr/>
          <p:nvPr/>
        </p:nvSpPr>
        <p:spPr>
          <a:xfrm>
            <a:off x="566928" y="694944"/>
            <a:ext cx="10972800" cy="475488"/>
          </a:xfrm>
          <a:prstGeom prst="rect">
            <a:avLst/>
          </a:prstGeom>
          <a:noFill/>
          <a:ln/>
        </p:spPr>
        <p:txBody>
          <a:bodyPr wrap="square" lIns="0" tIns="0" rIns="0" bIns="0" rtlCol="0" anchor="ctr">
            <a:normAutofit/>
          </a:bodyPr>
          <a:lstStyle/>
          <a:p>
            <a:pPr indent="0" marL="0">
              <a:buNone/>
            </a:pPr>
            <a:r>
              <a:rPr lang="en-US" sz="2500" b="1" dirty="0">
                <a:solidFill>
                  <a:srgbClr val="212529"/>
                </a:solidFill>
                <a:latin typeface="Open Sans" pitchFamily="34" charset="0"/>
                <a:ea typeface="Open Sans" pitchFamily="34" charset="-122"/>
                <a:cs typeface="Open Sans" pitchFamily="34" charset="-120"/>
              </a:rPr>
              <a:t>Close the contract gaps before calling this "profit"</a:t>
            </a:r>
            <a:endParaRPr lang="en-US" sz="2500" dirty="0"/>
          </a:p>
        </p:txBody>
      </p:sp>
      <p:sp>
        <p:nvSpPr>
          <p:cNvPr id="4" name="Text 2"/>
          <p:cNvSpPr/>
          <p:nvPr/>
        </p:nvSpPr>
        <p:spPr>
          <a:xfrm>
            <a:off x="566928" y="1207008"/>
            <a:ext cx="10972800" cy="292608"/>
          </a:xfrm>
          <a:prstGeom prst="rect">
            <a:avLst/>
          </a:prstGeom>
          <a:noFill/>
          <a:ln/>
        </p:spPr>
        <p:txBody>
          <a:bodyPr wrap="square" lIns="0" tIns="0" rIns="0" bIns="0" rtlCol="0" anchor="ctr">
            <a:normAutofit/>
          </a:bodyPr>
          <a:lstStyle/>
          <a:p>
            <a:pPr indent="0" marL="0">
              <a:buNone/>
            </a:pPr>
            <a:r>
              <a:rPr lang="en-US" sz="1100" dirty="0">
                <a:solidFill>
                  <a:srgbClr val="6C757D"/>
                </a:solidFill>
                <a:latin typeface="Open Sans" pitchFamily="34" charset="0"/>
                <a:ea typeface="Open Sans" pitchFamily="34" charset="-122"/>
                <a:cs typeface="Open Sans" pitchFamily="34" charset="-120"/>
              </a:rPr>
              <a:t>Proposed owner actions to turn a one-off analysis into a trusted reporting layer.</a:t>
            </a:r>
            <a:endParaRPr lang="en-US" sz="1100" dirty="0"/>
          </a:p>
        </p:txBody>
      </p:sp>
      <p:sp>
        <p:nvSpPr>
          <p:cNvPr id="5" name="Shape 3"/>
          <p:cNvSpPr/>
          <p:nvPr/>
        </p:nvSpPr>
        <p:spPr>
          <a:xfrm>
            <a:off x="905256" y="1901952"/>
            <a:ext cx="228600" cy="228600"/>
          </a:xfrm>
          <a:prstGeom prst="ellipse">
            <a:avLst/>
          </a:prstGeom>
          <a:solidFill>
            <a:srgbClr val="95C11F"/>
          </a:solidFill>
          <a:ln w="12700">
            <a:solidFill>
              <a:srgbClr val="95C11F">
                <a:alpha val="0"/>
              </a:srgbClr>
            </a:solidFill>
            <a:prstDash val="solid"/>
          </a:ln>
        </p:spPr>
      </p:sp>
      <p:sp>
        <p:nvSpPr>
          <p:cNvPr id="6" name="Text 4"/>
          <p:cNvSpPr/>
          <p:nvPr/>
        </p:nvSpPr>
        <p:spPr>
          <a:xfrm>
            <a:off x="1353312" y="1828800"/>
            <a:ext cx="2011680" cy="274320"/>
          </a:xfrm>
          <a:prstGeom prst="rect">
            <a:avLst/>
          </a:prstGeom>
          <a:noFill/>
          <a:ln/>
        </p:spPr>
        <p:txBody>
          <a:bodyPr wrap="square" lIns="0" tIns="0" rIns="0" bIns="0" rtlCol="0" anchor="ctr">
            <a:normAutofit/>
          </a:bodyPr>
          <a:lstStyle/>
          <a:p>
            <a:pPr indent="0" marL="0">
              <a:buNone/>
            </a:pPr>
            <a:r>
              <a:rPr lang="en-US" sz="1000" b="1" dirty="0">
                <a:solidFill>
                  <a:srgbClr val="6E9117"/>
                </a:solidFill>
                <a:latin typeface="Open Sans" pitchFamily="34" charset="0"/>
                <a:ea typeface="Open Sans" pitchFamily="34" charset="-122"/>
                <a:cs typeface="Open Sans" pitchFamily="34" charset="-120"/>
              </a:rPr>
              <a:t>UPSTREAM</a:t>
            </a:r>
            <a:endParaRPr lang="en-US" sz="1000" dirty="0"/>
          </a:p>
        </p:txBody>
      </p:sp>
      <p:sp>
        <p:nvSpPr>
          <p:cNvPr id="7" name="Text 5"/>
          <p:cNvSpPr/>
          <p:nvPr/>
        </p:nvSpPr>
        <p:spPr>
          <a:xfrm>
            <a:off x="3246120" y="1810512"/>
            <a:ext cx="7498080" cy="393192"/>
          </a:xfrm>
          <a:prstGeom prst="rect">
            <a:avLst/>
          </a:prstGeom>
          <a:noFill/>
          <a:ln/>
        </p:spPr>
        <p:txBody>
          <a:bodyPr wrap="square" lIns="0" tIns="0" rIns="0" bIns="0" rtlCol="0" anchor="ctr">
            <a:normAutofit/>
          </a:bodyPr>
          <a:lstStyle/>
          <a:p>
            <a:pPr indent="0" marL="0">
              <a:buNone/>
            </a:pPr>
            <a:r>
              <a:rPr lang="en-US" sz="1100" dirty="0">
                <a:solidFill>
                  <a:srgbClr val="212529"/>
                </a:solidFill>
                <a:latin typeface="Open Sans" pitchFamily="34" charset="0"/>
                <a:ea typeface="Open Sans" pitchFamily="34" charset="-122"/>
                <a:cs typeface="Open Sans" pitchFamily="34" charset="-120"/>
              </a:rPr>
              <a:t>Add transaction_line_id; define collision/correction semantics and negative-quantity reason.</a:t>
            </a:r>
            <a:endParaRPr lang="en-US" sz="1100" dirty="0"/>
          </a:p>
        </p:txBody>
      </p:sp>
      <p:sp>
        <p:nvSpPr>
          <p:cNvPr id="8" name="Shape 6"/>
          <p:cNvSpPr/>
          <p:nvPr/>
        </p:nvSpPr>
        <p:spPr>
          <a:xfrm>
            <a:off x="905256" y="2560320"/>
            <a:ext cx="228600" cy="228600"/>
          </a:xfrm>
          <a:prstGeom prst="ellipse">
            <a:avLst/>
          </a:prstGeom>
          <a:solidFill>
            <a:srgbClr val="95C11F"/>
          </a:solidFill>
          <a:ln w="12700">
            <a:solidFill>
              <a:srgbClr val="95C11F">
                <a:alpha val="0"/>
              </a:srgbClr>
            </a:solidFill>
            <a:prstDash val="solid"/>
          </a:ln>
        </p:spPr>
      </p:sp>
      <p:sp>
        <p:nvSpPr>
          <p:cNvPr id="9" name="Text 7"/>
          <p:cNvSpPr/>
          <p:nvPr/>
        </p:nvSpPr>
        <p:spPr>
          <a:xfrm>
            <a:off x="1353312" y="2487168"/>
            <a:ext cx="2011680" cy="274320"/>
          </a:xfrm>
          <a:prstGeom prst="rect">
            <a:avLst/>
          </a:prstGeom>
          <a:noFill/>
          <a:ln/>
        </p:spPr>
        <p:txBody>
          <a:bodyPr wrap="square" lIns="0" tIns="0" rIns="0" bIns="0" rtlCol="0" anchor="ctr">
            <a:normAutofit/>
          </a:bodyPr>
          <a:lstStyle/>
          <a:p>
            <a:pPr indent="0" marL="0">
              <a:buNone/>
            </a:pPr>
            <a:r>
              <a:rPr lang="en-US" sz="1000" b="1" dirty="0">
                <a:solidFill>
                  <a:srgbClr val="6E9117"/>
                </a:solidFill>
                <a:latin typeface="Open Sans" pitchFamily="34" charset="0"/>
                <a:ea typeface="Open Sans" pitchFamily="34" charset="-122"/>
                <a:cs typeface="Open Sans" pitchFamily="34" charset="-120"/>
              </a:rPr>
              <a:t>FINANCE + AP</a:t>
            </a:r>
            <a:endParaRPr lang="en-US" sz="1000" dirty="0"/>
          </a:p>
        </p:txBody>
      </p:sp>
      <p:sp>
        <p:nvSpPr>
          <p:cNvPr id="10" name="Text 8"/>
          <p:cNvSpPr/>
          <p:nvPr/>
        </p:nvSpPr>
        <p:spPr>
          <a:xfrm>
            <a:off x="3246120" y="2468880"/>
            <a:ext cx="7498080" cy="393192"/>
          </a:xfrm>
          <a:prstGeom prst="rect">
            <a:avLst/>
          </a:prstGeom>
          <a:noFill/>
          <a:ln/>
        </p:spPr>
        <p:txBody>
          <a:bodyPr wrap="square" lIns="0" tIns="0" rIns="0" bIns="0" rtlCol="0" anchor="ctr">
            <a:normAutofit/>
          </a:bodyPr>
          <a:lstStyle/>
          <a:p>
            <a:pPr indent="0" marL="0">
              <a:buNone/>
            </a:pPr>
            <a:r>
              <a:rPr lang="en-US" sz="1100" dirty="0">
                <a:solidFill>
                  <a:srgbClr val="212529"/>
                </a:solidFill>
                <a:latin typeface="Open Sans" pitchFamily="34" charset="0"/>
                <a:ea typeface="Open Sans" pitchFamily="34" charset="-122"/>
                <a:cs typeface="Open Sans" pitchFamily="34" charset="-120"/>
              </a:rPr>
              <a:t>Confirm standard vs landed cost grain, currency, effective date, and why 2022 margins diverge.</a:t>
            </a:r>
            <a:endParaRPr lang="en-US" sz="1100" dirty="0"/>
          </a:p>
        </p:txBody>
      </p:sp>
      <p:sp>
        <p:nvSpPr>
          <p:cNvPr id="11" name="Shape 9"/>
          <p:cNvSpPr/>
          <p:nvPr/>
        </p:nvSpPr>
        <p:spPr>
          <a:xfrm>
            <a:off x="905256" y="3218688"/>
            <a:ext cx="228600" cy="228600"/>
          </a:xfrm>
          <a:prstGeom prst="ellipse">
            <a:avLst/>
          </a:prstGeom>
          <a:solidFill>
            <a:srgbClr val="95C11F"/>
          </a:solidFill>
          <a:ln w="12700">
            <a:solidFill>
              <a:srgbClr val="95C11F">
                <a:alpha val="0"/>
              </a:srgbClr>
            </a:solidFill>
            <a:prstDash val="solid"/>
          </a:ln>
        </p:spPr>
      </p:sp>
      <p:sp>
        <p:nvSpPr>
          <p:cNvPr id="12" name="Text 10"/>
          <p:cNvSpPr/>
          <p:nvPr/>
        </p:nvSpPr>
        <p:spPr>
          <a:xfrm>
            <a:off x="1353312" y="3145536"/>
            <a:ext cx="2011680" cy="274320"/>
          </a:xfrm>
          <a:prstGeom prst="rect">
            <a:avLst/>
          </a:prstGeom>
          <a:noFill/>
          <a:ln/>
        </p:spPr>
        <p:txBody>
          <a:bodyPr wrap="square" lIns="0" tIns="0" rIns="0" bIns="0" rtlCol="0" anchor="ctr">
            <a:normAutofit/>
          </a:bodyPr>
          <a:lstStyle/>
          <a:p>
            <a:pPr indent="0" marL="0">
              <a:buNone/>
            </a:pPr>
            <a:r>
              <a:rPr lang="en-US" sz="1000" b="1" dirty="0">
                <a:solidFill>
                  <a:srgbClr val="6E9117"/>
                </a:solidFill>
                <a:latin typeface="Open Sans" pitchFamily="34" charset="0"/>
                <a:ea typeface="Open Sans" pitchFamily="34" charset="-122"/>
                <a:cs typeface="Open Sans" pitchFamily="34" charset="-120"/>
              </a:rPr>
              <a:t>STORE FINANCE</a:t>
            </a:r>
            <a:endParaRPr lang="en-US" sz="1000" dirty="0"/>
          </a:p>
        </p:txBody>
      </p:sp>
      <p:sp>
        <p:nvSpPr>
          <p:cNvPr id="13" name="Text 11"/>
          <p:cNvSpPr/>
          <p:nvPr/>
        </p:nvSpPr>
        <p:spPr>
          <a:xfrm>
            <a:off x="3246120" y="3127248"/>
            <a:ext cx="7498080" cy="393192"/>
          </a:xfrm>
          <a:prstGeom prst="rect">
            <a:avLst/>
          </a:prstGeom>
          <a:noFill/>
          <a:ln/>
        </p:spPr>
        <p:txBody>
          <a:bodyPr wrap="square" lIns="0" tIns="0" rIns="0" bIns="0" rtlCol="0" anchor="ctr">
            <a:normAutofit/>
          </a:bodyPr>
          <a:lstStyle/>
          <a:p>
            <a:pPr indent="0" marL="0">
              <a:buNone/>
            </a:pPr>
            <a:r>
              <a:rPr lang="en-US" sz="1100" dirty="0">
                <a:solidFill>
                  <a:srgbClr val="212529"/>
                </a:solidFill>
                <a:latin typeface="Open Sans" pitchFamily="34" charset="0"/>
                <a:ea typeface="Open Sans" pitchFamily="34" charset="-122"/>
                <a:cs typeface="Open Sans" pitchFamily="34" charset="-120"/>
              </a:rPr>
              <a:t>Declare direct operating cost period, currency, effective date, and scope.</a:t>
            </a:r>
            <a:endParaRPr lang="en-US" sz="1100" dirty="0"/>
          </a:p>
        </p:txBody>
      </p:sp>
      <p:sp>
        <p:nvSpPr>
          <p:cNvPr id="14" name="Shape 12"/>
          <p:cNvSpPr/>
          <p:nvPr/>
        </p:nvSpPr>
        <p:spPr>
          <a:xfrm>
            <a:off x="905256" y="3877056"/>
            <a:ext cx="228600" cy="228600"/>
          </a:xfrm>
          <a:prstGeom prst="ellipse">
            <a:avLst/>
          </a:prstGeom>
          <a:solidFill>
            <a:srgbClr val="95C11F"/>
          </a:solidFill>
          <a:ln w="12700">
            <a:solidFill>
              <a:srgbClr val="95C11F">
                <a:alpha val="0"/>
              </a:srgbClr>
            </a:solidFill>
            <a:prstDash val="solid"/>
          </a:ln>
        </p:spPr>
      </p:sp>
      <p:sp>
        <p:nvSpPr>
          <p:cNvPr id="15" name="Text 13"/>
          <p:cNvSpPr/>
          <p:nvPr/>
        </p:nvSpPr>
        <p:spPr>
          <a:xfrm>
            <a:off x="1353312" y="3803904"/>
            <a:ext cx="2011680" cy="274320"/>
          </a:xfrm>
          <a:prstGeom prst="rect">
            <a:avLst/>
          </a:prstGeom>
          <a:noFill/>
          <a:ln/>
        </p:spPr>
        <p:txBody>
          <a:bodyPr wrap="square" lIns="0" tIns="0" rIns="0" bIns="0" rtlCol="0" anchor="ctr">
            <a:normAutofit/>
          </a:bodyPr>
          <a:lstStyle/>
          <a:p>
            <a:pPr indent="0" marL="0">
              <a:buNone/>
            </a:pPr>
            <a:r>
              <a:rPr lang="en-US" sz="1000" b="1" dirty="0">
                <a:solidFill>
                  <a:srgbClr val="6E9117"/>
                </a:solidFill>
                <a:latin typeface="Open Sans" pitchFamily="34" charset="0"/>
                <a:ea typeface="Open Sans" pitchFamily="34" charset="-122"/>
                <a:cs typeface="Open Sans" pitchFamily="34" charset="-120"/>
              </a:rPr>
              <a:t>DATA OWNERS</a:t>
            </a:r>
            <a:endParaRPr lang="en-US" sz="1000" dirty="0"/>
          </a:p>
        </p:txBody>
      </p:sp>
      <p:sp>
        <p:nvSpPr>
          <p:cNvPr id="16" name="Text 14"/>
          <p:cNvSpPr/>
          <p:nvPr/>
        </p:nvSpPr>
        <p:spPr>
          <a:xfrm>
            <a:off x="3246120" y="3785616"/>
            <a:ext cx="7498080" cy="393192"/>
          </a:xfrm>
          <a:prstGeom prst="rect">
            <a:avLst/>
          </a:prstGeom>
          <a:noFill/>
          <a:ln/>
        </p:spPr>
        <p:txBody>
          <a:bodyPr wrap="square" lIns="0" tIns="0" rIns="0" bIns="0" rtlCol="0" anchor="ctr">
            <a:normAutofit/>
          </a:bodyPr>
          <a:lstStyle/>
          <a:p>
            <a:pPr indent="0" marL="0">
              <a:buNone/>
            </a:pPr>
            <a:r>
              <a:rPr lang="en-US" sz="1100" dirty="0">
                <a:solidFill>
                  <a:srgbClr val="212529"/>
                </a:solidFill>
                <a:latin typeface="Open Sans" pitchFamily="34" charset="0"/>
                <a:ea typeface="Open Sans" pitchFamily="34" charset="-122"/>
                <a:cs typeface="Open Sans" pitchFamily="34" charset="-120"/>
              </a:rPr>
              <a:t>Resolve the product catalog conflict and store 50 cost/name restatement; assign unknown keys.</a:t>
            </a:r>
            <a:endParaRPr lang="en-US" sz="1100" dirty="0"/>
          </a:p>
        </p:txBody>
      </p:sp>
      <p:sp>
        <p:nvSpPr>
          <p:cNvPr id="17" name="Shape 15"/>
          <p:cNvSpPr/>
          <p:nvPr/>
        </p:nvSpPr>
        <p:spPr>
          <a:xfrm>
            <a:off x="896112" y="4800600"/>
            <a:ext cx="10378440" cy="822960"/>
          </a:xfrm>
          <a:prstGeom prst="roundRect">
            <a:avLst>
              <a:gd name="adj" fmla="val 6667"/>
            </a:avLst>
          </a:prstGeom>
          <a:solidFill>
            <a:srgbClr val="212529"/>
          </a:solidFill>
          <a:ln w="12700">
            <a:solidFill>
              <a:srgbClr val="212529">
                <a:alpha val="0"/>
              </a:srgbClr>
            </a:solidFill>
            <a:prstDash val="solid"/>
          </a:ln>
        </p:spPr>
      </p:sp>
      <p:sp>
        <p:nvSpPr>
          <p:cNvPr id="18" name="Text 16"/>
          <p:cNvSpPr/>
          <p:nvPr/>
        </p:nvSpPr>
        <p:spPr>
          <a:xfrm>
            <a:off x="1133856" y="5038344"/>
            <a:ext cx="9875520" cy="32004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Open Sans" pitchFamily="34" charset="0"/>
                <a:ea typeface="Open Sans" pitchFamily="34" charset="-122"/>
                <a:cs typeface="Open Sans" pitchFamily="34" charset="-120"/>
              </a:rPr>
              <a:t>Build next: source contract + monitored exceptions -&gt; validated cost policy -&gt; trusted monthly CEO scorecard.</a:t>
            </a:r>
            <a:endParaRPr lang="en-US" sz="1300" dirty="0"/>
          </a:p>
        </p:txBody>
      </p:sp>
      <p:sp>
        <p:nvSpPr>
          <p:cNvPr id="19" name="Text 17"/>
          <p:cNvSpPr/>
          <p:nvPr/>
        </p:nvSpPr>
        <p:spPr>
          <a:xfrm>
            <a:off x="914400" y="5897880"/>
            <a:ext cx="10424160" cy="228600"/>
          </a:xfrm>
          <a:prstGeom prst="rect">
            <a:avLst/>
          </a:prstGeom>
          <a:noFill/>
          <a:ln/>
        </p:spPr>
        <p:txBody>
          <a:bodyPr wrap="square" lIns="0" tIns="0" rIns="0" bIns="0" rtlCol="0" anchor="ctr">
            <a:normAutofit/>
          </a:bodyPr>
          <a:lstStyle/>
          <a:p>
            <a:pPr indent="0" marL="0">
              <a:buNone/>
            </a:pPr>
            <a:r>
              <a:rPr lang="en-US" sz="1000" dirty="0">
                <a:solidFill>
                  <a:srgbClr val="6C757D"/>
                </a:solidFill>
                <a:latin typeface="Open Sans" pitchFamily="34" charset="0"/>
                <a:ea typeface="Open Sans" pitchFamily="34" charset="-122"/>
                <a:cs typeface="Open Sans" pitchFamily="34" charset="-120"/>
              </a:rPr>
              <a:t>SCD Type 2 is not justified yet: dated, non-overlapping product/store attribute history is not available.</a:t>
            </a:r>
            <a:endParaRPr lang="en-US" sz="1000" dirty="0"/>
          </a:p>
        </p:txBody>
      </p:sp>
      <p:sp>
        <p:nvSpPr>
          <p:cNvPr id="25" name="Slide Number Placeholder 0"/>
          <p:cNvSpPr>
            <a:spLocks noGrp="1"/>
          </p:cNvSpPr>
          <p:nvPr>
            <p:ph type="sldNum" sz="quarter" idx="4294967295"/>
          </p:nvPr>
        </p:nvSpPr>
        <p:spPr>
          <a:xfrm>
            <a:off x="11201400"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6C757D"/>
                </a:solidFill>
                <a:latin typeface="Open Sans"/>
                <a:ea typeface="Open Sans"/>
                <a:cs typeface="Open Sans"/>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384048"/>
            <a:ext cx="10789920" cy="219456"/>
          </a:xfrm>
          <a:prstGeom prst="rect">
            <a:avLst/>
          </a:prstGeom>
          <a:noFill/>
          <a:ln/>
        </p:spPr>
        <p:txBody>
          <a:bodyPr wrap="square" lIns="0" tIns="0" rIns="0" bIns="0" rtlCol="0" anchor="ctr">
            <a:normAutofit/>
          </a:bodyPr>
          <a:lstStyle/>
          <a:p>
            <a:pPr indent="0" marL="0">
              <a:buNone/>
            </a:pPr>
            <a:r>
              <a:rPr lang="en-US" sz="1000" b="1" spc="120" kern="0" dirty="0">
                <a:solidFill>
                  <a:srgbClr val="6E9117"/>
                </a:solidFill>
                <a:latin typeface="Open Sans" pitchFamily="34" charset="0"/>
                <a:ea typeface="Open Sans" pitchFamily="34" charset="-122"/>
                <a:cs typeface="Open Sans" pitchFamily="34" charset="-120"/>
              </a:rPr>
              <a:t>RECORD-LEVEL FLOW</a:t>
            </a:r>
            <a:endParaRPr lang="en-US" sz="1000" dirty="0"/>
          </a:p>
        </p:txBody>
      </p:sp>
      <p:sp>
        <p:nvSpPr>
          <p:cNvPr id="3" name="Text 1"/>
          <p:cNvSpPr/>
          <p:nvPr/>
        </p:nvSpPr>
        <p:spPr>
          <a:xfrm>
            <a:off x="566928" y="694944"/>
            <a:ext cx="10972800" cy="475488"/>
          </a:xfrm>
          <a:prstGeom prst="rect">
            <a:avLst/>
          </a:prstGeom>
          <a:noFill/>
          <a:ln/>
        </p:spPr>
        <p:txBody>
          <a:bodyPr wrap="square" lIns="0" tIns="0" rIns="0" bIns="0" rtlCol="0" anchor="ctr">
            <a:normAutofit/>
          </a:bodyPr>
          <a:lstStyle/>
          <a:p>
            <a:pPr indent="0" marL="0">
              <a:buNone/>
            </a:pPr>
            <a:r>
              <a:rPr lang="en-US" sz="2500" b="1" dirty="0">
                <a:solidFill>
                  <a:srgbClr val="212529"/>
                </a:solidFill>
                <a:latin typeface="Open Sans" pitchFamily="34" charset="0"/>
                <a:ea typeface="Open Sans" pitchFamily="34" charset="-122"/>
                <a:cs typeface="Open Sans" pitchFamily="34" charset="-120"/>
              </a:rPr>
              <a:t>No mystery drops: every duplicate version has a disposition</a:t>
            </a:r>
            <a:endParaRPr lang="en-US" sz="2500" dirty="0"/>
          </a:p>
        </p:txBody>
      </p:sp>
      <p:sp>
        <p:nvSpPr>
          <p:cNvPr id="4" name="Text 2"/>
          <p:cNvSpPr/>
          <p:nvPr/>
        </p:nvSpPr>
        <p:spPr>
          <a:xfrm>
            <a:off x="566928" y="1207008"/>
            <a:ext cx="10972800" cy="292608"/>
          </a:xfrm>
          <a:prstGeom prst="rect">
            <a:avLst/>
          </a:prstGeom>
          <a:noFill/>
          <a:ln/>
        </p:spPr>
        <p:txBody>
          <a:bodyPr wrap="square" lIns="0" tIns="0" rIns="0" bIns="0" rtlCol="0" anchor="ctr">
            <a:normAutofit/>
          </a:bodyPr>
          <a:lstStyle/>
          <a:p>
            <a:pPr indent="0" marL="0">
              <a:buNone/>
            </a:pPr>
            <a:r>
              <a:rPr lang="en-US" sz="1100" dirty="0">
                <a:solidFill>
                  <a:srgbClr val="6C757D"/>
                </a:solidFill>
                <a:latin typeface="Open Sans" pitchFamily="34" charset="0"/>
                <a:ea typeface="Open Sans" pitchFamily="34" charset="-122"/>
                <a:cs typeface="Open Sans" pitchFamily="34" charset="-120"/>
              </a:rPr>
              <a:t>Rows in issue categories can overlap; only displaced transaction versions leave the event fact.</a:t>
            </a:r>
            <a:endParaRPr lang="en-US" sz="1100" dirty="0"/>
          </a:p>
        </p:txBody>
      </p:sp>
      <p:sp>
        <p:nvSpPr>
          <p:cNvPr id="5" name="Shape 3"/>
          <p:cNvSpPr/>
          <p:nvPr/>
        </p:nvSpPr>
        <p:spPr>
          <a:xfrm>
            <a:off x="713232" y="1828800"/>
            <a:ext cx="2240280" cy="1143000"/>
          </a:xfrm>
          <a:prstGeom prst="roundRect">
            <a:avLst>
              <a:gd name="adj" fmla="val 5600"/>
            </a:avLst>
          </a:prstGeom>
          <a:solidFill>
            <a:srgbClr val="FFFFFF"/>
          </a:solidFill>
          <a:ln w="10160">
            <a:solidFill>
              <a:srgbClr val="DEE2E6"/>
            </a:solidFill>
            <a:prstDash val="solid"/>
          </a:ln>
        </p:spPr>
      </p:sp>
      <p:sp>
        <p:nvSpPr>
          <p:cNvPr id="6" name="Text 4"/>
          <p:cNvSpPr/>
          <p:nvPr/>
        </p:nvSpPr>
        <p:spPr>
          <a:xfrm>
            <a:off x="859536" y="1975104"/>
            <a:ext cx="1984248" cy="182880"/>
          </a:xfrm>
          <a:prstGeom prst="rect">
            <a:avLst/>
          </a:prstGeom>
          <a:noFill/>
          <a:ln/>
        </p:spPr>
        <p:txBody>
          <a:bodyPr wrap="square" lIns="0" tIns="0" rIns="0" bIns="0" rtlCol="0" anchor="ctr">
            <a:normAutofit/>
          </a:bodyPr>
          <a:lstStyle/>
          <a:p>
            <a:pPr indent="0" marL="0">
              <a:buNone/>
            </a:pPr>
            <a:r>
              <a:rPr lang="en-US" sz="900" b="1" dirty="0">
                <a:solidFill>
                  <a:srgbClr val="6E9117"/>
                </a:solidFill>
                <a:latin typeface="Open Sans" pitchFamily="34" charset="0"/>
                <a:ea typeface="Open Sans" pitchFamily="34" charset="-122"/>
                <a:cs typeface="Open Sans" pitchFamily="34" charset="-120"/>
              </a:rPr>
              <a:t>RAW CSV</a:t>
            </a:r>
            <a:endParaRPr lang="en-US" sz="900" dirty="0"/>
          </a:p>
        </p:txBody>
      </p:sp>
      <p:sp>
        <p:nvSpPr>
          <p:cNvPr id="7" name="Text 5"/>
          <p:cNvSpPr/>
          <p:nvPr/>
        </p:nvSpPr>
        <p:spPr>
          <a:xfrm>
            <a:off x="859536" y="2276856"/>
            <a:ext cx="1984248" cy="310896"/>
          </a:xfrm>
          <a:prstGeom prst="rect">
            <a:avLst/>
          </a:prstGeom>
          <a:noFill/>
          <a:ln/>
        </p:spPr>
        <p:txBody>
          <a:bodyPr wrap="square" lIns="0" tIns="0" rIns="0" bIns="0" rtlCol="0" anchor="ctr">
            <a:normAutofit/>
          </a:bodyPr>
          <a:lstStyle/>
          <a:p>
            <a:pPr indent="0" marL="0">
              <a:buNone/>
            </a:pPr>
            <a:r>
              <a:rPr lang="en-US" sz="1900" b="1" dirty="0">
                <a:solidFill>
                  <a:srgbClr val="212529"/>
                </a:solidFill>
                <a:latin typeface="Open Sans" pitchFamily="34" charset="0"/>
                <a:ea typeface="Open Sans" pitchFamily="34" charset="-122"/>
                <a:cs typeface="Open Sans" pitchFamily="34" charset="-120"/>
              </a:rPr>
              <a:t>509,480</a:t>
            </a:r>
            <a:endParaRPr lang="en-US" sz="1900" dirty="0"/>
          </a:p>
        </p:txBody>
      </p:sp>
      <p:sp>
        <p:nvSpPr>
          <p:cNvPr id="8" name="Text 6"/>
          <p:cNvSpPr/>
          <p:nvPr/>
        </p:nvSpPr>
        <p:spPr>
          <a:xfrm>
            <a:off x="859536" y="2679192"/>
            <a:ext cx="1984248" cy="164592"/>
          </a:xfrm>
          <a:prstGeom prst="rect">
            <a:avLst/>
          </a:prstGeom>
          <a:noFill/>
          <a:ln/>
        </p:spPr>
        <p:txBody>
          <a:bodyPr wrap="square" lIns="0" tIns="0" rIns="0" bIns="0" rtlCol="0" anchor="ctr">
            <a:normAutofit/>
          </a:bodyPr>
          <a:lstStyle/>
          <a:p>
            <a:pPr indent="0" marL="0">
              <a:buNone/>
            </a:pPr>
            <a:r>
              <a:rPr lang="en-US" sz="900" dirty="0">
                <a:solidFill>
                  <a:srgbClr val="6C757D"/>
                </a:solidFill>
                <a:latin typeface="Open Sans" pitchFamily="34" charset="0"/>
                <a:ea typeface="Open Sans" pitchFamily="34" charset="-122"/>
                <a:cs typeface="Open Sans" pitchFamily="34" charset="-120"/>
              </a:rPr>
              <a:t>Original landing rows</a:t>
            </a:r>
            <a:endParaRPr lang="en-US" sz="900" dirty="0"/>
          </a:p>
        </p:txBody>
      </p:sp>
      <p:sp>
        <p:nvSpPr>
          <p:cNvPr id="9" name="Shape 7"/>
          <p:cNvSpPr/>
          <p:nvPr/>
        </p:nvSpPr>
        <p:spPr>
          <a:xfrm>
            <a:off x="3447288" y="1828800"/>
            <a:ext cx="2240280" cy="1143000"/>
          </a:xfrm>
          <a:prstGeom prst="roundRect">
            <a:avLst>
              <a:gd name="adj" fmla="val 5600"/>
            </a:avLst>
          </a:prstGeom>
          <a:solidFill>
            <a:srgbClr val="FFFFFF"/>
          </a:solidFill>
          <a:ln w="10160">
            <a:solidFill>
              <a:srgbClr val="DEE2E6"/>
            </a:solidFill>
            <a:prstDash val="solid"/>
          </a:ln>
        </p:spPr>
      </p:sp>
      <p:sp>
        <p:nvSpPr>
          <p:cNvPr id="10" name="Text 8"/>
          <p:cNvSpPr/>
          <p:nvPr/>
        </p:nvSpPr>
        <p:spPr>
          <a:xfrm>
            <a:off x="3593592" y="1975104"/>
            <a:ext cx="1984248" cy="182880"/>
          </a:xfrm>
          <a:prstGeom prst="rect">
            <a:avLst/>
          </a:prstGeom>
          <a:noFill/>
          <a:ln/>
        </p:spPr>
        <p:txBody>
          <a:bodyPr wrap="square" lIns="0" tIns="0" rIns="0" bIns="0" rtlCol="0" anchor="ctr">
            <a:normAutofit/>
          </a:bodyPr>
          <a:lstStyle/>
          <a:p>
            <a:pPr indent="0" marL="0">
              <a:buNone/>
            </a:pPr>
            <a:r>
              <a:rPr lang="en-US" sz="900" b="1" dirty="0">
                <a:solidFill>
                  <a:srgbClr val="6E9117"/>
                </a:solidFill>
                <a:latin typeface="Open Sans" pitchFamily="34" charset="0"/>
                <a:ea typeface="Open Sans" pitchFamily="34" charset="-122"/>
                <a:cs typeface="Open Sans" pitchFamily="34" charset="-120"/>
              </a:rPr>
              <a:t>PERSISTED STAGING</a:t>
            </a:r>
            <a:endParaRPr lang="en-US" sz="900" dirty="0"/>
          </a:p>
        </p:txBody>
      </p:sp>
      <p:sp>
        <p:nvSpPr>
          <p:cNvPr id="11" name="Text 9"/>
          <p:cNvSpPr/>
          <p:nvPr/>
        </p:nvSpPr>
        <p:spPr>
          <a:xfrm>
            <a:off x="3593592" y="2276856"/>
            <a:ext cx="1984248" cy="310896"/>
          </a:xfrm>
          <a:prstGeom prst="rect">
            <a:avLst/>
          </a:prstGeom>
          <a:noFill/>
          <a:ln/>
        </p:spPr>
        <p:txBody>
          <a:bodyPr wrap="square" lIns="0" tIns="0" rIns="0" bIns="0" rtlCol="0" anchor="ctr">
            <a:normAutofit/>
          </a:bodyPr>
          <a:lstStyle/>
          <a:p>
            <a:pPr indent="0" marL="0">
              <a:buNone/>
            </a:pPr>
            <a:r>
              <a:rPr lang="en-US" sz="1900" b="1" dirty="0">
                <a:solidFill>
                  <a:srgbClr val="212529"/>
                </a:solidFill>
                <a:latin typeface="Open Sans" pitchFamily="34" charset="0"/>
                <a:ea typeface="Open Sans" pitchFamily="34" charset="-122"/>
                <a:cs typeface="Open Sans" pitchFamily="34" charset="-120"/>
              </a:rPr>
              <a:t>509,480</a:t>
            </a:r>
            <a:endParaRPr lang="en-US" sz="1900" dirty="0"/>
          </a:p>
        </p:txBody>
      </p:sp>
      <p:sp>
        <p:nvSpPr>
          <p:cNvPr id="12" name="Text 10"/>
          <p:cNvSpPr/>
          <p:nvPr/>
        </p:nvSpPr>
        <p:spPr>
          <a:xfrm>
            <a:off x="3593592" y="2679192"/>
            <a:ext cx="1984248" cy="164592"/>
          </a:xfrm>
          <a:prstGeom prst="rect">
            <a:avLst/>
          </a:prstGeom>
          <a:noFill/>
          <a:ln/>
        </p:spPr>
        <p:txBody>
          <a:bodyPr wrap="square" lIns="0" tIns="0" rIns="0" bIns="0" rtlCol="0" anchor="ctr">
            <a:normAutofit/>
          </a:bodyPr>
          <a:lstStyle/>
          <a:p>
            <a:pPr indent="0" marL="0">
              <a:buNone/>
            </a:pPr>
            <a:r>
              <a:rPr lang="en-US" sz="900" dirty="0">
                <a:solidFill>
                  <a:srgbClr val="6C757D"/>
                </a:solidFill>
                <a:latin typeface="Open Sans" pitchFamily="34" charset="0"/>
                <a:ea typeface="Open Sans" pitchFamily="34" charset="-122"/>
                <a:cs typeface="Open Sans" pitchFamily="34" charset="-120"/>
              </a:rPr>
              <a:t>Full table replace on rebuild</a:t>
            </a:r>
            <a:endParaRPr lang="en-US" sz="900" dirty="0"/>
          </a:p>
        </p:txBody>
      </p:sp>
      <p:sp>
        <p:nvSpPr>
          <p:cNvPr id="13" name="Shape 11"/>
          <p:cNvSpPr/>
          <p:nvPr/>
        </p:nvSpPr>
        <p:spPr>
          <a:xfrm>
            <a:off x="6181344" y="1828800"/>
            <a:ext cx="2331720" cy="1143000"/>
          </a:xfrm>
          <a:prstGeom prst="roundRect">
            <a:avLst>
              <a:gd name="adj" fmla="val 5600"/>
            </a:avLst>
          </a:prstGeom>
          <a:solidFill>
            <a:srgbClr val="FFFFFF"/>
          </a:solidFill>
          <a:ln w="10160">
            <a:solidFill>
              <a:srgbClr val="DEE2E6"/>
            </a:solidFill>
            <a:prstDash val="solid"/>
          </a:ln>
        </p:spPr>
      </p:sp>
      <p:sp>
        <p:nvSpPr>
          <p:cNvPr id="14" name="Text 12"/>
          <p:cNvSpPr/>
          <p:nvPr/>
        </p:nvSpPr>
        <p:spPr>
          <a:xfrm>
            <a:off x="6327648" y="1975104"/>
            <a:ext cx="2075688" cy="182880"/>
          </a:xfrm>
          <a:prstGeom prst="rect">
            <a:avLst/>
          </a:prstGeom>
          <a:noFill/>
          <a:ln/>
        </p:spPr>
        <p:txBody>
          <a:bodyPr wrap="square" lIns="0" tIns="0" rIns="0" bIns="0" rtlCol="0" anchor="ctr">
            <a:normAutofit/>
          </a:bodyPr>
          <a:lstStyle/>
          <a:p>
            <a:pPr indent="0" marL="0">
              <a:buNone/>
            </a:pPr>
            <a:r>
              <a:rPr lang="en-US" sz="900" b="1" dirty="0">
                <a:solidFill>
                  <a:srgbClr val="6E9117"/>
                </a:solidFill>
                <a:latin typeface="Open Sans" pitchFamily="34" charset="0"/>
                <a:ea typeface="Open Sans" pitchFamily="34" charset="-122"/>
                <a:cs typeface="Open Sans" pitchFamily="34" charset="-120"/>
              </a:rPr>
              <a:t>VERSION AUDIT</a:t>
            </a:r>
            <a:endParaRPr lang="en-US" sz="900" dirty="0"/>
          </a:p>
        </p:txBody>
      </p:sp>
      <p:sp>
        <p:nvSpPr>
          <p:cNvPr id="15" name="Text 13"/>
          <p:cNvSpPr/>
          <p:nvPr/>
        </p:nvSpPr>
        <p:spPr>
          <a:xfrm>
            <a:off x="6327648" y="2276856"/>
            <a:ext cx="2075688" cy="310896"/>
          </a:xfrm>
          <a:prstGeom prst="rect">
            <a:avLst/>
          </a:prstGeom>
          <a:noFill/>
          <a:ln/>
        </p:spPr>
        <p:txBody>
          <a:bodyPr wrap="square" lIns="0" tIns="0" rIns="0" bIns="0" rtlCol="0" anchor="ctr">
            <a:normAutofit/>
          </a:bodyPr>
          <a:lstStyle/>
          <a:p>
            <a:pPr indent="0" marL="0">
              <a:buNone/>
            </a:pPr>
            <a:r>
              <a:rPr lang="en-US" sz="1900" b="1" dirty="0">
                <a:solidFill>
                  <a:srgbClr val="212529"/>
                </a:solidFill>
                <a:latin typeface="Open Sans" pitchFamily="34" charset="0"/>
                <a:ea typeface="Open Sans" pitchFamily="34" charset="-122"/>
                <a:cs typeface="Open Sans" pitchFamily="34" charset="-120"/>
              </a:rPr>
              <a:t>509,480</a:t>
            </a:r>
            <a:endParaRPr lang="en-US" sz="1900" dirty="0"/>
          </a:p>
        </p:txBody>
      </p:sp>
      <p:sp>
        <p:nvSpPr>
          <p:cNvPr id="16" name="Text 14"/>
          <p:cNvSpPr/>
          <p:nvPr/>
        </p:nvSpPr>
        <p:spPr>
          <a:xfrm>
            <a:off x="6327648" y="2679192"/>
            <a:ext cx="2075688" cy="164592"/>
          </a:xfrm>
          <a:prstGeom prst="rect">
            <a:avLst/>
          </a:prstGeom>
          <a:noFill/>
          <a:ln/>
        </p:spPr>
        <p:txBody>
          <a:bodyPr wrap="square" lIns="0" tIns="0" rIns="0" bIns="0" rtlCol="0" anchor="ctr">
            <a:normAutofit/>
          </a:bodyPr>
          <a:lstStyle/>
          <a:p>
            <a:pPr indent="0" marL="0">
              <a:buNone/>
            </a:pPr>
            <a:r>
              <a:rPr lang="en-US" sz="900" dirty="0">
                <a:solidFill>
                  <a:srgbClr val="6C757D"/>
                </a:solidFill>
                <a:latin typeface="Open Sans" pitchFamily="34" charset="0"/>
                <a:ea typeface="Open Sans" pitchFamily="34" charset="-122"/>
                <a:cs typeface="Open Sans" pitchFamily="34" charset="-120"/>
              </a:rPr>
              <a:t>Ranked, none appended</a:t>
            </a:r>
            <a:endParaRPr lang="en-US" sz="900" dirty="0"/>
          </a:p>
        </p:txBody>
      </p:sp>
      <p:sp>
        <p:nvSpPr>
          <p:cNvPr id="17" name="Shape 15"/>
          <p:cNvSpPr/>
          <p:nvPr/>
        </p:nvSpPr>
        <p:spPr>
          <a:xfrm>
            <a:off x="9006840" y="1828800"/>
            <a:ext cx="2432304" cy="1143000"/>
          </a:xfrm>
          <a:prstGeom prst="roundRect">
            <a:avLst>
              <a:gd name="adj" fmla="val 5600"/>
            </a:avLst>
          </a:prstGeom>
          <a:solidFill>
            <a:srgbClr val="FFFFFF"/>
          </a:solidFill>
          <a:ln w="10160">
            <a:solidFill>
              <a:srgbClr val="DEE2E6"/>
            </a:solidFill>
            <a:prstDash val="solid"/>
          </a:ln>
        </p:spPr>
      </p:sp>
      <p:sp>
        <p:nvSpPr>
          <p:cNvPr id="18" name="Text 16"/>
          <p:cNvSpPr/>
          <p:nvPr/>
        </p:nvSpPr>
        <p:spPr>
          <a:xfrm>
            <a:off x="9153144" y="1975104"/>
            <a:ext cx="2176272" cy="182880"/>
          </a:xfrm>
          <a:prstGeom prst="rect">
            <a:avLst/>
          </a:prstGeom>
          <a:noFill/>
          <a:ln/>
        </p:spPr>
        <p:txBody>
          <a:bodyPr wrap="square" lIns="0" tIns="0" rIns="0" bIns="0" rtlCol="0" anchor="ctr">
            <a:normAutofit/>
          </a:bodyPr>
          <a:lstStyle/>
          <a:p>
            <a:pPr indent="0" marL="0">
              <a:buNone/>
            </a:pPr>
            <a:r>
              <a:rPr lang="en-US" sz="900" b="1" dirty="0">
                <a:solidFill>
                  <a:srgbClr val="6E9117"/>
                </a:solidFill>
                <a:latin typeface="Open Sans" pitchFamily="34" charset="0"/>
                <a:ea typeface="Open Sans" pitchFamily="34" charset="-122"/>
                <a:cs typeface="Open Sans" pitchFamily="34" charset="-120"/>
              </a:rPr>
              <a:t>EVENT FACT</a:t>
            </a:r>
            <a:endParaRPr lang="en-US" sz="900" dirty="0"/>
          </a:p>
        </p:txBody>
      </p:sp>
      <p:sp>
        <p:nvSpPr>
          <p:cNvPr id="19" name="Text 17"/>
          <p:cNvSpPr/>
          <p:nvPr/>
        </p:nvSpPr>
        <p:spPr>
          <a:xfrm>
            <a:off x="9153144" y="2276856"/>
            <a:ext cx="2176272" cy="310896"/>
          </a:xfrm>
          <a:prstGeom prst="rect">
            <a:avLst/>
          </a:prstGeom>
          <a:noFill/>
          <a:ln/>
        </p:spPr>
        <p:txBody>
          <a:bodyPr wrap="square" lIns="0" tIns="0" rIns="0" bIns="0" rtlCol="0" anchor="ctr">
            <a:normAutofit/>
          </a:bodyPr>
          <a:lstStyle/>
          <a:p>
            <a:pPr indent="0" marL="0">
              <a:buNone/>
            </a:pPr>
            <a:r>
              <a:rPr lang="en-US" sz="1900" b="1" dirty="0">
                <a:solidFill>
                  <a:srgbClr val="212529"/>
                </a:solidFill>
                <a:latin typeface="Open Sans" pitchFamily="34" charset="0"/>
                <a:ea typeface="Open Sans" pitchFamily="34" charset="-122"/>
                <a:cs typeface="Open Sans" pitchFamily="34" charset="-120"/>
              </a:rPr>
              <a:t>499,665</a:t>
            </a:r>
            <a:endParaRPr lang="en-US" sz="1900" dirty="0"/>
          </a:p>
        </p:txBody>
      </p:sp>
      <p:sp>
        <p:nvSpPr>
          <p:cNvPr id="20" name="Text 18"/>
          <p:cNvSpPr/>
          <p:nvPr/>
        </p:nvSpPr>
        <p:spPr>
          <a:xfrm>
            <a:off x="9153144" y="2679192"/>
            <a:ext cx="2176272" cy="164592"/>
          </a:xfrm>
          <a:prstGeom prst="rect">
            <a:avLst/>
          </a:prstGeom>
          <a:noFill/>
          <a:ln/>
        </p:spPr>
        <p:txBody>
          <a:bodyPr wrap="square" lIns="0" tIns="0" rIns="0" bIns="0" rtlCol="0" anchor="ctr">
            <a:normAutofit/>
          </a:bodyPr>
          <a:lstStyle/>
          <a:p>
            <a:pPr indent="0" marL="0">
              <a:buNone/>
            </a:pPr>
            <a:r>
              <a:rPr lang="en-US" sz="900" dirty="0">
                <a:solidFill>
                  <a:srgbClr val="6C757D"/>
                </a:solidFill>
                <a:latin typeface="Open Sans" pitchFamily="34" charset="0"/>
                <a:ea typeface="Open Sans" pitchFamily="34" charset="-122"/>
                <a:cs typeface="Open Sans" pitchFamily="34" charset="-120"/>
              </a:rPr>
              <a:t>One selected row per ID</a:t>
            </a:r>
            <a:endParaRPr lang="en-US" sz="900" dirty="0"/>
          </a:p>
        </p:txBody>
      </p:sp>
      <p:sp>
        <p:nvSpPr>
          <p:cNvPr id="21" name="Shape 19"/>
          <p:cNvSpPr/>
          <p:nvPr/>
        </p:nvSpPr>
        <p:spPr>
          <a:xfrm>
            <a:off x="3026664" y="2404872"/>
            <a:ext cx="347472" cy="0"/>
          </a:xfrm>
          <a:prstGeom prst="line">
            <a:avLst/>
          </a:prstGeom>
          <a:noFill/>
          <a:ln w="22860">
            <a:solidFill>
              <a:srgbClr val="6E9117"/>
            </a:solidFill>
            <a:prstDash val="solid"/>
            <a:tailEnd type="triangle"/>
          </a:ln>
        </p:spPr>
      </p:sp>
      <p:sp>
        <p:nvSpPr>
          <p:cNvPr id="22" name="Shape 20"/>
          <p:cNvSpPr/>
          <p:nvPr/>
        </p:nvSpPr>
        <p:spPr>
          <a:xfrm>
            <a:off x="5760720" y="2404872"/>
            <a:ext cx="347472" cy="0"/>
          </a:xfrm>
          <a:prstGeom prst="line">
            <a:avLst/>
          </a:prstGeom>
          <a:noFill/>
          <a:ln w="22860">
            <a:solidFill>
              <a:srgbClr val="6E9117"/>
            </a:solidFill>
            <a:prstDash val="solid"/>
            <a:tailEnd type="triangle"/>
          </a:ln>
        </p:spPr>
      </p:sp>
      <p:sp>
        <p:nvSpPr>
          <p:cNvPr id="23" name="Shape 21"/>
          <p:cNvSpPr/>
          <p:nvPr/>
        </p:nvSpPr>
        <p:spPr>
          <a:xfrm>
            <a:off x="8586216" y="2404872"/>
            <a:ext cx="347472" cy="0"/>
          </a:xfrm>
          <a:prstGeom prst="line">
            <a:avLst/>
          </a:prstGeom>
          <a:noFill/>
          <a:ln w="22860">
            <a:solidFill>
              <a:srgbClr val="6E9117"/>
            </a:solidFill>
            <a:prstDash val="solid"/>
            <a:tailEnd type="triangle"/>
          </a:ln>
        </p:spPr>
      </p:sp>
      <p:sp>
        <p:nvSpPr>
          <p:cNvPr id="24" name="Shape 22"/>
          <p:cNvSpPr/>
          <p:nvPr/>
        </p:nvSpPr>
        <p:spPr>
          <a:xfrm>
            <a:off x="3474720" y="3493008"/>
            <a:ext cx="3749040" cy="914400"/>
          </a:xfrm>
          <a:prstGeom prst="roundRect">
            <a:avLst>
              <a:gd name="adj" fmla="val 7000"/>
            </a:avLst>
          </a:prstGeom>
          <a:solidFill>
            <a:srgbClr val="F8E9E7"/>
          </a:solidFill>
          <a:ln w="12700">
            <a:solidFill>
              <a:srgbClr val="F8E9E7">
                <a:alpha val="0"/>
              </a:srgbClr>
            </a:solidFill>
            <a:prstDash val="solid"/>
          </a:ln>
        </p:spPr>
      </p:sp>
      <p:sp>
        <p:nvSpPr>
          <p:cNvPr id="25" name="Text 23"/>
          <p:cNvSpPr/>
          <p:nvPr/>
        </p:nvSpPr>
        <p:spPr>
          <a:xfrm>
            <a:off x="3657600" y="3639312"/>
            <a:ext cx="3429000" cy="256032"/>
          </a:xfrm>
          <a:prstGeom prst="rect">
            <a:avLst/>
          </a:prstGeom>
          <a:noFill/>
          <a:ln/>
        </p:spPr>
        <p:txBody>
          <a:bodyPr wrap="square" lIns="0" tIns="0" rIns="0" bIns="0" rtlCol="0" anchor="ctr">
            <a:normAutofit/>
          </a:bodyPr>
          <a:lstStyle/>
          <a:p>
            <a:pPr indent="0" marL="0">
              <a:buNone/>
            </a:pPr>
            <a:r>
              <a:rPr lang="en-US" sz="1500" b="1" dirty="0">
                <a:solidFill>
                  <a:srgbClr val="B5473A"/>
                </a:solidFill>
                <a:latin typeface="Open Sans" pitchFamily="34" charset="0"/>
                <a:ea typeface="Open Sans" pitchFamily="34" charset="-122"/>
                <a:cs typeface="Open Sans" pitchFamily="34" charset="-120"/>
              </a:rPr>
              <a:t>9,815 older versions moved to triage</a:t>
            </a:r>
            <a:endParaRPr lang="en-US" sz="1500" dirty="0"/>
          </a:p>
        </p:txBody>
      </p:sp>
      <p:sp>
        <p:nvSpPr>
          <p:cNvPr id="26" name="Text 24"/>
          <p:cNvSpPr/>
          <p:nvPr/>
        </p:nvSpPr>
        <p:spPr>
          <a:xfrm>
            <a:off x="3657600" y="3995928"/>
            <a:ext cx="3383280" cy="228600"/>
          </a:xfrm>
          <a:prstGeom prst="rect">
            <a:avLst/>
          </a:prstGeom>
          <a:noFill/>
          <a:ln/>
        </p:spPr>
        <p:txBody>
          <a:bodyPr wrap="square" lIns="0" tIns="0" rIns="0" bIns="0" rtlCol="0" anchor="ctr">
            <a:normAutofit/>
          </a:bodyPr>
          <a:lstStyle/>
          <a:p>
            <a:pPr indent="0" marL="0">
              <a:buNone/>
            </a:pPr>
            <a:r>
              <a:rPr lang="en-US" sz="900" dirty="0">
                <a:solidFill>
                  <a:srgbClr val="6C757D"/>
                </a:solidFill>
                <a:latin typeface="Open Sans" pitchFamily="34" charset="0"/>
                <a:ea typeface="Open Sans" pitchFamily="34" charset="-122"/>
                <a:cs typeface="Open Sans" pitchFamily="34" charset="-120"/>
              </a:rPr>
              <a:t>9,815 IDs x 2 versions; latest ingested_at kept, older sent to triage.</a:t>
            </a:r>
            <a:endParaRPr lang="en-US" sz="900" dirty="0"/>
          </a:p>
        </p:txBody>
      </p:sp>
      <p:sp>
        <p:nvSpPr>
          <p:cNvPr id="27" name="Shape 25"/>
          <p:cNvSpPr/>
          <p:nvPr/>
        </p:nvSpPr>
        <p:spPr>
          <a:xfrm>
            <a:off x="7635240" y="3493008"/>
            <a:ext cx="3730752" cy="914400"/>
          </a:xfrm>
          <a:prstGeom prst="roundRect">
            <a:avLst>
              <a:gd name="adj" fmla="val 7000"/>
            </a:avLst>
          </a:prstGeom>
          <a:solidFill>
            <a:srgbClr val="E7EDF4"/>
          </a:solidFill>
          <a:ln w="12700">
            <a:solidFill>
              <a:srgbClr val="E7EDF4">
                <a:alpha val="0"/>
              </a:srgbClr>
            </a:solidFill>
            <a:prstDash val="solid"/>
          </a:ln>
        </p:spPr>
      </p:sp>
      <p:sp>
        <p:nvSpPr>
          <p:cNvPr id="28" name="Text 26"/>
          <p:cNvSpPr/>
          <p:nvPr/>
        </p:nvSpPr>
        <p:spPr>
          <a:xfrm>
            <a:off x="7827264" y="3639312"/>
            <a:ext cx="3383280" cy="256032"/>
          </a:xfrm>
          <a:prstGeom prst="rect">
            <a:avLst/>
          </a:prstGeom>
          <a:noFill/>
          <a:ln/>
        </p:spPr>
        <p:txBody>
          <a:bodyPr wrap="square" lIns="0" tIns="0" rIns="0" bIns="0" rtlCol="0" anchor="ctr">
            <a:normAutofit/>
          </a:bodyPr>
          <a:lstStyle/>
          <a:p>
            <a:pPr indent="0" marL="0">
              <a:buNone/>
            </a:pPr>
            <a:r>
              <a:rPr lang="en-US" sz="1500" b="1" dirty="0">
                <a:solidFill>
                  <a:srgbClr val="30445C"/>
                </a:solidFill>
                <a:latin typeface="Open Sans" pitchFamily="34" charset="0"/>
                <a:ea typeface="Open Sans" pitchFamily="34" charset="-122"/>
                <a:cs typeface="Open Sans" pitchFamily="34" charset="-120"/>
              </a:rPr>
              <a:t>9,815 versions excluded</a:t>
            </a:r>
            <a:endParaRPr lang="en-US" sz="1500" dirty="0"/>
          </a:p>
        </p:txBody>
      </p:sp>
      <p:sp>
        <p:nvSpPr>
          <p:cNvPr id="29" name="Text 27"/>
          <p:cNvSpPr/>
          <p:nvPr/>
        </p:nvSpPr>
        <p:spPr>
          <a:xfrm>
            <a:off x="7827264" y="3995928"/>
            <a:ext cx="3383280" cy="228600"/>
          </a:xfrm>
          <a:prstGeom prst="rect">
            <a:avLst/>
          </a:prstGeom>
          <a:noFill/>
          <a:ln/>
        </p:spPr>
        <p:txBody>
          <a:bodyPr wrap="square" lIns="0" tIns="0" rIns="0" bIns="0" rtlCol="0" anchor="ctr">
            <a:normAutofit/>
          </a:bodyPr>
          <a:lstStyle/>
          <a:p>
            <a:pPr indent="0" marL="0">
              <a:buNone/>
            </a:pPr>
            <a:r>
              <a:rPr lang="en-US" sz="900" dirty="0">
                <a:solidFill>
                  <a:srgbClr val="6C757D"/>
                </a:solidFill>
                <a:latin typeface="Open Sans" pitchFamily="34" charset="0"/>
                <a:ea typeface="Open Sans" pitchFamily="34" charset="-122"/>
                <a:cs typeface="Open Sans" pitchFamily="34" charset="-120"/>
              </a:rPr>
              <a:t>Latest version retained; older rows remain queryable in the audit.</a:t>
            </a:r>
            <a:endParaRPr lang="en-US" sz="900" dirty="0"/>
          </a:p>
        </p:txBody>
      </p:sp>
      <p:sp>
        <p:nvSpPr>
          <p:cNvPr id="30" name="Text 28"/>
          <p:cNvSpPr/>
          <p:nvPr/>
        </p:nvSpPr>
        <p:spPr>
          <a:xfrm>
            <a:off x="868680" y="4828032"/>
            <a:ext cx="10424160" cy="292608"/>
          </a:xfrm>
          <a:prstGeom prst="rect">
            <a:avLst/>
          </a:prstGeom>
          <a:noFill/>
          <a:ln/>
        </p:spPr>
        <p:txBody>
          <a:bodyPr wrap="square" lIns="0" tIns="0" rIns="0" bIns="0" rtlCol="0" anchor="ctr">
            <a:normAutofit/>
          </a:bodyPr>
          <a:lstStyle/>
          <a:p>
            <a:pPr indent="0" marL="0">
              <a:buNone/>
            </a:pPr>
            <a:r>
              <a:rPr lang="en-US" sz="1200" b="1" dirty="0">
                <a:solidFill>
                  <a:srgbClr val="212529"/>
                </a:solidFill>
                <a:latin typeface="Open Sans" pitchFamily="34" charset="0"/>
                <a:ea typeface="Open Sans" pitchFamily="34" charset="-122"/>
                <a:cs typeface="Open Sans" pitchFamily="34" charset="-120"/>
              </a:rPr>
              <a:t>18,853 total issue rows / 18,748 distinct source rows flagged (categories overlap).</a:t>
            </a:r>
            <a:endParaRPr lang="en-US" sz="1200" dirty="0"/>
          </a:p>
        </p:txBody>
      </p:sp>
      <p:sp>
        <p:nvSpPr>
          <p:cNvPr id="31" name="Text 29"/>
          <p:cNvSpPr/>
          <p:nvPr/>
        </p:nvSpPr>
        <p:spPr>
          <a:xfrm>
            <a:off x="868680" y="5285232"/>
            <a:ext cx="10424160" cy="502920"/>
          </a:xfrm>
          <a:prstGeom prst="rect">
            <a:avLst/>
          </a:prstGeom>
          <a:noFill/>
          <a:ln/>
        </p:spPr>
        <p:txBody>
          <a:bodyPr wrap="square" lIns="0" tIns="0" rIns="0" bIns="0" rtlCol="0" anchor="t">
            <a:normAutofit/>
          </a:bodyPr>
          <a:lstStyle/>
          <a:p>
            <a:pPr indent="0" marL="0">
              <a:buNone/>
            </a:pPr>
            <a:r>
              <a:rPr lang="en-US" sz="1000" dirty="0">
                <a:solidFill>
                  <a:srgbClr val="6C757D"/>
                </a:solidFill>
                <a:latin typeface="Open Sans" pitchFamily="34" charset="0"/>
                <a:ea typeface="Open Sans" pitchFamily="34" charset="-122"/>
                <a:cs typeface="Open Sans" pitchFamily="34" charset="-120"/>
              </a:rPr>
              <a:t>Unknown keys, missing costs, negative quantities and attribute conflicts are retained/flagged, not dropped. Only 9,815 displaced ID versions are excluded from the fact.</a:t>
            </a:r>
            <a:endParaRPr lang="en-US" sz="1000" dirty="0"/>
          </a:p>
        </p:txBody>
      </p:sp>
      <p:sp>
        <p:nvSpPr>
          <p:cNvPr id="25" name="Slide Number Placeholder 0"/>
          <p:cNvSpPr>
            <a:spLocks noGrp="1"/>
          </p:cNvSpPr>
          <p:nvPr>
            <p:ph type="sldNum" sz="quarter" idx="4294967295"/>
          </p:nvPr>
        </p:nvSpPr>
        <p:spPr>
          <a:xfrm>
            <a:off x="11201400"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6C757D"/>
                </a:solidFill>
                <a:latin typeface="Open Sans"/>
                <a:ea typeface="Open Sans"/>
                <a:cs typeface="Open Sans"/>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384048"/>
            <a:ext cx="10789920" cy="219456"/>
          </a:xfrm>
          <a:prstGeom prst="rect">
            <a:avLst/>
          </a:prstGeom>
          <a:noFill/>
          <a:ln/>
        </p:spPr>
        <p:txBody>
          <a:bodyPr wrap="square" lIns="0" tIns="0" rIns="0" bIns="0" rtlCol="0" anchor="ctr">
            <a:normAutofit/>
          </a:bodyPr>
          <a:lstStyle/>
          <a:p>
            <a:pPr indent="0" marL="0">
              <a:buNone/>
            </a:pPr>
            <a:r>
              <a:rPr lang="en-US" sz="1000" b="1" spc="120" kern="0" dirty="0">
                <a:solidFill>
                  <a:srgbClr val="6E9117"/>
                </a:solidFill>
                <a:latin typeface="Open Sans" pitchFamily="34" charset="0"/>
                <a:ea typeface="Open Sans" pitchFamily="34" charset="-122"/>
                <a:cs typeface="Open Sans" pitchFamily="34" charset="-120"/>
              </a:rPr>
              <a:t>STAR SCHEMA AND DRILL PATHS</a:t>
            </a:r>
            <a:endParaRPr lang="en-US" sz="1000" dirty="0"/>
          </a:p>
        </p:txBody>
      </p:sp>
      <p:sp>
        <p:nvSpPr>
          <p:cNvPr id="3" name="Text 1"/>
          <p:cNvSpPr/>
          <p:nvPr/>
        </p:nvSpPr>
        <p:spPr>
          <a:xfrm>
            <a:off x="566928" y="694944"/>
            <a:ext cx="10972800" cy="475488"/>
          </a:xfrm>
          <a:prstGeom prst="rect">
            <a:avLst/>
          </a:prstGeom>
          <a:noFill/>
          <a:ln/>
        </p:spPr>
        <p:txBody>
          <a:bodyPr wrap="square" lIns="0" tIns="0" rIns="0" bIns="0" rtlCol="0" anchor="ctr">
            <a:normAutofit/>
          </a:bodyPr>
          <a:lstStyle/>
          <a:p>
            <a:pPr indent="0" marL="0">
              <a:buNone/>
            </a:pPr>
            <a:r>
              <a:rPr lang="en-US" sz="2500" b="1" dirty="0">
                <a:solidFill>
                  <a:srgbClr val="212529"/>
                </a:solidFill>
                <a:latin typeface="Open Sans" pitchFamily="34" charset="0"/>
                <a:ea typeface="Open Sans" pitchFamily="34" charset="-122"/>
                <a:cs typeface="Open Sans" pitchFamily="34" charset="-120"/>
              </a:rPr>
              <a:t>Three dimensions; one event fact; no fake snapshot</a:t>
            </a:r>
            <a:endParaRPr lang="en-US" sz="2500" dirty="0"/>
          </a:p>
        </p:txBody>
      </p:sp>
      <p:sp>
        <p:nvSpPr>
          <p:cNvPr id="4" name="Text 2"/>
          <p:cNvSpPr/>
          <p:nvPr/>
        </p:nvSpPr>
        <p:spPr>
          <a:xfrm>
            <a:off x="566928" y="1207008"/>
            <a:ext cx="10972800" cy="292608"/>
          </a:xfrm>
          <a:prstGeom prst="rect">
            <a:avLst/>
          </a:prstGeom>
          <a:noFill/>
          <a:ln/>
        </p:spPr>
        <p:txBody>
          <a:bodyPr wrap="square" lIns="0" tIns="0" rIns="0" bIns="0" rtlCol="0" anchor="ctr">
            <a:normAutofit/>
          </a:bodyPr>
          <a:lstStyle/>
          <a:p>
            <a:pPr indent="0" marL="0">
              <a:buNone/>
            </a:pPr>
            <a:r>
              <a:rPr lang="en-US" sz="1100" dirty="0">
                <a:solidFill>
                  <a:srgbClr val="6C757D"/>
                </a:solidFill>
                <a:latin typeface="Open Sans" pitchFamily="34" charset="0"/>
                <a:ea typeface="Open Sans" pitchFamily="34" charset="-122"/>
                <a:cs typeface="Open Sans" pitchFamily="34" charset="-120"/>
              </a:rPr>
              <a:t>Date filters are standard for reporting, but an event fact does not require every query to specify a range.</a:t>
            </a:r>
            <a:endParaRPr lang="en-US" sz="1100" dirty="0"/>
          </a:p>
        </p:txBody>
      </p:sp>
      <p:sp>
        <p:nvSpPr>
          <p:cNvPr id="5" name="Shape 3"/>
          <p:cNvSpPr/>
          <p:nvPr/>
        </p:nvSpPr>
        <p:spPr>
          <a:xfrm>
            <a:off x="713232" y="1755648"/>
            <a:ext cx="3456432" cy="1234440"/>
          </a:xfrm>
          <a:prstGeom prst="roundRect">
            <a:avLst>
              <a:gd name="adj" fmla="val 5926"/>
            </a:avLst>
          </a:prstGeom>
          <a:solidFill>
            <a:srgbClr val="FFFFFF"/>
          </a:solidFill>
          <a:ln w="10160">
            <a:solidFill>
              <a:srgbClr val="DEE2E6"/>
            </a:solidFill>
            <a:prstDash val="solid"/>
          </a:ln>
        </p:spPr>
      </p:sp>
      <p:sp>
        <p:nvSpPr>
          <p:cNvPr id="6" name="Shape 4"/>
          <p:cNvSpPr/>
          <p:nvPr/>
        </p:nvSpPr>
        <p:spPr>
          <a:xfrm>
            <a:off x="713232" y="1755648"/>
            <a:ext cx="73152" cy="1234440"/>
          </a:xfrm>
          <a:prstGeom prst="rect">
            <a:avLst/>
          </a:prstGeom>
          <a:solidFill>
            <a:srgbClr val="95C11F"/>
          </a:solidFill>
          <a:ln w="12700">
            <a:solidFill>
              <a:srgbClr val="95C11F">
                <a:alpha val="0"/>
              </a:srgbClr>
            </a:solidFill>
            <a:prstDash val="solid"/>
          </a:ln>
        </p:spPr>
      </p:sp>
      <p:sp>
        <p:nvSpPr>
          <p:cNvPr id="7" name="Text 5"/>
          <p:cNvSpPr/>
          <p:nvPr/>
        </p:nvSpPr>
        <p:spPr>
          <a:xfrm>
            <a:off x="914400" y="1901952"/>
            <a:ext cx="3090672" cy="228600"/>
          </a:xfrm>
          <a:prstGeom prst="rect">
            <a:avLst/>
          </a:prstGeom>
          <a:noFill/>
          <a:ln/>
        </p:spPr>
        <p:txBody>
          <a:bodyPr wrap="square" lIns="0" tIns="0" rIns="0" bIns="0" rtlCol="0" anchor="ctr">
            <a:normAutofit/>
          </a:bodyPr>
          <a:lstStyle/>
          <a:p>
            <a:pPr indent="0" marL="0">
              <a:buNone/>
            </a:pPr>
            <a:r>
              <a:rPr lang="en-US" sz="900" b="1" dirty="0">
                <a:solidFill>
                  <a:srgbClr val="6C757D"/>
                </a:solidFill>
                <a:latin typeface="Open Sans" pitchFamily="34" charset="0"/>
                <a:ea typeface="Open Sans" pitchFamily="34" charset="-122"/>
                <a:cs typeface="Open Sans" pitchFamily="34" charset="-120"/>
              </a:rPr>
              <a:t>DIM_DATE</a:t>
            </a:r>
            <a:endParaRPr lang="en-US" sz="900" dirty="0"/>
          </a:p>
        </p:txBody>
      </p:sp>
      <p:sp>
        <p:nvSpPr>
          <p:cNvPr id="8" name="Text 6"/>
          <p:cNvSpPr/>
          <p:nvPr/>
        </p:nvSpPr>
        <p:spPr>
          <a:xfrm>
            <a:off x="914400" y="2240280"/>
            <a:ext cx="3090672" cy="438912"/>
          </a:xfrm>
          <a:prstGeom prst="rect">
            <a:avLst/>
          </a:prstGeom>
          <a:noFill/>
          <a:ln/>
        </p:spPr>
        <p:txBody>
          <a:bodyPr wrap="square" lIns="0" tIns="0" rIns="0" bIns="0" rtlCol="0" anchor="ctr">
            <a:normAutofit/>
          </a:bodyPr>
          <a:lstStyle/>
          <a:p>
            <a:pPr indent="0" marL="0">
              <a:buNone/>
            </a:pPr>
            <a:r>
              <a:rPr lang="en-US" sz="2300" b="1" dirty="0">
                <a:solidFill>
                  <a:srgbClr val="212529"/>
                </a:solidFill>
                <a:latin typeface="Open Sans" pitchFamily="34" charset="0"/>
                <a:ea typeface="Open Sans" pitchFamily="34" charset="-122"/>
                <a:cs typeface="Open Sans" pitchFamily="34" charset="-120"/>
              </a:rPr>
              <a:t>1,461</a:t>
            </a:r>
            <a:endParaRPr lang="en-US" sz="2300" dirty="0"/>
          </a:p>
        </p:txBody>
      </p:sp>
      <p:sp>
        <p:nvSpPr>
          <p:cNvPr id="9" name="Text 7"/>
          <p:cNvSpPr/>
          <p:nvPr/>
        </p:nvSpPr>
        <p:spPr>
          <a:xfrm>
            <a:off x="914400" y="2734056"/>
            <a:ext cx="3090672" cy="155448"/>
          </a:xfrm>
          <a:prstGeom prst="rect">
            <a:avLst/>
          </a:prstGeom>
          <a:noFill/>
          <a:ln/>
        </p:spPr>
        <p:txBody>
          <a:bodyPr wrap="square" lIns="0" tIns="0" rIns="0" bIns="0" rtlCol="0" anchor="t">
            <a:normAutofit/>
          </a:bodyPr>
          <a:lstStyle/>
          <a:p>
            <a:pPr indent="0" marL="0">
              <a:buNone/>
            </a:pPr>
            <a:r>
              <a:rPr lang="en-US" sz="1000" dirty="0">
                <a:solidFill>
                  <a:srgbClr val="6C757D"/>
                </a:solidFill>
                <a:latin typeface="Open Sans" pitchFamily="34" charset="0"/>
                <a:ea typeface="Open Sans" pitchFamily="34" charset="-122"/>
                <a:cs typeface="Open Sans" pitchFamily="34" charset="-120"/>
              </a:rPr>
              <a:t>2019-01-01 to 2022-12-31; daily calendar</a:t>
            </a:r>
            <a:endParaRPr lang="en-US" sz="1000" dirty="0"/>
          </a:p>
        </p:txBody>
      </p:sp>
      <p:sp>
        <p:nvSpPr>
          <p:cNvPr id="10" name="Shape 8"/>
          <p:cNvSpPr/>
          <p:nvPr/>
        </p:nvSpPr>
        <p:spPr>
          <a:xfrm>
            <a:off x="4370832" y="1755648"/>
            <a:ext cx="3456432" cy="1234440"/>
          </a:xfrm>
          <a:prstGeom prst="roundRect">
            <a:avLst>
              <a:gd name="adj" fmla="val 5926"/>
            </a:avLst>
          </a:prstGeom>
          <a:solidFill>
            <a:srgbClr val="FFFFFF"/>
          </a:solidFill>
          <a:ln w="10160">
            <a:solidFill>
              <a:srgbClr val="DEE2E6"/>
            </a:solidFill>
            <a:prstDash val="solid"/>
          </a:ln>
        </p:spPr>
      </p:sp>
      <p:sp>
        <p:nvSpPr>
          <p:cNvPr id="11" name="Shape 9"/>
          <p:cNvSpPr/>
          <p:nvPr/>
        </p:nvSpPr>
        <p:spPr>
          <a:xfrm>
            <a:off x="4370832" y="1755648"/>
            <a:ext cx="73152" cy="1234440"/>
          </a:xfrm>
          <a:prstGeom prst="rect">
            <a:avLst/>
          </a:prstGeom>
          <a:solidFill>
            <a:srgbClr val="30445C"/>
          </a:solidFill>
          <a:ln w="12700">
            <a:solidFill>
              <a:srgbClr val="30445C">
                <a:alpha val="0"/>
              </a:srgbClr>
            </a:solidFill>
            <a:prstDash val="solid"/>
          </a:ln>
        </p:spPr>
      </p:sp>
      <p:sp>
        <p:nvSpPr>
          <p:cNvPr id="12" name="Text 10"/>
          <p:cNvSpPr/>
          <p:nvPr/>
        </p:nvSpPr>
        <p:spPr>
          <a:xfrm>
            <a:off x="4572000" y="1901952"/>
            <a:ext cx="3090672" cy="228600"/>
          </a:xfrm>
          <a:prstGeom prst="rect">
            <a:avLst/>
          </a:prstGeom>
          <a:noFill/>
          <a:ln/>
        </p:spPr>
        <p:txBody>
          <a:bodyPr wrap="square" lIns="0" tIns="0" rIns="0" bIns="0" rtlCol="0" anchor="ctr">
            <a:normAutofit/>
          </a:bodyPr>
          <a:lstStyle/>
          <a:p>
            <a:pPr indent="0" marL="0">
              <a:buNone/>
            </a:pPr>
            <a:r>
              <a:rPr lang="en-US" sz="900" b="1" dirty="0">
                <a:solidFill>
                  <a:srgbClr val="6C757D"/>
                </a:solidFill>
                <a:latin typeface="Open Sans" pitchFamily="34" charset="0"/>
                <a:ea typeface="Open Sans" pitchFamily="34" charset="-122"/>
                <a:cs typeface="Open Sans" pitchFamily="34" charset="-120"/>
              </a:rPr>
              <a:t>DIM_PRODUCT</a:t>
            </a:r>
            <a:endParaRPr lang="en-US" sz="900" dirty="0"/>
          </a:p>
        </p:txBody>
      </p:sp>
      <p:sp>
        <p:nvSpPr>
          <p:cNvPr id="13" name="Text 11"/>
          <p:cNvSpPr/>
          <p:nvPr/>
        </p:nvSpPr>
        <p:spPr>
          <a:xfrm>
            <a:off x="4572000" y="2240280"/>
            <a:ext cx="3090672" cy="438912"/>
          </a:xfrm>
          <a:prstGeom prst="rect">
            <a:avLst/>
          </a:prstGeom>
          <a:noFill/>
          <a:ln/>
        </p:spPr>
        <p:txBody>
          <a:bodyPr wrap="square" lIns="0" tIns="0" rIns="0" bIns="0" rtlCol="0" anchor="ctr">
            <a:normAutofit/>
          </a:bodyPr>
          <a:lstStyle/>
          <a:p>
            <a:pPr indent="0" marL="0">
              <a:buNone/>
            </a:pPr>
            <a:r>
              <a:rPr lang="en-US" sz="2300" b="1" dirty="0">
                <a:solidFill>
                  <a:srgbClr val="212529"/>
                </a:solidFill>
                <a:latin typeface="Open Sans" pitchFamily="34" charset="0"/>
                <a:ea typeface="Open Sans" pitchFamily="34" charset="-122"/>
                <a:cs typeface="Open Sans" pitchFamily="34" charset="-120"/>
              </a:rPr>
              <a:t>17 rows</a:t>
            </a:r>
            <a:endParaRPr lang="en-US" sz="2300" dirty="0"/>
          </a:p>
        </p:txBody>
      </p:sp>
      <p:sp>
        <p:nvSpPr>
          <p:cNvPr id="14" name="Text 12"/>
          <p:cNvSpPr/>
          <p:nvPr/>
        </p:nvSpPr>
        <p:spPr>
          <a:xfrm>
            <a:off x="4572000" y="2734056"/>
            <a:ext cx="3090672" cy="155448"/>
          </a:xfrm>
          <a:prstGeom prst="rect">
            <a:avLst/>
          </a:prstGeom>
          <a:noFill/>
          <a:ln/>
        </p:spPr>
        <p:txBody>
          <a:bodyPr wrap="square" lIns="0" tIns="0" rIns="0" bIns="0" rtlCol="0" anchor="t">
            <a:normAutofit/>
          </a:bodyPr>
          <a:lstStyle/>
          <a:p>
            <a:pPr indent="0" marL="0">
              <a:buNone/>
            </a:pPr>
            <a:r>
              <a:rPr lang="en-US" sz="1000" dirty="0">
                <a:solidFill>
                  <a:srgbClr val="6C757D"/>
                </a:solidFill>
                <a:latin typeface="Open Sans" pitchFamily="34" charset="0"/>
                <a:ea typeface="Open Sans" pitchFamily="34" charset="-122"/>
                <a:cs typeface="Open Sans" pitchFamily="34" charset="-120"/>
              </a:rPr>
              <a:t>16 known + Unknown</a:t>
            </a:r>
            <a:endParaRPr lang="en-US" sz="1000" dirty="0"/>
          </a:p>
        </p:txBody>
      </p:sp>
      <p:sp>
        <p:nvSpPr>
          <p:cNvPr id="15" name="Shape 13"/>
          <p:cNvSpPr/>
          <p:nvPr/>
        </p:nvSpPr>
        <p:spPr>
          <a:xfrm>
            <a:off x="8028432" y="1755648"/>
            <a:ext cx="3456432" cy="1234440"/>
          </a:xfrm>
          <a:prstGeom prst="roundRect">
            <a:avLst>
              <a:gd name="adj" fmla="val 5926"/>
            </a:avLst>
          </a:prstGeom>
          <a:solidFill>
            <a:srgbClr val="FFFFFF"/>
          </a:solidFill>
          <a:ln w="10160">
            <a:solidFill>
              <a:srgbClr val="DEE2E6"/>
            </a:solidFill>
            <a:prstDash val="solid"/>
          </a:ln>
        </p:spPr>
      </p:sp>
      <p:sp>
        <p:nvSpPr>
          <p:cNvPr id="16" name="Shape 14"/>
          <p:cNvSpPr/>
          <p:nvPr/>
        </p:nvSpPr>
        <p:spPr>
          <a:xfrm>
            <a:off x="8028432" y="1755648"/>
            <a:ext cx="73152" cy="1234440"/>
          </a:xfrm>
          <a:prstGeom prst="rect">
            <a:avLst/>
          </a:prstGeom>
          <a:solidFill>
            <a:srgbClr val="30445C"/>
          </a:solidFill>
          <a:ln w="12700">
            <a:solidFill>
              <a:srgbClr val="30445C">
                <a:alpha val="0"/>
              </a:srgbClr>
            </a:solidFill>
            <a:prstDash val="solid"/>
          </a:ln>
        </p:spPr>
      </p:sp>
      <p:sp>
        <p:nvSpPr>
          <p:cNvPr id="17" name="Text 15"/>
          <p:cNvSpPr/>
          <p:nvPr/>
        </p:nvSpPr>
        <p:spPr>
          <a:xfrm>
            <a:off x="8229600" y="1901952"/>
            <a:ext cx="3090672" cy="228600"/>
          </a:xfrm>
          <a:prstGeom prst="rect">
            <a:avLst/>
          </a:prstGeom>
          <a:noFill/>
          <a:ln/>
        </p:spPr>
        <p:txBody>
          <a:bodyPr wrap="square" lIns="0" tIns="0" rIns="0" bIns="0" rtlCol="0" anchor="ctr">
            <a:normAutofit/>
          </a:bodyPr>
          <a:lstStyle/>
          <a:p>
            <a:pPr indent="0" marL="0">
              <a:buNone/>
            </a:pPr>
            <a:r>
              <a:rPr lang="en-US" sz="900" b="1" dirty="0">
                <a:solidFill>
                  <a:srgbClr val="6C757D"/>
                </a:solidFill>
                <a:latin typeface="Open Sans" pitchFamily="34" charset="0"/>
                <a:ea typeface="Open Sans" pitchFamily="34" charset="-122"/>
                <a:cs typeface="Open Sans" pitchFamily="34" charset="-120"/>
              </a:rPr>
              <a:t>DIM_STORE</a:t>
            </a:r>
            <a:endParaRPr lang="en-US" sz="900" dirty="0"/>
          </a:p>
        </p:txBody>
      </p:sp>
      <p:sp>
        <p:nvSpPr>
          <p:cNvPr id="18" name="Text 16"/>
          <p:cNvSpPr/>
          <p:nvPr/>
        </p:nvSpPr>
        <p:spPr>
          <a:xfrm>
            <a:off x="8229600" y="2240280"/>
            <a:ext cx="3090672" cy="438912"/>
          </a:xfrm>
          <a:prstGeom prst="rect">
            <a:avLst/>
          </a:prstGeom>
          <a:noFill/>
          <a:ln/>
        </p:spPr>
        <p:txBody>
          <a:bodyPr wrap="square" lIns="0" tIns="0" rIns="0" bIns="0" rtlCol="0" anchor="ctr">
            <a:normAutofit/>
          </a:bodyPr>
          <a:lstStyle/>
          <a:p>
            <a:pPr indent="0" marL="0">
              <a:buNone/>
            </a:pPr>
            <a:r>
              <a:rPr lang="en-US" sz="2300" b="1" dirty="0">
                <a:solidFill>
                  <a:srgbClr val="212529"/>
                </a:solidFill>
                <a:latin typeface="Open Sans" pitchFamily="34" charset="0"/>
                <a:ea typeface="Open Sans" pitchFamily="34" charset="-122"/>
                <a:cs typeface="Open Sans" pitchFamily="34" charset="-120"/>
              </a:rPr>
              <a:t>288 rows</a:t>
            </a:r>
            <a:endParaRPr lang="en-US" sz="2300" dirty="0"/>
          </a:p>
        </p:txBody>
      </p:sp>
      <p:sp>
        <p:nvSpPr>
          <p:cNvPr id="19" name="Text 17"/>
          <p:cNvSpPr/>
          <p:nvPr/>
        </p:nvSpPr>
        <p:spPr>
          <a:xfrm>
            <a:off x="8229600" y="2734056"/>
            <a:ext cx="3090672" cy="155448"/>
          </a:xfrm>
          <a:prstGeom prst="rect">
            <a:avLst/>
          </a:prstGeom>
          <a:noFill/>
          <a:ln/>
        </p:spPr>
        <p:txBody>
          <a:bodyPr wrap="square" lIns="0" tIns="0" rIns="0" bIns="0" rtlCol="0" anchor="t">
            <a:normAutofit/>
          </a:bodyPr>
          <a:lstStyle/>
          <a:p>
            <a:pPr indent="0" marL="0">
              <a:buNone/>
            </a:pPr>
            <a:r>
              <a:rPr lang="en-US" sz="1000" dirty="0">
                <a:solidFill>
                  <a:srgbClr val="6C757D"/>
                </a:solidFill>
                <a:latin typeface="Open Sans" pitchFamily="34" charset="0"/>
                <a:ea typeface="Open Sans" pitchFamily="34" charset="-122"/>
                <a:cs typeface="Open Sans" pitchFamily="34" charset="-120"/>
              </a:rPr>
              <a:t>287 known + Unknown</a:t>
            </a:r>
            <a:endParaRPr lang="en-US" sz="1000" dirty="0"/>
          </a:p>
        </p:txBody>
      </p:sp>
      <p:sp>
        <p:nvSpPr>
          <p:cNvPr id="20" name="Shape 18"/>
          <p:cNvSpPr/>
          <p:nvPr/>
        </p:nvSpPr>
        <p:spPr>
          <a:xfrm>
            <a:off x="3767328" y="3346704"/>
            <a:ext cx="4663440" cy="786384"/>
          </a:xfrm>
          <a:prstGeom prst="roundRect">
            <a:avLst>
              <a:gd name="adj" fmla="val 8140"/>
            </a:avLst>
          </a:prstGeom>
          <a:solidFill>
            <a:srgbClr val="212529"/>
          </a:solidFill>
          <a:ln w="12700">
            <a:solidFill>
              <a:srgbClr val="212529">
                <a:alpha val="0"/>
              </a:srgbClr>
            </a:solidFill>
            <a:prstDash val="solid"/>
          </a:ln>
        </p:spPr>
      </p:sp>
      <p:sp>
        <p:nvSpPr>
          <p:cNvPr id="21" name="Text 19"/>
          <p:cNvSpPr/>
          <p:nvPr/>
        </p:nvSpPr>
        <p:spPr>
          <a:xfrm>
            <a:off x="3977640" y="3566160"/>
            <a:ext cx="4251960" cy="310896"/>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Open Sans" pitchFamily="34" charset="0"/>
                <a:ea typeface="Open Sans" pitchFamily="34" charset="-122"/>
                <a:cs typeface="Open Sans" pitchFamily="34" charset="-120"/>
              </a:rPr>
              <a:t>FCT_SALES  |  499,665 rows</a:t>
            </a:r>
            <a:endParaRPr lang="en-US" sz="1700" dirty="0"/>
          </a:p>
        </p:txBody>
      </p:sp>
      <p:sp>
        <p:nvSpPr>
          <p:cNvPr id="22" name="Text 20"/>
          <p:cNvSpPr/>
          <p:nvPr/>
        </p:nvSpPr>
        <p:spPr>
          <a:xfrm>
            <a:off x="877824" y="4498848"/>
            <a:ext cx="3310128" cy="274320"/>
          </a:xfrm>
          <a:prstGeom prst="rect">
            <a:avLst/>
          </a:prstGeom>
          <a:noFill/>
          <a:ln/>
        </p:spPr>
        <p:txBody>
          <a:bodyPr wrap="square" lIns="0" tIns="0" rIns="0" bIns="0" rtlCol="0" anchor="ctr">
            <a:normAutofit/>
          </a:bodyPr>
          <a:lstStyle/>
          <a:p>
            <a:pPr indent="0" marL="0">
              <a:buNone/>
            </a:pPr>
            <a:r>
              <a:rPr lang="en-US" sz="1100" b="1" dirty="0">
                <a:solidFill>
                  <a:srgbClr val="212529"/>
                </a:solidFill>
                <a:latin typeface="Open Sans" pitchFamily="34" charset="0"/>
                <a:ea typeface="Open Sans" pitchFamily="34" charset="-122"/>
                <a:cs typeface="Open Sans" pitchFamily="34" charset="-120"/>
              </a:rPr>
              <a:t>Category  -&gt;  product ID / name</a:t>
            </a:r>
            <a:endParaRPr lang="en-US" sz="1100" dirty="0"/>
          </a:p>
        </p:txBody>
      </p:sp>
      <p:sp>
        <p:nvSpPr>
          <p:cNvPr id="23" name="Text 21"/>
          <p:cNvSpPr/>
          <p:nvPr/>
        </p:nvSpPr>
        <p:spPr>
          <a:xfrm>
            <a:off x="877824" y="4846320"/>
            <a:ext cx="3383280" cy="603504"/>
          </a:xfrm>
          <a:prstGeom prst="rect">
            <a:avLst/>
          </a:prstGeom>
          <a:noFill/>
          <a:ln/>
        </p:spPr>
        <p:txBody>
          <a:bodyPr wrap="square" lIns="0" tIns="0" rIns="0" bIns="0" rtlCol="0" anchor="t">
            <a:normAutofit/>
          </a:bodyPr>
          <a:lstStyle/>
          <a:p>
            <a:pPr indent="0" marL="0">
              <a:buNone/>
            </a:pPr>
            <a:r>
              <a:rPr lang="en-US" sz="1000" dirty="0">
                <a:solidFill>
                  <a:srgbClr val="6C757D"/>
                </a:solidFill>
                <a:latin typeface="Open Sans" pitchFamily="34" charset="0"/>
                <a:ea typeface="Open Sans" pitchFamily="34" charset="-122"/>
                <a:cs typeface="Open Sans" pitchFamily="34" charset="-120"/>
              </a:rPr>
              <a:t>Pack size is a packaging attribute (1 or 2), not a hierarchy level. 6 categories in source.</a:t>
            </a:r>
            <a:endParaRPr lang="en-US" sz="1000" dirty="0"/>
          </a:p>
        </p:txBody>
      </p:sp>
      <p:sp>
        <p:nvSpPr>
          <p:cNvPr id="24" name="Text 22"/>
          <p:cNvSpPr/>
          <p:nvPr/>
        </p:nvSpPr>
        <p:spPr>
          <a:xfrm>
            <a:off x="4443984" y="4498848"/>
            <a:ext cx="3310128" cy="274320"/>
          </a:xfrm>
          <a:prstGeom prst="rect">
            <a:avLst/>
          </a:prstGeom>
          <a:noFill/>
          <a:ln/>
        </p:spPr>
        <p:txBody>
          <a:bodyPr wrap="square" lIns="0" tIns="0" rIns="0" bIns="0" rtlCol="0" anchor="ctr">
            <a:normAutofit/>
          </a:bodyPr>
          <a:lstStyle/>
          <a:p>
            <a:pPr indent="0" marL="0">
              <a:buNone/>
            </a:pPr>
            <a:r>
              <a:rPr lang="en-US" sz="1100" b="1" dirty="0">
                <a:solidFill>
                  <a:srgbClr val="212529"/>
                </a:solidFill>
                <a:latin typeface="Open Sans" pitchFamily="34" charset="0"/>
                <a:ea typeface="Open Sans" pitchFamily="34" charset="-122"/>
                <a:cs typeface="Open Sans" pitchFamily="34" charset="-120"/>
              </a:rPr>
              <a:t>Region  -&gt;  state  -&gt;  store ID</a:t>
            </a:r>
            <a:endParaRPr lang="en-US" sz="1100" dirty="0"/>
          </a:p>
        </p:txBody>
      </p:sp>
      <p:sp>
        <p:nvSpPr>
          <p:cNvPr id="25" name="Text 23"/>
          <p:cNvSpPr/>
          <p:nvPr/>
        </p:nvSpPr>
        <p:spPr>
          <a:xfrm>
            <a:off x="4443984" y="4846320"/>
            <a:ext cx="3310128" cy="457200"/>
          </a:xfrm>
          <a:prstGeom prst="rect">
            <a:avLst/>
          </a:prstGeom>
          <a:noFill/>
          <a:ln/>
        </p:spPr>
        <p:txBody>
          <a:bodyPr wrap="square" lIns="0" tIns="0" rIns="0" bIns="0" rtlCol="0" anchor="t">
            <a:normAutofit/>
          </a:bodyPr>
          <a:lstStyle/>
          <a:p>
            <a:pPr indent="0" marL="0">
              <a:buNone/>
            </a:pPr>
            <a:r>
              <a:rPr lang="en-US" sz="1000" dirty="0">
                <a:solidFill>
                  <a:srgbClr val="6C757D"/>
                </a:solidFill>
                <a:latin typeface="Open Sans" pitchFamily="34" charset="0"/>
                <a:ea typeface="Open Sans" pitchFamily="34" charset="-122"/>
                <a:cs typeface="Open Sans" pitchFamily="34" charset="-120"/>
              </a:rPr>
              <a:t>Store type is a slice. Store name alone is not unique.</a:t>
            </a:r>
            <a:endParaRPr lang="en-US" sz="1000" dirty="0"/>
          </a:p>
        </p:txBody>
      </p:sp>
      <p:sp>
        <p:nvSpPr>
          <p:cNvPr id="26" name="Text 24"/>
          <p:cNvSpPr/>
          <p:nvPr/>
        </p:nvSpPr>
        <p:spPr>
          <a:xfrm>
            <a:off x="8028432" y="4498848"/>
            <a:ext cx="3310128" cy="274320"/>
          </a:xfrm>
          <a:prstGeom prst="rect">
            <a:avLst/>
          </a:prstGeom>
          <a:noFill/>
          <a:ln/>
        </p:spPr>
        <p:txBody>
          <a:bodyPr wrap="square" lIns="0" tIns="0" rIns="0" bIns="0" rtlCol="0" anchor="ctr">
            <a:normAutofit/>
          </a:bodyPr>
          <a:lstStyle/>
          <a:p>
            <a:pPr indent="0" marL="0">
              <a:buNone/>
            </a:pPr>
            <a:r>
              <a:rPr lang="en-US" sz="1100" b="1" dirty="0">
                <a:solidFill>
                  <a:srgbClr val="212529"/>
                </a:solidFill>
                <a:latin typeface="Open Sans" pitchFamily="34" charset="0"/>
                <a:ea typeface="Open Sans" pitchFamily="34" charset="-122"/>
                <a:cs typeface="Open Sans" pitchFamily="34" charset="-120"/>
              </a:rPr>
              <a:t>Year / quarter / month / day</a:t>
            </a:r>
            <a:endParaRPr lang="en-US" sz="1100" dirty="0"/>
          </a:p>
        </p:txBody>
      </p:sp>
      <p:sp>
        <p:nvSpPr>
          <p:cNvPr id="27" name="Text 25"/>
          <p:cNvSpPr/>
          <p:nvPr/>
        </p:nvSpPr>
        <p:spPr>
          <a:xfrm>
            <a:off x="8028432" y="4846320"/>
            <a:ext cx="3383280" cy="594360"/>
          </a:xfrm>
          <a:prstGeom prst="rect">
            <a:avLst/>
          </a:prstGeom>
          <a:noFill/>
          <a:ln/>
        </p:spPr>
        <p:txBody>
          <a:bodyPr wrap="square" lIns="0" tIns="0" rIns="0" bIns="0" rtlCol="0" anchor="t">
            <a:normAutofit/>
          </a:bodyPr>
          <a:lstStyle/>
          <a:p>
            <a:pPr indent="0" marL="0">
              <a:buNone/>
            </a:pPr>
            <a:r>
              <a:rPr lang="en-US" sz="1000" dirty="0">
                <a:solidFill>
                  <a:srgbClr val="6C757D"/>
                </a:solidFill>
                <a:latin typeface="Open Sans" pitchFamily="34" charset="0"/>
                <a:ea typeface="Open Sans" pitchFamily="34" charset="-122"/>
                <a:cs typeface="Open Sans" pitchFamily="34" charset="-120"/>
              </a:rPr>
              <a:t>All 499,665 events happen on 48 first-of-month dates; the calendar still provides 1,461 days.</a:t>
            </a:r>
            <a:endParaRPr lang="en-US" sz="1000" dirty="0"/>
          </a:p>
        </p:txBody>
      </p:sp>
      <p:sp>
        <p:nvSpPr>
          <p:cNvPr id="28" name="Text 26"/>
          <p:cNvSpPr/>
          <p:nvPr/>
        </p:nvSpPr>
        <p:spPr>
          <a:xfrm>
            <a:off x="896112" y="5760720"/>
            <a:ext cx="10515600" cy="274320"/>
          </a:xfrm>
          <a:prstGeom prst="rect">
            <a:avLst/>
          </a:prstGeom>
          <a:noFill/>
          <a:ln/>
        </p:spPr>
        <p:txBody>
          <a:bodyPr wrap="square" lIns="0" tIns="0" rIns="0" bIns="0" rtlCol="0" anchor="ctr">
            <a:normAutofit/>
          </a:bodyPr>
          <a:lstStyle/>
          <a:p>
            <a:pPr indent="0" marL="0">
              <a:buNone/>
            </a:pPr>
            <a:r>
              <a:rPr lang="en-US" sz="1000" b="1" dirty="0">
                <a:solidFill>
                  <a:srgbClr val="6E9117"/>
                </a:solidFill>
                <a:latin typeface="Open Sans" pitchFamily="34" charset="0"/>
                <a:ea typeface="Open Sans" pitchFamily="34" charset="-122"/>
                <a:cs typeface="Open Sans" pitchFamily="34" charset="-120"/>
              </a:rPr>
              <a:t>Annual/monthly and product/store/region reports are aggregate marts, not additional fact tables.</a:t>
            </a:r>
            <a:endParaRPr lang="en-US" sz="1000" dirty="0"/>
          </a:p>
        </p:txBody>
      </p:sp>
      <p:sp>
        <p:nvSpPr>
          <p:cNvPr id="25" name="Slide Number Placeholder 0"/>
          <p:cNvSpPr>
            <a:spLocks noGrp="1"/>
          </p:cNvSpPr>
          <p:nvPr>
            <p:ph type="sldNum" sz="quarter" idx="4294967295"/>
          </p:nvPr>
        </p:nvSpPr>
        <p:spPr>
          <a:xfrm>
            <a:off x="11201400"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6C757D"/>
                </a:solidFill>
                <a:latin typeface="Open Sans"/>
                <a:ea typeface="Open Sans"/>
                <a:cs typeface="Open Sans"/>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384048"/>
            <a:ext cx="10789920" cy="219456"/>
          </a:xfrm>
          <a:prstGeom prst="rect">
            <a:avLst/>
          </a:prstGeom>
          <a:noFill/>
          <a:ln/>
        </p:spPr>
        <p:txBody>
          <a:bodyPr wrap="square" lIns="0" tIns="0" rIns="0" bIns="0" rtlCol="0" anchor="ctr">
            <a:normAutofit/>
          </a:bodyPr>
          <a:lstStyle/>
          <a:p>
            <a:pPr indent="0" marL="0">
              <a:buNone/>
            </a:pPr>
            <a:r>
              <a:rPr lang="en-US" sz="1000" b="1" spc="120" kern="0" dirty="0">
                <a:solidFill>
                  <a:srgbClr val="6E9117"/>
                </a:solidFill>
                <a:latin typeface="Open Sans" pitchFamily="34" charset="0"/>
                <a:ea typeface="Open Sans" pitchFamily="34" charset="-122"/>
                <a:cs typeface="Open Sans" pitchFamily="34" charset="-120"/>
              </a:rPr>
              <a:t>SHARED FORMULAE, SEPARATE VIEWS</a:t>
            </a:r>
            <a:endParaRPr lang="en-US" sz="1000" dirty="0"/>
          </a:p>
        </p:txBody>
      </p:sp>
      <p:sp>
        <p:nvSpPr>
          <p:cNvPr id="3" name="Text 1"/>
          <p:cNvSpPr/>
          <p:nvPr/>
        </p:nvSpPr>
        <p:spPr>
          <a:xfrm>
            <a:off x="566928" y="694944"/>
            <a:ext cx="10972800" cy="475488"/>
          </a:xfrm>
          <a:prstGeom prst="rect">
            <a:avLst/>
          </a:prstGeom>
          <a:noFill/>
          <a:ln/>
        </p:spPr>
        <p:txBody>
          <a:bodyPr wrap="square" lIns="0" tIns="0" rIns="0" bIns="0" rtlCol="0" anchor="ctr">
            <a:normAutofit/>
          </a:bodyPr>
          <a:lstStyle/>
          <a:p>
            <a:pPr indent="0" marL="0">
              <a:buNone/>
            </a:pPr>
            <a:r>
              <a:rPr lang="en-US" sz="2500" b="1" dirty="0">
                <a:solidFill>
                  <a:srgbClr val="212529"/>
                </a:solidFill>
                <a:latin typeface="Open Sans" pitchFamily="34" charset="0"/>
                <a:ea typeface="Open Sans" pitchFamily="34" charset="-122"/>
                <a:cs typeface="Open Sans" pitchFamily="34" charset="-120"/>
              </a:rPr>
              <a:t>Teams get their own tabs; management gets one global truth</a:t>
            </a:r>
            <a:endParaRPr lang="en-US" sz="2500" dirty="0"/>
          </a:p>
        </p:txBody>
      </p:sp>
      <p:sp>
        <p:nvSpPr>
          <p:cNvPr id="4" name="Text 2"/>
          <p:cNvSpPr/>
          <p:nvPr/>
        </p:nvSpPr>
        <p:spPr>
          <a:xfrm>
            <a:off x="566928" y="1207008"/>
            <a:ext cx="10972800" cy="292608"/>
          </a:xfrm>
          <a:prstGeom prst="rect">
            <a:avLst/>
          </a:prstGeom>
          <a:noFill/>
          <a:ln/>
        </p:spPr>
        <p:txBody>
          <a:bodyPr wrap="square" lIns="0" tIns="0" rIns="0" bIns="0" rtlCol="0" anchor="ctr">
            <a:normAutofit/>
          </a:bodyPr>
          <a:lstStyle/>
          <a:p>
            <a:pPr indent="0" marL="0">
              <a:buNone/>
            </a:pPr>
            <a:r>
              <a:rPr lang="en-US" sz="1100" dirty="0">
                <a:solidFill>
                  <a:srgbClr val="6C757D"/>
                </a:solidFill>
                <a:latin typeface="Open Sans" pitchFamily="34" charset="0"/>
                <a:ea typeface="Open Sans" pitchFamily="34" charset="-122"/>
                <a:cs typeface="Open Sans" pitchFamily="34" charset="-120"/>
              </a:rPr>
              <a:t>Filter by team in mart_team_kpi_scorecard. The global measures are repeated, never redefined.</a:t>
            </a:r>
            <a:endParaRPr lang="en-US" sz="1100" dirty="0"/>
          </a:p>
        </p:txBody>
      </p:sp>
      <p:sp>
        <p:nvSpPr>
          <p:cNvPr id="5" name="Shape 3"/>
          <p:cNvSpPr/>
          <p:nvPr/>
        </p:nvSpPr>
        <p:spPr>
          <a:xfrm>
            <a:off x="731520" y="1737360"/>
            <a:ext cx="3401568" cy="1298448"/>
          </a:xfrm>
          <a:prstGeom prst="roundRect">
            <a:avLst>
              <a:gd name="adj" fmla="val 5634"/>
            </a:avLst>
          </a:prstGeom>
          <a:solidFill>
            <a:srgbClr val="FFFFFF"/>
          </a:solidFill>
          <a:ln w="10160">
            <a:solidFill>
              <a:srgbClr val="DEE2E6"/>
            </a:solidFill>
            <a:prstDash val="solid"/>
          </a:ln>
        </p:spPr>
      </p:sp>
      <p:sp>
        <p:nvSpPr>
          <p:cNvPr id="6" name="Shape 4"/>
          <p:cNvSpPr/>
          <p:nvPr/>
        </p:nvSpPr>
        <p:spPr>
          <a:xfrm>
            <a:off x="731520" y="1737360"/>
            <a:ext cx="73152" cy="1298448"/>
          </a:xfrm>
          <a:prstGeom prst="rect">
            <a:avLst/>
          </a:prstGeom>
          <a:solidFill>
            <a:srgbClr val="95C11F"/>
          </a:solidFill>
          <a:ln w="12700">
            <a:solidFill>
              <a:srgbClr val="95C11F">
                <a:alpha val="0"/>
              </a:srgbClr>
            </a:solidFill>
            <a:prstDash val="solid"/>
          </a:ln>
        </p:spPr>
      </p:sp>
      <p:sp>
        <p:nvSpPr>
          <p:cNvPr id="7" name="Text 5"/>
          <p:cNvSpPr/>
          <p:nvPr/>
        </p:nvSpPr>
        <p:spPr>
          <a:xfrm>
            <a:off x="932688" y="1883664"/>
            <a:ext cx="3035808" cy="228600"/>
          </a:xfrm>
          <a:prstGeom prst="rect">
            <a:avLst/>
          </a:prstGeom>
          <a:noFill/>
          <a:ln/>
        </p:spPr>
        <p:txBody>
          <a:bodyPr wrap="square" lIns="0" tIns="0" rIns="0" bIns="0" rtlCol="0" anchor="ctr">
            <a:normAutofit/>
          </a:bodyPr>
          <a:lstStyle/>
          <a:p>
            <a:pPr indent="0" marL="0">
              <a:buNone/>
            </a:pPr>
            <a:r>
              <a:rPr lang="en-US" sz="900" b="1" dirty="0">
                <a:solidFill>
                  <a:srgbClr val="6C757D"/>
                </a:solidFill>
                <a:latin typeface="Open Sans" pitchFamily="34" charset="0"/>
                <a:ea typeface="Open Sans" pitchFamily="34" charset="-122"/>
                <a:cs typeface="Open Sans" pitchFamily="34" charset="-120"/>
              </a:rPr>
              <a:t>PORTFOLIO NET SALES / SQFT</a:t>
            </a:r>
            <a:endParaRPr lang="en-US" sz="900" dirty="0"/>
          </a:p>
        </p:txBody>
      </p:sp>
      <p:sp>
        <p:nvSpPr>
          <p:cNvPr id="8" name="Text 6"/>
          <p:cNvSpPr/>
          <p:nvPr/>
        </p:nvSpPr>
        <p:spPr>
          <a:xfrm>
            <a:off x="932688" y="2221992"/>
            <a:ext cx="3035808" cy="438912"/>
          </a:xfrm>
          <a:prstGeom prst="rect">
            <a:avLst/>
          </a:prstGeom>
          <a:noFill/>
          <a:ln/>
        </p:spPr>
        <p:txBody>
          <a:bodyPr wrap="square" lIns="0" tIns="0" rIns="0" bIns="0" rtlCol="0" anchor="ctr">
            <a:normAutofit/>
          </a:bodyPr>
          <a:lstStyle/>
          <a:p>
            <a:pPr indent="0" marL="0">
              <a:buNone/>
            </a:pPr>
            <a:r>
              <a:rPr lang="en-US" sz="2300" b="1" dirty="0">
                <a:solidFill>
                  <a:srgbClr val="212529"/>
                </a:solidFill>
                <a:latin typeface="Open Sans" pitchFamily="34" charset="0"/>
                <a:ea typeface="Open Sans" pitchFamily="34" charset="-122"/>
                <a:cs typeface="Open Sans" pitchFamily="34" charset="-120"/>
              </a:rPr>
              <a:t>$0.27</a:t>
            </a:r>
            <a:endParaRPr lang="en-US" sz="2300" dirty="0"/>
          </a:p>
        </p:txBody>
      </p:sp>
      <p:sp>
        <p:nvSpPr>
          <p:cNvPr id="9" name="Text 7"/>
          <p:cNvSpPr/>
          <p:nvPr/>
        </p:nvSpPr>
        <p:spPr>
          <a:xfrm>
            <a:off x="932688" y="2715768"/>
            <a:ext cx="3035808" cy="219456"/>
          </a:xfrm>
          <a:prstGeom prst="rect">
            <a:avLst/>
          </a:prstGeom>
          <a:noFill/>
          <a:ln/>
        </p:spPr>
        <p:txBody>
          <a:bodyPr wrap="square" lIns="0" tIns="0" rIns="0" bIns="0" rtlCol="0" anchor="t">
            <a:normAutofit/>
          </a:bodyPr>
          <a:lstStyle/>
          <a:p>
            <a:pPr indent="0" marL="0">
              <a:buNone/>
            </a:pPr>
            <a:r>
              <a:rPr lang="en-US" sz="1000" dirty="0">
                <a:solidFill>
                  <a:srgbClr val="6C757D"/>
                </a:solidFill>
                <a:latin typeface="Open Sans" pitchFamily="34" charset="0"/>
                <a:ea typeface="Open Sans" pitchFamily="34" charset="-122"/>
                <a:cs typeface="Open Sans" pitchFamily="34" charset="-120"/>
              </a:rPr>
              <a:t>286/287 stores have positive reported area</a:t>
            </a:r>
            <a:endParaRPr lang="en-US" sz="1000" dirty="0"/>
          </a:p>
        </p:txBody>
      </p:sp>
      <p:sp>
        <p:nvSpPr>
          <p:cNvPr id="10" name="Shape 8"/>
          <p:cNvSpPr/>
          <p:nvPr/>
        </p:nvSpPr>
        <p:spPr>
          <a:xfrm>
            <a:off x="4389120" y="1737360"/>
            <a:ext cx="3401568" cy="1298448"/>
          </a:xfrm>
          <a:prstGeom prst="roundRect">
            <a:avLst>
              <a:gd name="adj" fmla="val 5634"/>
            </a:avLst>
          </a:prstGeom>
          <a:solidFill>
            <a:srgbClr val="FFFFFF"/>
          </a:solidFill>
          <a:ln w="10160">
            <a:solidFill>
              <a:srgbClr val="DEE2E6"/>
            </a:solidFill>
            <a:prstDash val="solid"/>
          </a:ln>
        </p:spPr>
      </p:sp>
      <p:sp>
        <p:nvSpPr>
          <p:cNvPr id="11" name="Shape 9"/>
          <p:cNvSpPr/>
          <p:nvPr/>
        </p:nvSpPr>
        <p:spPr>
          <a:xfrm>
            <a:off x="4389120" y="1737360"/>
            <a:ext cx="73152" cy="1298448"/>
          </a:xfrm>
          <a:prstGeom prst="rect">
            <a:avLst/>
          </a:prstGeom>
          <a:solidFill>
            <a:srgbClr val="30445C"/>
          </a:solidFill>
          <a:ln w="12700">
            <a:solidFill>
              <a:srgbClr val="30445C">
                <a:alpha val="0"/>
              </a:srgbClr>
            </a:solidFill>
            <a:prstDash val="solid"/>
          </a:ln>
        </p:spPr>
      </p:sp>
      <p:sp>
        <p:nvSpPr>
          <p:cNvPr id="12" name="Text 10"/>
          <p:cNvSpPr/>
          <p:nvPr/>
        </p:nvSpPr>
        <p:spPr>
          <a:xfrm>
            <a:off x="4590288" y="1883664"/>
            <a:ext cx="3035808" cy="228600"/>
          </a:xfrm>
          <a:prstGeom prst="rect">
            <a:avLst/>
          </a:prstGeom>
          <a:noFill/>
          <a:ln/>
        </p:spPr>
        <p:txBody>
          <a:bodyPr wrap="square" lIns="0" tIns="0" rIns="0" bIns="0" rtlCol="0" anchor="ctr">
            <a:normAutofit/>
          </a:bodyPr>
          <a:lstStyle/>
          <a:p>
            <a:pPr indent="0" marL="0">
              <a:buNone/>
            </a:pPr>
            <a:r>
              <a:rPr lang="en-US" sz="900" b="1" dirty="0">
                <a:solidFill>
                  <a:srgbClr val="6C757D"/>
                </a:solidFill>
                <a:latin typeface="Open Sans" pitchFamily="34" charset="0"/>
                <a:ea typeface="Open Sans" pitchFamily="34" charset="-122"/>
                <a:cs typeface="Open Sans" pitchFamily="34" charset="-120"/>
              </a:rPr>
              <a:t>STANDARD COST / SQFT</a:t>
            </a:r>
            <a:endParaRPr lang="en-US" sz="900" dirty="0"/>
          </a:p>
        </p:txBody>
      </p:sp>
      <p:sp>
        <p:nvSpPr>
          <p:cNvPr id="13" name="Text 11"/>
          <p:cNvSpPr/>
          <p:nvPr/>
        </p:nvSpPr>
        <p:spPr>
          <a:xfrm>
            <a:off x="4590288" y="2221992"/>
            <a:ext cx="3035808" cy="438912"/>
          </a:xfrm>
          <a:prstGeom prst="rect">
            <a:avLst/>
          </a:prstGeom>
          <a:noFill/>
          <a:ln/>
        </p:spPr>
        <p:txBody>
          <a:bodyPr wrap="square" lIns="0" tIns="0" rIns="0" bIns="0" rtlCol="0" anchor="ctr">
            <a:normAutofit/>
          </a:bodyPr>
          <a:lstStyle/>
          <a:p>
            <a:pPr indent="0" marL="0">
              <a:buNone/>
            </a:pPr>
            <a:r>
              <a:rPr lang="en-US" sz="2300" b="1" dirty="0">
                <a:solidFill>
                  <a:srgbClr val="212529"/>
                </a:solidFill>
                <a:latin typeface="Open Sans" pitchFamily="34" charset="0"/>
                <a:ea typeface="Open Sans" pitchFamily="34" charset="-122"/>
                <a:cs typeface="Open Sans" pitchFamily="34" charset="-120"/>
              </a:rPr>
              <a:t>$0.16</a:t>
            </a:r>
            <a:endParaRPr lang="en-US" sz="2300" dirty="0"/>
          </a:p>
        </p:txBody>
      </p:sp>
      <p:sp>
        <p:nvSpPr>
          <p:cNvPr id="14" name="Text 12"/>
          <p:cNvSpPr/>
          <p:nvPr/>
        </p:nvSpPr>
        <p:spPr>
          <a:xfrm>
            <a:off x="4590288" y="2715768"/>
            <a:ext cx="3035808" cy="219456"/>
          </a:xfrm>
          <a:prstGeom prst="rect">
            <a:avLst/>
          </a:prstGeom>
          <a:noFill/>
          <a:ln/>
        </p:spPr>
        <p:txBody>
          <a:bodyPr wrap="square" lIns="0" tIns="0" rIns="0" bIns="0" rtlCol="0" anchor="t">
            <a:normAutofit/>
          </a:bodyPr>
          <a:lstStyle/>
          <a:p>
            <a:pPr indent="0" marL="0">
              <a:buNone/>
            </a:pPr>
            <a:r>
              <a:rPr lang="en-US" sz="1000" dirty="0">
                <a:solidFill>
                  <a:srgbClr val="6C757D"/>
                </a:solidFill>
                <a:latin typeface="Open Sans" pitchFamily="34" charset="0"/>
                <a:ea typeface="Open Sans" pitchFamily="34" charset="-122"/>
                <a:cs typeface="Open Sans" pitchFamily="34" charset="-120"/>
              </a:rPr>
              <a:t>Area-covered stores; standard basis</a:t>
            </a:r>
            <a:endParaRPr lang="en-US" sz="1000" dirty="0"/>
          </a:p>
        </p:txBody>
      </p:sp>
      <p:sp>
        <p:nvSpPr>
          <p:cNvPr id="15" name="Shape 13"/>
          <p:cNvSpPr/>
          <p:nvPr/>
        </p:nvSpPr>
        <p:spPr>
          <a:xfrm>
            <a:off x="8046720" y="1737360"/>
            <a:ext cx="3401568" cy="1298448"/>
          </a:xfrm>
          <a:prstGeom prst="roundRect">
            <a:avLst>
              <a:gd name="adj" fmla="val 5634"/>
            </a:avLst>
          </a:prstGeom>
          <a:solidFill>
            <a:srgbClr val="FFFFFF"/>
          </a:solidFill>
          <a:ln w="10160">
            <a:solidFill>
              <a:srgbClr val="DEE2E6"/>
            </a:solidFill>
            <a:prstDash val="solid"/>
          </a:ln>
        </p:spPr>
      </p:sp>
      <p:sp>
        <p:nvSpPr>
          <p:cNvPr id="16" name="Shape 14"/>
          <p:cNvSpPr/>
          <p:nvPr/>
        </p:nvSpPr>
        <p:spPr>
          <a:xfrm>
            <a:off x="8046720" y="1737360"/>
            <a:ext cx="73152" cy="1298448"/>
          </a:xfrm>
          <a:prstGeom prst="rect">
            <a:avLst/>
          </a:prstGeom>
          <a:solidFill>
            <a:srgbClr val="95C11F"/>
          </a:solidFill>
          <a:ln w="12700">
            <a:solidFill>
              <a:srgbClr val="95C11F">
                <a:alpha val="0"/>
              </a:srgbClr>
            </a:solidFill>
            <a:prstDash val="solid"/>
          </a:ln>
        </p:spPr>
      </p:sp>
      <p:sp>
        <p:nvSpPr>
          <p:cNvPr id="17" name="Text 15"/>
          <p:cNvSpPr/>
          <p:nvPr/>
        </p:nvSpPr>
        <p:spPr>
          <a:xfrm>
            <a:off x="8247888" y="1883664"/>
            <a:ext cx="3035808" cy="228600"/>
          </a:xfrm>
          <a:prstGeom prst="rect">
            <a:avLst/>
          </a:prstGeom>
          <a:noFill/>
          <a:ln/>
        </p:spPr>
        <p:txBody>
          <a:bodyPr wrap="square" lIns="0" tIns="0" rIns="0" bIns="0" rtlCol="0" anchor="ctr">
            <a:normAutofit/>
          </a:bodyPr>
          <a:lstStyle/>
          <a:p>
            <a:pPr indent="0" marL="0">
              <a:buNone/>
            </a:pPr>
            <a:r>
              <a:rPr lang="en-US" sz="900" b="1" dirty="0">
                <a:solidFill>
                  <a:srgbClr val="6C757D"/>
                </a:solidFill>
                <a:latin typeface="Open Sans" pitchFamily="34" charset="0"/>
                <a:ea typeface="Open Sans" pitchFamily="34" charset="-122"/>
                <a:cs typeface="Open Sans" pitchFamily="34" charset="-120"/>
              </a:rPr>
              <a:t>GROSS PROFIT / SQFT</a:t>
            </a:r>
            <a:endParaRPr lang="en-US" sz="900" dirty="0"/>
          </a:p>
        </p:txBody>
      </p:sp>
      <p:sp>
        <p:nvSpPr>
          <p:cNvPr id="18" name="Text 16"/>
          <p:cNvSpPr/>
          <p:nvPr/>
        </p:nvSpPr>
        <p:spPr>
          <a:xfrm>
            <a:off x="8247888" y="2221992"/>
            <a:ext cx="3035808" cy="438912"/>
          </a:xfrm>
          <a:prstGeom prst="rect">
            <a:avLst/>
          </a:prstGeom>
          <a:noFill/>
          <a:ln/>
        </p:spPr>
        <p:txBody>
          <a:bodyPr wrap="square" lIns="0" tIns="0" rIns="0" bIns="0" rtlCol="0" anchor="ctr">
            <a:normAutofit/>
          </a:bodyPr>
          <a:lstStyle/>
          <a:p>
            <a:pPr indent="0" marL="0">
              <a:buNone/>
            </a:pPr>
            <a:r>
              <a:rPr lang="en-US" sz="2300" b="1" dirty="0">
                <a:solidFill>
                  <a:srgbClr val="212529"/>
                </a:solidFill>
                <a:latin typeface="Open Sans" pitchFamily="34" charset="0"/>
                <a:ea typeface="Open Sans" pitchFamily="34" charset="-122"/>
                <a:cs typeface="Open Sans" pitchFamily="34" charset="-120"/>
              </a:rPr>
              <a:t>$0.11</a:t>
            </a:r>
            <a:endParaRPr lang="en-US" sz="2300" dirty="0"/>
          </a:p>
        </p:txBody>
      </p:sp>
      <p:sp>
        <p:nvSpPr>
          <p:cNvPr id="19" name="Text 17"/>
          <p:cNvSpPr/>
          <p:nvPr/>
        </p:nvSpPr>
        <p:spPr>
          <a:xfrm>
            <a:off x="8247888" y="2715768"/>
            <a:ext cx="3035808" cy="219456"/>
          </a:xfrm>
          <a:prstGeom prst="rect">
            <a:avLst/>
          </a:prstGeom>
          <a:noFill/>
          <a:ln/>
        </p:spPr>
        <p:txBody>
          <a:bodyPr wrap="square" lIns="0" tIns="0" rIns="0" bIns="0" rtlCol="0" anchor="t">
            <a:normAutofit/>
          </a:bodyPr>
          <a:lstStyle/>
          <a:p>
            <a:pPr indent="0" marL="0">
              <a:buNone/>
            </a:pPr>
            <a:r>
              <a:rPr lang="en-US" sz="1000" dirty="0">
                <a:solidFill>
                  <a:srgbClr val="6C757D"/>
                </a:solidFill>
                <a:latin typeface="Open Sans" pitchFamily="34" charset="0"/>
                <a:ea typeface="Open Sans" pitchFamily="34" charset="-122"/>
                <a:cs typeface="Open Sans" pitchFamily="34" charset="-120"/>
              </a:rPr>
              <a:t>Sales/sqft minus standard COGS/sqft</a:t>
            </a:r>
            <a:endParaRPr lang="en-US" sz="1000" dirty="0"/>
          </a:p>
        </p:txBody>
      </p:sp>
      <p:sp>
        <p:nvSpPr>
          <p:cNvPr id="20" name="Text 18"/>
          <p:cNvSpPr/>
          <p:nvPr/>
        </p:nvSpPr>
        <p:spPr>
          <a:xfrm>
            <a:off x="896112" y="3383280"/>
            <a:ext cx="2011680" cy="256032"/>
          </a:xfrm>
          <a:prstGeom prst="rect">
            <a:avLst/>
          </a:prstGeom>
          <a:noFill/>
          <a:ln/>
        </p:spPr>
        <p:txBody>
          <a:bodyPr wrap="square" lIns="0" tIns="0" rIns="0" bIns="0" rtlCol="0" anchor="ctr">
            <a:normAutofit/>
          </a:bodyPr>
          <a:lstStyle/>
          <a:p>
            <a:pPr indent="0" marL="0">
              <a:buNone/>
            </a:pPr>
            <a:r>
              <a:rPr lang="en-US" sz="1000" b="1" dirty="0">
                <a:solidFill>
                  <a:srgbClr val="6E9117"/>
                </a:solidFill>
                <a:latin typeface="Open Sans" pitchFamily="34" charset="0"/>
                <a:ea typeface="Open Sans" pitchFamily="34" charset="-122"/>
                <a:cs typeface="Open Sans" pitchFamily="34" charset="-120"/>
              </a:rPr>
              <a:t>CEO / Management</a:t>
            </a:r>
            <a:endParaRPr lang="en-US" sz="1000" dirty="0"/>
          </a:p>
        </p:txBody>
      </p:sp>
      <p:sp>
        <p:nvSpPr>
          <p:cNvPr id="21" name="Text 19"/>
          <p:cNvSpPr/>
          <p:nvPr/>
        </p:nvSpPr>
        <p:spPr>
          <a:xfrm>
            <a:off x="2953512" y="3383280"/>
            <a:ext cx="3429000" cy="411480"/>
          </a:xfrm>
          <a:prstGeom prst="rect">
            <a:avLst/>
          </a:prstGeom>
          <a:noFill/>
          <a:ln/>
        </p:spPr>
        <p:txBody>
          <a:bodyPr wrap="square" lIns="0" tIns="0" rIns="0" bIns="0" rtlCol="0" anchor="t">
            <a:normAutofit/>
          </a:bodyPr>
          <a:lstStyle/>
          <a:p>
            <a:pPr indent="0" marL="0">
              <a:buNone/>
            </a:pPr>
            <a:r>
              <a:rPr lang="en-US" sz="900" dirty="0">
                <a:solidFill>
                  <a:srgbClr val="6C757D"/>
                </a:solidFill>
                <a:latin typeface="Open Sans" pitchFamily="34" charset="0"/>
                <a:ea typeface="Open Sans" pitchFamily="34" charset="-122"/>
                <a:cs typeface="Open Sans" pitchFamily="34" charset="-120"/>
              </a:rPr>
              <a:t>Net sales, gross profit, margin, YoY</a:t>
            </a:r>
            <a:endParaRPr lang="en-US" sz="900" dirty="0"/>
          </a:p>
        </p:txBody>
      </p:sp>
      <p:sp>
        <p:nvSpPr>
          <p:cNvPr id="22" name="Text 20"/>
          <p:cNvSpPr/>
          <p:nvPr/>
        </p:nvSpPr>
        <p:spPr>
          <a:xfrm>
            <a:off x="896112" y="4005072"/>
            <a:ext cx="2011680" cy="256032"/>
          </a:xfrm>
          <a:prstGeom prst="rect">
            <a:avLst/>
          </a:prstGeom>
          <a:noFill/>
          <a:ln/>
        </p:spPr>
        <p:txBody>
          <a:bodyPr wrap="square" lIns="0" tIns="0" rIns="0" bIns="0" rtlCol="0" anchor="ctr">
            <a:normAutofit/>
          </a:bodyPr>
          <a:lstStyle/>
          <a:p>
            <a:pPr indent="0" marL="0">
              <a:buNone/>
            </a:pPr>
            <a:r>
              <a:rPr lang="en-US" sz="1000" b="1" dirty="0">
                <a:solidFill>
                  <a:srgbClr val="6E9117"/>
                </a:solidFill>
                <a:latin typeface="Open Sans" pitchFamily="34" charset="0"/>
                <a:ea typeface="Open Sans" pitchFamily="34" charset="-122"/>
                <a:cs typeface="Open Sans" pitchFamily="34" charset="-120"/>
              </a:rPr>
              <a:t>Finance</a:t>
            </a:r>
            <a:endParaRPr lang="en-US" sz="1000" dirty="0"/>
          </a:p>
        </p:txBody>
      </p:sp>
      <p:sp>
        <p:nvSpPr>
          <p:cNvPr id="23" name="Text 21"/>
          <p:cNvSpPr/>
          <p:nvPr/>
        </p:nvSpPr>
        <p:spPr>
          <a:xfrm>
            <a:off x="2953512" y="4005072"/>
            <a:ext cx="3429000" cy="411480"/>
          </a:xfrm>
          <a:prstGeom prst="rect">
            <a:avLst/>
          </a:prstGeom>
          <a:noFill/>
          <a:ln/>
        </p:spPr>
        <p:txBody>
          <a:bodyPr wrap="square" lIns="0" tIns="0" rIns="0" bIns="0" rtlCol="0" anchor="t">
            <a:normAutofit/>
          </a:bodyPr>
          <a:lstStyle/>
          <a:p>
            <a:pPr indent="0" marL="0">
              <a:buNone/>
            </a:pPr>
            <a:r>
              <a:rPr lang="en-US" sz="900" dirty="0">
                <a:solidFill>
                  <a:srgbClr val="6C757D"/>
                </a:solidFill>
                <a:latin typeface="Open Sans" pitchFamily="34" charset="0"/>
                <a:ea typeface="Open Sans" pitchFamily="34" charset="-122"/>
                <a:cs typeface="Open Sans" pitchFamily="34" charset="-120"/>
              </a:rPr>
              <a:t>Standard vs landed GM; cost coverage; opex-period scenarios</a:t>
            </a:r>
            <a:endParaRPr lang="en-US" sz="900" dirty="0"/>
          </a:p>
        </p:txBody>
      </p:sp>
      <p:sp>
        <p:nvSpPr>
          <p:cNvPr id="24" name="Text 22"/>
          <p:cNvSpPr/>
          <p:nvPr/>
        </p:nvSpPr>
        <p:spPr>
          <a:xfrm>
            <a:off x="896112" y="4626864"/>
            <a:ext cx="2011680" cy="256032"/>
          </a:xfrm>
          <a:prstGeom prst="rect">
            <a:avLst/>
          </a:prstGeom>
          <a:noFill/>
          <a:ln/>
        </p:spPr>
        <p:txBody>
          <a:bodyPr wrap="square" lIns="0" tIns="0" rIns="0" bIns="0" rtlCol="0" anchor="ctr">
            <a:normAutofit/>
          </a:bodyPr>
          <a:lstStyle/>
          <a:p>
            <a:pPr indent="0" marL="0">
              <a:buNone/>
            </a:pPr>
            <a:r>
              <a:rPr lang="en-US" sz="1000" b="1" dirty="0">
                <a:solidFill>
                  <a:srgbClr val="6E9117"/>
                </a:solidFill>
                <a:latin typeface="Open Sans" pitchFamily="34" charset="0"/>
                <a:ea typeface="Open Sans" pitchFamily="34" charset="-122"/>
                <a:cs typeface="Open Sans" pitchFamily="34" charset="-120"/>
              </a:rPr>
              <a:t>Merchandising</a:t>
            </a:r>
            <a:endParaRPr lang="en-US" sz="1000" dirty="0"/>
          </a:p>
        </p:txBody>
      </p:sp>
      <p:sp>
        <p:nvSpPr>
          <p:cNvPr id="25" name="Text 23"/>
          <p:cNvSpPr/>
          <p:nvPr/>
        </p:nvSpPr>
        <p:spPr>
          <a:xfrm>
            <a:off x="2953512" y="4626864"/>
            <a:ext cx="3429000" cy="411480"/>
          </a:xfrm>
          <a:prstGeom prst="rect">
            <a:avLst/>
          </a:prstGeom>
          <a:noFill/>
          <a:ln/>
        </p:spPr>
        <p:txBody>
          <a:bodyPr wrap="square" lIns="0" tIns="0" rIns="0" bIns="0" rtlCol="0" anchor="t">
            <a:normAutofit/>
          </a:bodyPr>
          <a:lstStyle/>
          <a:p>
            <a:pPr indent="0" marL="0">
              <a:buNone/>
            </a:pPr>
            <a:r>
              <a:rPr lang="en-US" sz="900" dirty="0">
                <a:solidFill>
                  <a:srgbClr val="6C757D"/>
                </a:solidFill>
                <a:latin typeface="Open Sans" pitchFamily="34" charset="0"/>
                <a:ea typeface="Open Sans" pitchFamily="34" charset="-122"/>
                <a:cs typeface="Open Sans" pitchFamily="34" charset="-120"/>
              </a:rPr>
              <a:t>Category growth, gross profit, selling units, pack-equivalent scenario</a:t>
            </a:r>
            <a:endParaRPr lang="en-US" sz="900" dirty="0"/>
          </a:p>
        </p:txBody>
      </p:sp>
      <p:sp>
        <p:nvSpPr>
          <p:cNvPr id="26" name="Text 24"/>
          <p:cNvSpPr/>
          <p:nvPr/>
        </p:nvSpPr>
        <p:spPr>
          <a:xfrm>
            <a:off x="6519672" y="3383280"/>
            <a:ext cx="2011680" cy="256032"/>
          </a:xfrm>
          <a:prstGeom prst="rect">
            <a:avLst/>
          </a:prstGeom>
          <a:noFill/>
          <a:ln/>
        </p:spPr>
        <p:txBody>
          <a:bodyPr wrap="square" lIns="0" tIns="0" rIns="0" bIns="0" rtlCol="0" anchor="ctr">
            <a:normAutofit/>
          </a:bodyPr>
          <a:lstStyle/>
          <a:p>
            <a:pPr indent="0" marL="0">
              <a:buNone/>
            </a:pPr>
            <a:r>
              <a:rPr lang="en-US" sz="1000" b="1" dirty="0">
                <a:solidFill>
                  <a:srgbClr val="6E9117"/>
                </a:solidFill>
                <a:latin typeface="Open Sans" pitchFamily="34" charset="0"/>
                <a:ea typeface="Open Sans" pitchFamily="34" charset="-122"/>
                <a:cs typeface="Open Sans" pitchFamily="34" charset="-120"/>
              </a:rPr>
              <a:t>Store Operations</a:t>
            </a:r>
            <a:endParaRPr lang="en-US" sz="1000" dirty="0"/>
          </a:p>
        </p:txBody>
      </p:sp>
      <p:sp>
        <p:nvSpPr>
          <p:cNvPr id="27" name="Text 25"/>
          <p:cNvSpPr/>
          <p:nvPr/>
        </p:nvSpPr>
        <p:spPr>
          <a:xfrm>
            <a:off x="8577072" y="3383280"/>
            <a:ext cx="3429000" cy="411480"/>
          </a:xfrm>
          <a:prstGeom prst="rect">
            <a:avLst/>
          </a:prstGeom>
          <a:noFill/>
          <a:ln/>
        </p:spPr>
        <p:txBody>
          <a:bodyPr wrap="square" lIns="0" tIns="0" rIns="0" bIns="0" rtlCol="0" anchor="t">
            <a:normAutofit/>
          </a:bodyPr>
          <a:lstStyle/>
          <a:p>
            <a:pPr indent="0" marL="0">
              <a:buNone/>
            </a:pPr>
            <a:r>
              <a:rPr lang="en-US" sz="900" dirty="0">
                <a:solidFill>
                  <a:srgbClr val="6C757D"/>
                </a:solidFill>
                <a:latin typeface="Open Sans" pitchFamily="34" charset="0"/>
                <a:ea typeface="Open Sans" pitchFamily="34" charset="-122"/>
                <a:cs typeface="Open Sans" pitchFamily="34" charset="-120"/>
              </a:rPr>
              <a:t>Sales, cost and gross profit / sqft; area coverage</a:t>
            </a:r>
            <a:endParaRPr lang="en-US" sz="900" dirty="0"/>
          </a:p>
        </p:txBody>
      </p:sp>
      <p:sp>
        <p:nvSpPr>
          <p:cNvPr id="28" name="Text 26"/>
          <p:cNvSpPr/>
          <p:nvPr/>
        </p:nvSpPr>
        <p:spPr>
          <a:xfrm>
            <a:off x="6519672" y="4005072"/>
            <a:ext cx="2011680" cy="256032"/>
          </a:xfrm>
          <a:prstGeom prst="rect">
            <a:avLst/>
          </a:prstGeom>
          <a:noFill/>
          <a:ln/>
        </p:spPr>
        <p:txBody>
          <a:bodyPr wrap="square" lIns="0" tIns="0" rIns="0" bIns="0" rtlCol="0" anchor="ctr">
            <a:normAutofit/>
          </a:bodyPr>
          <a:lstStyle/>
          <a:p>
            <a:pPr indent="0" marL="0">
              <a:buNone/>
            </a:pPr>
            <a:r>
              <a:rPr lang="en-US" sz="1000" b="1" dirty="0">
                <a:solidFill>
                  <a:srgbClr val="6E9117"/>
                </a:solidFill>
                <a:latin typeface="Open Sans" pitchFamily="34" charset="0"/>
                <a:ea typeface="Open Sans" pitchFamily="34" charset="-122"/>
                <a:cs typeface="Open Sans" pitchFamily="34" charset="-120"/>
              </a:rPr>
              <a:t>Sales Ops</a:t>
            </a:r>
            <a:endParaRPr lang="en-US" sz="1000" dirty="0"/>
          </a:p>
        </p:txBody>
      </p:sp>
      <p:sp>
        <p:nvSpPr>
          <p:cNvPr id="29" name="Text 27"/>
          <p:cNvSpPr/>
          <p:nvPr/>
        </p:nvSpPr>
        <p:spPr>
          <a:xfrm>
            <a:off x="8577072" y="4005072"/>
            <a:ext cx="3429000" cy="411480"/>
          </a:xfrm>
          <a:prstGeom prst="rect">
            <a:avLst/>
          </a:prstGeom>
          <a:noFill/>
          <a:ln/>
        </p:spPr>
        <p:txBody>
          <a:bodyPr wrap="square" lIns="0" tIns="0" rIns="0" bIns="0" rtlCol="0" anchor="t">
            <a:normAutofit/>
          </a:bodyPr>
          <a:lstStyle/>
          <a:p>
            <a:pPr indent="0" marL="0">
              <a:buNone/>
            </a:pPr>
            <a:r>
              <a:rPr lang="en-US" sz="900" dirty="0">
                <a:solidFill>
                  <a:srgbClr val="6C757D"/>
                </a:solidFill>
                <a:latin typeface="Open Sans" pitchFamily="34" charset="0"/>
                <a:ea typeface="Open Sans" pitchFamily="34" charset="-122"/>
                <a:cs typeface="Open Sans" pitchFamily="34" charset="-120"/>
              </a:rPr>
              <a:t>Sales / event; return-line rate; ID-version monitoring</a:t>
            </a:r>
            <a:endParaRPr lang="en-US" sz="900" dirty="0"/>
          </a:p>
        </p:txBody>
      </p:sp>
      <p:sp>
        <p:nvSpPr>
          <p:cNvPr id="30" name="Text 28"/>
          <p:cNvSpPr/>
          <p:nvPr/>
        </p:nvSpPr>
        <p:spPr>
          <a:xfrm>
            <a:off x="896112" y="5742432"/>
            <a:ext cx="10469880" cy="384048"/>
          </a:xfrm>
          <a:prstGeom prst="rect">
            <a:avLst/>
          </a:prstGeom>
          <a:noFill/>
          <a:ln/>
        </p:spPr>
        <p:txBody>
          <a:bodyPr wrap="square" lIns="0" tIns="0" rIns="0" bIns="0" rtlCol="0" anchor="ctr">
            <a:normAutofit/>
          </a:bodyPr>
          <a:lstStyle/>
          <a:p>
            <a:pPr indent="0" marL="0">
              <a:buNone/>
            </a:pPr>
            <a:r>
              <a:rPr lang="en-US" sz="900" b="1" dirty="0">
                <a:solidFill>
                  <a:srgbClr val="B5473A"/>
                </a:solidFill>
                <a:latin typeface="Open Sans" pitchFamily="34" charset="0"/>
                <a:ea typeface="Open Sans" pitchFamily="34" charset="-122"/>
                <a:cs typeface="Open Sans" pitchFamily="34" charset="-120"/>
              </a:rPr>
              <a:t>Quantity, price and cost grains still need an upstream contract. Pack-equivalent counts are provisional; gross profit is not net profit.</a:t>
            </a:r>
            <a:endParaRPr lang="en-US" sz="900" dirty="0"/>
          </a:p>
        </p:txBody>
      </p:sp>
      <p:sp>
        <p:nvSpPr>
          <p:cNvPr id="25" name="Slide Number Placeholder 0"/>
          <p:cNvSpPr>
            <a:spLocks noGrp="1"/>
          </p:cNvSpPr>
          <p:nvPr>
            <p:ph type="sldNum" sz="quarter" idx="4294967295"/>
          </p:nvPr>
        </p:nvSpPr>
        <p:spPr>
          <a:xfrm>
            <a:off x="11201400"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6C757D"/>
                </a:solidFill>
                <a:latin typeface="Open Sans"/>
                <a:ea typeface="Open Sans"/>
                <a:cs typeface="Open Sans"/>
              </a:defRPr>
            </a:lvl1pPr>
          </a:lstStyle>
          <a:p>
            <a:pPr algn="l"/>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Open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Open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Retail analytics assessment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Retail performance: profitable growth</dc:title>
  <dc:subject>Retail transaction modeling and CEO performance insights</dc:subject>
  <dc:creator>Analytics Engineering</dc:creator>
  <cp:lastModifiedBy>Analytics Engineering</cp:lastModifiedBy>
  <cp:revision>1</cp:revision>
  <dcterms:created xsi:type="dcterms:W3CDTF">2026-10-22T15:00:35Z</dcterms:created>
  <dcterms:modified xsi:type="dcterms:W3CDTF">2026-10-22T15:00:35Z</dcterms:modified>
</cp:coreProperties>
</file>
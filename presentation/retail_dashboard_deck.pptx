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5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5C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731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5C11F"/>
                </a:solidFill>
                <a:latin typeface="Open Sans"/>
              </a:rPr>
              <a:t>RETAIL PERFORMANCE  /  DASHBOARD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Open Sans"/>
              </a:rPr>
              <a:t>What the data is, how it flows,
and what is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3D8DD"/>
                </a:solidFill>
                <a:latin typeface="Open Sans"/>
              </a:rPr>
              <a:t>Every slide is a visual from the Streamlit dashboard, captured as the audience sees it.
Profit means gross profit on standard cost (pack-adjusted), not net profit.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B8C0C7"/>
                </a:solidFill>
                <a:latin typeface="Open Sans"/>
              </a:rPr>
              <a:t>Source: dbt marts in retail.duckdb  |  App: http://localhost:8501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212529"/>
                </a:solidFill>
                <a:latin typeface="Open Sans"/>
              </a:rPr>
              <a:t>Agenda: one tab per audience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9117"/>
                </a:solidFill>
                <a:latin typeface="Open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529"/>
                </a:solidFill>
                <a:latin typeface="Open Sans"/>
              </a:rPr>
              <a:t>Solution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1887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</a:rPr>
              <a:t>3 visuals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9117"/>
                </a:solidFill>
                <a:latin typeface="Open San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6420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529"/>
                </a:solidFill>
                <a:latin typeface="Open Sans"/>
              </a:rPr>
              <a:t>Data &amp;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6420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</a:rPr>
              <a:t>3 visuals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3969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9117"/>
                </a:solidFill>
                <a:latin typeface="Open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1396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529"/>
                </a:solidFill>
                <a:latin typeface="Open Sans"/>
              </a:rPr>
              <a:t>Row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3969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</a:rPr>
              <a:t>2 visuals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1518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9117"/>
                </a:solidFill>
                <a:latin typeface="Open Sans"/>
              </a:rP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6151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529"/>
                </a:solidFill>
                <a:latin typeface="Open Sans"/>
              </a:rPr>
              <a:t>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61518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</a:rPr>
              <a:t>5 visuals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0906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9117"/>
                </a:solidFill>
                <a:latin typeface="Open Sans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9067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529"/>
                </a:solidFill>
                <a:latin typeface="Open Sans"/>
              </a:rPr>
              <a:t>Finance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0906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</a:rPr>
              <a:t>5 visuals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5661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9117"/>
                </a:solidFill>
                <a:latin typeface="Open Sans"/>
              </a:rPr>
              <a:t>06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5661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529"/>
                </a:solidFill>
                <a:latin typeface="Open Sans"/>
              </a:rPr>
              <a:t>AP / 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5661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</a:rPr>
              <a:t>5 visuals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04164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9117"/>
                </a:solidFill>
                <a:latin typeface="Open Sans"/>
              </a:rPr>
              <a:t>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04164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529"/>
                </a:solidFill>
                <a:latin typeface="Open Sans"/>
              </a:rPr>
              <a:t>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0416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</a:rPr>
              <a:t>5 visuals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51713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9117"/>
                </a:solidFill>
                <a:latin typeface="Open Sans"/>
              </a:rPr>
              <a:t>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51713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529"/>
                </a:solidFill>
                <a:latin typeface="Open Sans"/>
              </a:rPr>
              <a:t>Stores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451713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</a:rPr>
              <a:t>3 visuals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99262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9117"/>
                </a:solidFill>
                <a:latin typeface="Open Sans"/>
              </a:rPr>
              <a:t>09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99262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529"/>
                </a:solidFill>
                <a:latin typeface="Open Sans"/>
              </a:rPr>
              <a:t>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499262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</a:rPr>
              <a:t>11 visuals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46811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E9117"/>
                </a:solidFill>
                <a:latin typeface="Open Sans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546811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12529"/>
                </a:solidFill>
                <a:latin typeface="Open Sans"/>
              </a:rPr>
              <a:t>Roadmap &amp;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5468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Open Sans"/>
              </a:rPr>
              <a:t>2 visuals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Generated from the dashboard; re-run scripts/export_dashboard_deck.py after any change.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One tile per stakeholder note</a:t>
            </a:r>
          </a:p>
        </p:txBody>
      </p:sp>
      <p:pic>
        <p:nvPicPr>
          <p:cNvPr id="3" name="Picture 2" descr="t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12539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Headline  |  dashboard capture  |  gross profit, not net profit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E9117"/>
                </a:solidFill>
                <a:latin typeface="Open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529"/>
                </a:solidFill>
                <a:latin typeface="Open Sans"/>
              </a:rPr>
              <a:t>Solution 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From one CSV to four deliverables</a:t>
            </a:r>
          </a:p>
        </p:txBody>
      </p:sp>
      <p:pic>
        <p:nvPicPr>
          <p:cNvPr id="3" name="Picture 2" descr="solution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3183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Solution map  |  dashboard capture  |  gross profit, not net profit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What do the 66 dbt tests check?</a:t>
            </a:r>
          </a:p>
        </p:txBody>
      </p:sp>
      <p:pic>
        <p:nvPicPr>
          <p:cNvPr id="3" name="Picture 2" descr="s01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4084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Solution map  |  dashboard capture  |  gross profit, not net profit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Deliverables list</a:t>
            </a:r>
          </a:p>
        </p:txBody>
      </p:sp>
      <p:pic>
        <p:nvPicPr>
          <p:cNvPr id="3" name="Picture 2" descr="s01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080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Solution map  |  dashboard capture  |  gross profit, not net profit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E9117"/>
                </a:solidFill>
                <a:latin typeface="Open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529"/>
                </a:solidFill>
                <a:latin typeface="Open Sans"/>
              </a:rPr>
              <a:t>Data &amp;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What is in the file?</a:t>
            </a:r>
          </a:p>
        </p:txBody>
      </p:sp>
      <p:pic>
        <p:nvPicPr>
          <p:cNvPr id="3" name="Picture 2" descr="s02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94" y="1143000"/>
            <a:ext cx="7875907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Data &amp; model  |  dashboard capture  |  gross profit, not net profit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How many facts and dimensions? Event or snapshot? Kimball or OBT? Type 2?</a:t>
            </a:r>
          </a:p>
        </p:txBody>
      </p:sp>
      <p:pic>
        <p:nvPicPr>
          <p:cNvPr id="3" name="Picture 2" descr="s02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42921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Data &amp; model  |  dashboard capture  |  gross profit, not net profit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What happens to dirty data?</a:t>
            </a:r>
          </a:p>
        </p:txBody>
      </p:sp>
      <p:pic>
        <p:nvPicPr>
          <p:cNvPr id="3" name="Picture 2" descr="s02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7534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Data &amp; model  |  dashboard capture  |  gross profit, not net profit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E9117"/>
                </a:solidFill>
                <a:latin typeface="Open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529"/>
                </a:solidFill>
                <a:latin typeface="Open Sans"/>
              </a:rPr>
              <a:t>Row flow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How many rows did we start with, and how many were de-duplicated or sent to triage?</a:t>
            </a:r>
          </a:p>
        </p:txBody>
      </p:sp>
      <p:pic>
        <p:nvPicPr>
          <p:cNvPr id="3" name="Picture 2" descr="s03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6693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Row flow  |  dashboard capture  |  gross profit, not net profit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Is staging persisted and rerun-safe? Dimensions, facts, aggregates, date range, date dimension, derived metrics</a:t>
            </a:r>
          </a:p>
        </p:txBody>
      </p:sp>
      <p:pic>
        <p:nvPicPr>
          <p:cNvPr id="3" name="Picture 2" descr="s03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730" y="1143000"/>
            <a:ext cx="11112234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Row flow  |  dashboard capture  |  gross profit, not net profit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E9117"/>
                </a:solidFill>
                <a:latin typeface="Open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529"/>
                </a:solidFill>
                <a:latin typeface="Open Sans"/>
              </a:rPr>
              <a:t>Management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Are we growing profitably?</a:t>
            </a:r>
          </a:p>
        </p:txBody>
      </p:sp>
      <p:pic>
        <p:nvPicPr>
          <p:cNvPr id="3" name="Picture 2" descr="s04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576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Management  |  dashboard capture  |  gross profit, not net profit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Where did the growth come from: price or volume?</a:t>
            </a:r>
          </a:p>
        </p:txBody>
      </p:sp>
      <p:pic>
        <p:nvPicPr>
          <p:cNvPr id="3" name="Picture 2" descr="s04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27435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Management  |  dashboard capture  |  gross profit, not net profit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Which regions carry the company?</a:t>
            </a:r>
          </a:p>
        </p:txBody>
      </p:sp>
      <p:pic>
        <p:nvPicPr>
          <p:cNvPr id="3" name="Picture 2" descr="s04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2903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Management  |  dashboard capture  |  gross profit, not net profit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What is working, and what should we do more of?</a:t>
            </a:r>
          </a:p>
        </p:txBody>
      </p:sp>
      <p:pic>
        <p:nvPicPr>
          <p:cNvPr id="3" name="Picture 2" descr="s04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45950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Management  |  dashboard capture  |  gross profit, not net profit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After store operating cost, what is left?</a:t>
            </a:r>
          </a:p>
        </p:txBody>
      </p:sp>
      <p:pic>
        <p:nvPicPr>
          <p:cNvPr id="3" name="Picture 2" descr="s04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2903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Management  |  dashboard capture  |  gross profit, not net profit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E9117"/>
                </a:solidFill>
                <a:latin typeface="Open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529"/>
                </a:solidFill>
                <a:latin typeface="Open Sans"/>
              </a:rPr>
              <a:t>Finance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Which cost basis, and does the answer change with it?</a:t>
            </a:r>
          </a:p>
        </p:txBody>
      </p:sp>
      <p:pic>
        <p:nvPicPr>
          <p:cNvPr id="3" name="Picture 2" descr="s05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576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Finance  |  dashboard capture  |  gross profit, not net profit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Which categories make the margin?</a:t>
            </a:r>
          </a:p>
        </p:txBody>
      </p:sp>
      <p:pic>
        <p:nvPicPr>
          <p:cNvPr id="3" name="Picture 2" descr="s05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08021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Finance  |  dashboard capture  |  gross profit, not net profit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How much of sales has no standard cost?</a:t>
            </a:r>
          </a:p>
        </p:txBody>
      </p:sp>
      <p:pic>
        <p:nvPicPr>
          <p:cNvPr id="3" name="Picture 2" descr="s05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2735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Finance  |  dashboard capture  |  gross profit, not net profit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Store opex: annual or monthly? We say annual.</a:t>
            </a:r>
          </a:p>
        </p:txBody>
      </p:sp>
      <p:pic>
        <p:nvPicPr>
          <p:cNvPr id="3" name="Picture 2" descr="s05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291189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Finance  |  dashboard capture  |  gross profit, not net profit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Where is margin made: category × region</a:t>
            </a:r>
          </a:p>
        </p:txBody>
      </p:sp>
      <p:pic>
        <p:nvPicPr>
          <p:cNvPr id="3" name="Picture 2" descr="s05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4084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Finance  |  dashboard capture  |  gross profit, not net profit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E9117"/>
                </a:solidFill>
                <a:latin typeface="Open San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529"/>
                </a:solidFill>
                <a:latin typeface="Open Sans"/>
              </a:rPr>
              <a:t>AP / Ops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How does what we paid (landed) compare with the budget cost (standard)?</a:t>
            </a:r>
          </a:p>
        </p:txBody>
      </p:sp>
      <p:pic>
        <p:nvPicPr>
          <p:cNvPr id="3" name="Picture 2" descr="s06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40901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AP / Ops  |  dashboard capture  |  gross profit, not net profit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Margin on what we actually paid, by category</a:t>
            </a:r>
          </a:p>
        </p:txBody>
      </p:sp>
      <p:pic>
        <p:nvPicPr>
          <p:cNvPr id="3" name="Picture 2" descr="s06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07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AP / Ops  |  dashboard capture  |  gross profit, not net profit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Did landed cost move away from standard in 2022?</a:t>
            </a:r>
          </a:p>
        </p:txBody>
      </p:sp>
      <p:pic>
        <p:nvPicPr>
          <p:cNvPr id="3" name="Picture 2" descr="s06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576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AP / Ops  |  dashboard capture  |  gross profit, not net profit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Which lines have no standard cost at all?</a:t>
            </a:r>
          </a:p>
        </p:txBody>
      </p:sp>
      <p:pic>
        <p:nvPicPr>
          <p:cNvPr id="3" name="Picture 2" descr="s06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2485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AP / Ops  |  dashboard capture  |  gross profit, not net profit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Where are returns and adjustments concentrated?</a:t>
            </a:r>
          </a:p>
        </p:txBody>
      </p:sp>
      <p:pic>
        <p:nvPicPr>
          <p:cNvPr id="3" name="Picture 2" descr="s06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2903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AP / Ops  |  dashboard capture  |  gross profit, not net profit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E9117"/>
                </a:solidFill>
                <a:latin typeface="Open San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529"/>
                </a:solidFill>
                <a:latin typeface="Open Sans"/>
              </a:rPr>
              <a:t>Sales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How are monthly sales trending, and what is the YoY?</a:t>
            </a:r>
          </a:p>
        </p:txBody>
      </p:sp>
      <p:pic>
        <p:nvPicPr>
          <p:cNvPr id="3" name="Picture 2" descr="s07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576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Sales  |  dashboard capture  |  gross profit, not net profit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Which products sell the most?</a:t>
            </a:r>
          </a:p>
        </p:txBody>
      </p:sp>
      <p:pic>
        <p:nvPicPr>
          <p:cNvPr id="3" name="Picture 2" descr="s07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42584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Sales  |  dashboard capture  |  gross profit, not net profit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Which regions grew, and which shrank?</a:t>
            </a:r>
          </a:p>
        </p:txBody>
      </p:sp>
      <p:pic>
        <p:nvPicPr>
          <p:cNvPr id="3" name="Picture 2" descr="s07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273516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Sales  |  dashboard capture  |  gross profit, not net profit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Talk about price: what is happening to the average selling price?</a:t>
            </a:r>
          </a:p>
        </p:txBody>
      </p:sp>
      <p:pic>
        <p:nvPicPr>
          <p:cNvPr id="3" name="Picture 2" descr="s07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29034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Sales  |  dashboard capture  |  gross profit, not net profit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Sales-ops hygiene: sales per event, returns, collisions</a:t>
            </a:r>
          </a:p>
        </p:txBody>
      </p:sp>
      <p:pic>
        <p:nvPicPr>
          <p:cNvPr id="3" name="Picture 2" descr="s07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12371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Sales  |  dashboard capture  |  gross profit, not net profit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E9117"/>
                </a:solidFill>
                <a:latin typeface="Open San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529"/>
                </a:solidFill>
                <a:latin typeface="Open Sans"/>
              </a:rPr>
              <a:t>Stores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How does this store track against its peers month by month?</a:t>
            </a:r>
          </a:p>
        </p:txBody>
      </p:sp>
      <p:pic>
        <p:nvPicPr>
          <p:cNvPr id="3" name="Picture 2" descr="s08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5767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Stores  |  dashboard capture  |  gross profit, not net profit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Which categories does this store do better or worse than the company?</a:t>
            </a:r>
          </a:p>
        </p:txBody>
      </p:sp>
      <p:pic>
        <p:nvPicPr>
          <p:cNvPr id="3" name="Picture 2" descr="s08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24069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Stores  |  dashboard capture  |  gross profit, not net profit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Which months broke this store's own pattern?</a:t>
            </a:r>
          </a:p>
        </p:txBody>
      </p:sp>
      <p:pic>
        <p:nvPicPr>
          <p:cNvPr id="3" name="Picture 2" descr="s08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2401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Stores  |  dashboard capture  |  gross profit, not net profit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E9117"/>
                </a:solidFill>
                <a:latin typeface="Open San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529"/>
                </a:solidFill>
                <a:latin typeface="Open Sans"/>
              </a:rPr>
              <a:t>Analysis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Which product category is profitable where?</a:t>
            </a:r>
          </a:p>
        </p:txBody>
      </p:sp>
      <p:pic>
        <p:nvPicPr>
          <p:cNvPr id="3" name="Picture 2" descr="s09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4925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Analysis  |  dashboard capture  |  gross profit, not net profit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Are larger stores performing better than smaller stores?</a:t>
            </a:r>
          </a:p>
        </p:txBody>
      </p:sp>
      <p:pic>
        <p:nvPicPr>
          <p:cNvPr id="3" name="Picture 2" descr="s09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8226" y="1143000"/>
            <a:ext cx="9255243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Analysis  |  dashboard capture  |  gross profit, not net profit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Has any product fallen out of favour so that we lose sales consistently?</a:t>
            </a:r>
          </a:p>
        </p:txBody>
      </p:sp>
      <p:pic>
        <p:nvPicPr>
          <p:cNvPr id="3" name="Picture 2" descr="s09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40901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Analysis  |  dashboard capture  |  gross profit, not net profit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Where has our cost been lowest but margin highest?</a:t>
            </a:r>
          </a:p>
        </p:txBody>
      </p:sp>
      <p:pic>
        <p:nvPicPr>
          <p:cNvPr id="3" name="Picture 2" descr="s09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441834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Analysis  |  dashboard capture  |  gross profit, not net profit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Which product sold the lowest quantity but gave us the highest margin?</a:t>
            </a:r>
          </a:p>
        </p:txBody>
      </p:sp>
      <p:pic>
        <p:nvPicPr>
          <p:cNvPr id="3" name="Picture 2" descr="s09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44267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Analysis  |  dashboard capture  |  gross profit, not net profit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Is there a correlation between store type and profitability in general?</a:t>
            </a:r>
          </a:p>
        </p:txBody>
      </p:sp>
      <p:pic>
        <p:nvPicPr>
          <p:cNvPr id="3" name="Picture 2" descr="s09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75348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Analysis  |  dashboard capture  |  gross profit, not net profit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Is there a correlation between store type and profitability for each product category?</a:t>
            </a:r>
          </a:p>
        </p:txBody>
      </p:sp>
      <p:pic>
        <p:nvPicPr>
          <p:cNvPr id="3" name="Picture 2" descr="s09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3660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Analysis  |  dashboard capture  |  gross profit, not net profit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Is there a correlation between time of year and certain products' sales?</a:t>
            </a:r>
          </a:p>
        </p:txBody>
      </p:sp>
      <p:pic>
        <p:nvPicPr>
          <p:cNvPr id="3" name="Picture 2" descr="s09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476339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Analysis  |  dashboard capture  |  gross profit, not net profit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Is there a correlation between time of year and a product's sales in certain states or cities?</a:t>
            </a:r>
          </a:p>
        </p:txBody>
      </p:sp>
      <p:pic>
        <p:nvPicPr>
          <p:cNvPr id="3" name="Picture 2" descr="s09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50411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Analysis  |  dashboard capture  |  gross profit, not net profit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Scatter: $ by time for each store — which stores are outliers?</a:t>
            </a:r>
          </a:p>
        </p:txBody>
      </p:sp>
      <p:pic>
        <p:nvPicPr>
          <p:cNvPr id="3" name="Picture 2" descr="s09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093" y="1143000"/>
            <a:ext cx="10585508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Analysis  |  dashboard capture  |  gross profit, not net profit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Scatter by product hierarchy: which categories or products are pulling ahead over time?</a:t>
            </a:r>
          </a:p>
        </p:txBody>
      </p:sp>
      <p:pic>
        <p:nvPicPr>
          <p:cNvPr id="3" name="Picture 2" descr="s09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51336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Analysis  |  dashboard capture  |  gross profit, not net profit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13716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88036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6E9117"/>
                </a:solidFill>
                <a:latin typeface="Open San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12529"/>
                </a:solidFill>
                <a:latin typeface="Open Sans"/>
              </a:rPr>
              <a:t>Roadmap &amp; AI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Future enhancements</a:t>
            </a:r>
          </a:p>
        </p:txBody>
      </p:sp>
      <p:pic>
        <p:nvPicPr>
          <p:cNvPr id="3" name="Picture 2" descr="s10_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752" y="1143000"/>
            <a:ext cx="10800190" cy="5166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Roadmap &amp; AI  |  dashboard capture  |  gross profit, not net profit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12529"/>
                </a:solidFill>
                <a:latin typeface="Open Sans"/>
              </a:rPr>
              <a:t>Is there an AI inference widget? Yes — the Interpret button under every visual</a:t>
            </a:r>
          </a:p>
        </p:txBody>
      </p:sp>
      <p:pic>
        <p:nvPicPr>
          <p:cNvPr id="3" name="Picture 2" descr="s10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43000"/>
            <a:ext cx="11277295" cy="22049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Open Sans"/>
              </a:rPr>
              <a:t>Roadmap &amp; AI  |  dashboard capture  |  gross profit, not net profit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